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1e58385-9baa-76d7-0191-57215d7474e7}">
          <p14:sldIdLst>
            <p14:sldId id="256"/>
            <p14:sldId id="257"/>
          </p14:sldIdLst>
        </p14:section>
        <p14:section name="Delivery" id="{ddb5bd0f-c5de-1b42-f665-213bd89ddc3d}">
          <p14:sldIdLst>
            <p14:sldId id="258"/>
            <p14:sldId id="259"/>
          </p14:sldIdLst>
        </p14:section>
        <p14:section name="Operations" id="{9d331f6a-60d7-5588-6658-595dbbdfe57c}">
          <p14:sldIdLst>
            <p14:sldId id="260"/>
            <p14:sldId id="261"/>
          </p14:sldIdLst>
        </p14:section>
        <p14:section name="Close" id="{0b654eb2-7d4c-5ec9-1f4f-0b4dd919f01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Arnav Yadav, roll number 24BCS10424, and this is my capstone project, Argus: an SLO and uptime monitor. Services send it heartbeats, and it tells you who is up, how much error budget each one has left, and how fast it's burning.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service registers and gets a token. It sends a heartbeat every interval. If it goes quiet for two intervals, Argus marks it down, because a crashed process can't report its own crash. From the beats it computes uptime, error budget and burn rate. At 99.9% the budget is 86 seconds a day; 1x burns exactly that, and 14.4x is the Google SRE threshold for paging someone.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chain the course asks us to demonstrate, and every stage is real in the repo. I'll cover them in three groups: build and ship, run, and observe.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push to main runs the workflow. Backend tests and the frontend build gate three image jobs; each builds amd64 and arm64, scans both with Trivy, and only then pushes to GitHub Container Registry, tagged with the commit SHA. Helm validation and a gitleaks scan of the whole history gate the last job, Promote, which commits the new tag so ArgoCD can deploy it. The Trivy gate earned its place: on the first run it blocked four HIGH CVEs, for example CVE-2026-97687 in urllib3, where an HTTPS proxy's TLS settings could be overridden and traffic intercepted. They were in copies that pip bundles inside itself, so I removed pip. Later the backend moved to Alpine, from 306 to 178 megabytes, with zero vulnerabilities.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builds the AWS side: a VPC and an EKS 1.35 cluster, 52 resources, hardened with encrypted disks, an allow-listed API and audit logs. I applied it, captured the evidence and destroyed it, for under a dollar. The app runs on Kubernetes from one Helm chart, in two environments: main deployed by ArgoCD and staging by helm upgrade. The Ingress routes slash to the frontend and slash-api to the backend. And the HPA works under real load: CPU peaked at 383% of target, and it scaled the backend from two to six replicas in 30 seconds without a single missed heartbeat.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Argus is monitored itself. Prometheus scrapes the SLO metrics, Grafana's dashboard is provisioned automatically, and the alerts follow the SRE workbook's three burn-rate tiers. Building it, real things broke. Prometheus merged every service into one line because my service label clashed with the one Kubernetes adds; honorLabels fixed it. Every deploy looked like an outage because two simulator pods rotated each other's tokens during a rolling update, so it now uses the Recreate strategy. And Terraform stopped on one resource because the AWS organisation forbids OIDC providers, so I turned IRSA off and used Pod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demo: I changed the tagline and pushed at the start. The pipeline tested, built, scanned and pushed it; a bot committed the new image tag; ArgoCD synced it, and the board now shows the new tagline and the commit it came from. No kubectl or helm by hand. All the evidence is in docs/EVIDENCE.md.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GUS_TITLE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GUS_CONTENT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Argus · Capstone project · Arnav Yadav · 24BCS10424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gus eye outline"/>
          <p:cNvSpPr/>
          <p:nvPr/>
        </p:nvSpPr>
        <p:spPr>
          <a:xfrm>
            <a:off x="548640" y="914400"/>
            <a:ext cx="1143000" cy="640080"/>
          </a:xfrm>
          <a:prstGeom prst="ellipse">
            <a:avLst/>
          </a:prstGeom>
          <a:solidFill>
            <a:schemeClr val="tx1"/>
          </a:solidFill>
          <a:ln w="47625">
            <a:solidFill>
              <a:schemeClr val="accent1"/>
            </a:solidFill>
            <a:prstDash val="solid"/>
          </a:ln>
        </p:spPr>
      </p:sp>
      <p:sp>
        <p:nvSpPr>
          <p:cNvPr id="3" name="Argus eye pupil"/>
          <p:cNvSpPr/>
          <p:nvPr/>
        </p:nvSpPr>
        <p:spPr>
          <a:xfrm>
            <a:off x="960120" y="107442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Argus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SLO and uptime monitoring, shipped through a complete DevOps pipeline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Every service watched. Every error budget accounted for. Every deploy traced to a commit.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/>
                </a:solidFill>
              </a:rPr>
              <a:t>Arnav Yadav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Roll no. 24BCS10424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Capstone project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github.com/arnav-yadav/argus</a:t>
            </a:r>
            <a:endParaRPr lang="en-US" sz="1500" dirty="0"/>
          </a:p>
        </p:txBody>
      </p:sp>
      <p:sp>
        <p:nvSpPr>
          <p:cNvPr id="8" name="Status board screenshot frame"/>
          <p:cNvSpPr/>
          <p:nvPr/>
        </p:nvSpPr>
        <p:spPr>
          <a:xfrm>
            <a:off x="6190488" y="1664208"/>
            <a:ext cx="5449824" cy="3140050"/>
          </a:xfrm>
          <a:prstGeom prst="roundRect">
            <a:avLst>
              <a:gd name="adj" fmla="val 291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9" name="Status board screenshot" descr="The Argus status board: fleet summary and per-service SLO c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737360"/>
            <a:ext cx="5303520" cy="299374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263640" y="4873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live status board, served through the Kubernetes Ingress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THE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Liveness is inferred from silence</a:t>
            </a:r>
            <a:endParaRPr lang="en-US" sz="3600" dirty="0"/>
          </a:p>
        </p:txBody>
      </p:sp>
      <p:sp>
        <p:nvSpPr>
          <p:cNvPr id="4" name="How it works card"/>
          <p:cNvSpPr/>
          <p:nvPr/>
        </p:nvSpPr>
        <p:spPr>
          <a:xfrm>
            <a:off x="548640" y="1691640"/>
            <a:ext cx="5852160" cy="3931920"/>
          </a:xfrm>
          <a:prstGeom prst="roundRect">
            <a:avLst>
              <a:gd name="adj" fmla="val 232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Step 1 label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Register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Name, heartbeat interval and SLO target in; a one-time token out, stored only as a hash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822960" y="2852928"/>
            <a:ext cx="502920" cy="5029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Step 2 label"/>
          <p:cNvSpPr txBox="1"/>
          <p:nvPr/>
        </p:nvSpPr>
        <p:spPr>
          <a:xfrm>
            <a:off x="82296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807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Beat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729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interval: ok, degraded or fail, with the token. A wrong token gets a 401</a:t>
            </a:r>
            <a:endParaRPr lang="en-US" sz="1400" dirty="0"/>
          </a:p>
        </p:txBody>
      </p:sp>
      <p:sp>
        <p:nvSpPr>
          <p:cNvPr id="13" name="Step 3"/>
          <p:cNvSpPr/>
          <p:nvPr/>
        </p:nvSpPr>
        <p:spPr>
          <a:xfrm>
            <a:off x="822960" y="3785616"/>
            <a:ext cx="502920" cy="5029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Step 3 label"/>
          <p:cNvSpPr txBox="1"/>
          <p:nvPr/>
        </p:nvSpPr>
        <p:spPr>
          <a:xfrm>
            <a:off x="82296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7398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Silence = down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Miss two intervals and the service is DOWN, though it never said so</a:t>
            </a:r>
            <a:endParaRPr lang="en-US" sz="1400" dirty="0"/>
          </a:p>
        </p:txBody>
      </p:sp>
      <p:sp>
        <p:nvSpPr>
          <p:cNvPr id="17" name="Step 4"/>
          <p:cNvSpPr/>
          <p:nvPr/>
        </p:nvSpPr>
        <p:spPr>
          <a:xfrm>
            <a:off x="822960" y="4718304"/>
            <a:ext cx="502920" cy="50292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Step 4 label"/>
          <p:cNvSpPr txBox="1"/>
          <p:nvPr/>
        </p:nvSpPr>
        <p:spPr>
          <a:xfrm>
            <a:off x="822960" y="4718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6725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Compute SLOs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0383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Uptime, error budget and burn rate over 1h, 24h and 7d</a:t>
            </a:r>
            <a:endParaRPr lang="en-US" sz="1400" dirty="0"/>
          </a:p>
        </p:txBody>
      </p:sp>
      <p:sp>
        <p:nvSpPr>
          <p:cNvPr id="21" name="SLO stat 1"/>
          <p:cNvSpPr/>
          <p:nvPr/>
        </p:nvSpPr>
        <p:spPr>
          <a:xfrm>
            <a:off x="6629400" y="1691640"/>
            <a:ext cx="50109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16916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86.4 s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16916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daily error budget at a 99.9% SLO: (1 − 0.999) × 86,400 s</a:t>
            </a:r>
            <a:endParaRPr lang="en-US" sz="1400" dirty="0"/>
          </a:p>
        </p:txBody>
      </p:sp>
      <p:sp>
        <p:nvSpPr>
          <p:cNvPr id="24" name="SLO stat 2"/>
          <p:cNvSpPr/>
          <p:nvPr/>
        </p:nvSpPr>
        <p:spPr>
          <a:xfrm>
            <a:off x="6629400" y="3063240"/>
            <a:ext cx="50109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30632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1×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0632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burn rate that spends exactly the budget over the window</a:t>
            </a:r>
            <a:endParaRPr lang="en-US" sz="1400" dirty="0"/>
          </a:p>
        </p:txBody>
      </p:sp>
      <p:sp>
        <p:nvSpPr>
          <p:cNvPr id="27" name="SLO stat 3"/>
          <p:cNvSpPr/>
          <p:nvPr/>
        </p:nvSpPr>
        <p:spPr>
          <a:xfrm>
            <a:off x="6629400" y="4434840"/>
            <a:ext cx="50109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4434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14.4×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43484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burn rate that pages someone: a 30-day budget gone in about two days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Built with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FastAPI · PostgreSQL + Alembic · React + nginx · 48 tests, 98% coverage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DELIVERY CHAIN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From commit to cluster in 13 stages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41098" y="2057400"/>
            <a:ext cx="9509499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Stage 1"/>
          <p:cNvSpPr/>
          <p:nvPr/>
        </p:nvSpPr>
        <p:spPr>
          <a:xfrm>
            <a:off x="1066778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Stage 1 label"/>
          <p:cNvSpPr txBox="1"/>
          <p:nvPr/>
        </p:nvSpPr>
        <p:spPr>
          <a:xfrm>
            <a:off x="106677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0720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FastAPI + React</a:t>
            </a:r>
            <a:endParaRPr lang="en-US" sz="1200" dirty="0"/>
          </a:p>
        </p:txBody>
      </p:sp>
      <p:sp>
        <p:nvSpPr>
          <p:cNvPr id="9" name="Stage 2"/>
          <p:cNvSpPr/>
          <p:nvPr/>
        </p:nvSpPr>
        <p:spPr>
          <a:xfrm>
            <a:off x="2651695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Stage 2 label"/>
          <p:cNvSpPr txBox="1"/>
          <p:nvPr/>
        </p:nvSpPr>
        <p:spPr>
          <a:xfrm>
            <a:off x="2651695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33556" y="24688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Git commit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79276" y="280720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 change each</a:t>
            </a:r>
            <a:endParaRPr lang="en-US" sz="1200" dirty="0"/>
          </a:p>
        </p:txBody>
      </p:sp>
      <p:sp>
        <p:nvSpPr>
          <p:cNvPr id="13" name="Stage 3"/>
          <p:cNvSpPr/>
          <p:nvPr/>
        </p:nvSpPr>
        <p:spPr>
          <a:xfrm>
            <a:off x="4236611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Stage 3 label"/>
          <p:cNvSpPr txBox="1"/>
          <p:nvPr/>
        </p:nvSpPr>
        <p:spPr>
          <a:xfrm>
            <a:off x="4236611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18473" y="24688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CI pipeline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64193" y="280720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GitHub Actions</a:t>
            </a:r>
            <a:endParaRPr lang="en-US" sz="1200" dirty="0"/>
          </a:p>
        </p:txBody>
      </p:sp>
      <p:sp>
        <p:nvSpPr>
          <p:cNvPr id="17" name="Stage 4"/>
          <p:cNvSpPr/>
          <p:nvPr/>
        </p:nvSpPr>
        <p:spPr>
          <a:xfrm>
            <a:off x="5821528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Stage 4 label"/>
          <p:cNvSpPr txBox="1"/>
          <p:nvPr/>
        </p:nvSpPr>
        <p:spPr>
          <a:xfrm>
            <a:off x="58215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03389" y="24688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Docker image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49109" y="280720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multi-stage, non-root</a:t>
            </a:r>
            <a:endParaRPr lang="en-US" sz="1200" dirty="0"/>
          </a:p>
        </p:txBody>
      </p:sp>
      <p:sp>
        <p:nvSpPr>
          <p:cNvPr id="21" name="Stage 5"/>
          <p:cNvSpPr/>
          <p:nvPr/>
        </p:nvSpPr>
        <p:spPr>
          <a:xfrm>
            <a:off x="7406444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Stage 5 label"/>
          <p:cNvSpPr txBox="1"/>
          <p:nvPr/>
        </p:nvSpPr>
        <p:spPr>
          <a:xfrm>
            <a:off x="74064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88306" y="24688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Security scan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34026" y="280720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Trivy, amd64 + arm64</a:t>
            </a:r>
            <a:endParaRPr lang="en-US" sz="1200" dirty="0"/>
          </a:p>
        </p:txBody>
      </p:sp>
      <p:sp>
        <p:nvSpPr>
          <p:cNvPr id="25" name="Stage 6"/>
          <p:cNvSpPr/>
          <p:nvPr/>
        </p:nvSpPr>
        <p:spPr>
          <a:xfrm>
            <a:off x="8991361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Stage 6 label"/>
          <p:cNvSpPr txBox="1"/>
          <p:nvPr/>
        </p:nvSpPr>
        <p:spPr>
          <a:xfrm>
            <a:off x="8991361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73222" y="24688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Registry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18942" y="280720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GHCR, SHA tags</a:t>
            </a:r>
            <a:endParaRPr lang="en-US" sz="1200" dirty="0"/>
          </a:p>
        </p:txBody>
      </p:sp>
      <p:sp>
        <p:nvSpPr>
          <p:cNvPr id="29" name="Stage 7"/>
          <p:cNvSpPr/>
          <p:nvPr/>
        </p:nvSpPr>
        <p:spPr>
          <a:xfrm>
            <a:off x="10576277" y="178308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0" name="Stage 7 label"/>
          <p:cNvSpPr txBox="1"/>
          <p:nvPr/>
        </p:nvSpPr>
        <p:spPr>
          <a:xfrm>
            <a:off x="1057627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058139" y="246888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Terraform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03859" y="280720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AWS VPC + EKS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41098" y="4160520"/>
            <a:ext cx="792458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4" name="Stage 8"/>
          <p:cNvSpPr/>
          <p:nvPr/>
        </p:nvSpPr>
        <p:spPr>
          <a:xfrm>
            <a:off x="1066778" y="38862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5" name="Stage 8 label"/>
          <p:cNvSpPr txBox="1"/>
          <p:nvPr/>
        </p:nvSpPr>
        <p:spPr>
          <a:xfrm>
            <a:off x="106677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57200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Kubernetes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491032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minikube and EKS</a:t>
            </a:r>
            <a:endParaRPr lang="en-US" sz="1200" dirty="0"/>
          </a:p>
        </p:txBody>
      </p:sp>
      <p:sp>
        <p:nvSpPr>
          <p:cNvPr id="38" name="Stage 9"/>
          <p:cNvSpPr/>
          <p:nvPr/>
        </p:nvSpPr>
        <p:spPr>
          <a:xfrm>
            <a:off x="2651695" y="38862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9" name="Stage 9 label"/>
          <p:cNvSpPr txBox="1"/>
          <p:nvPr/>
        </p:nvSpPr>
        <p:spPr>
          <a:xfrm>
            <a:off x="2651695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9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133556" y="457200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Helm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2179276" y="491032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 chart, 2 environments</a:t>
            </a:r>
            <a:endParaRPr lang="en-US" sz="1200" dirty="0"/>
          </a:p>
        </p:txBody>
      </p:sp>
      <p:sp>
        <p:nvSpPr>
          <p:cNvPr id="42" name="Stage 10"/>
          <p:cNvSpPr/>
          <p:nvPr/>
        </p:nvSpPr>
        <p:spPr>
          <a:xfrm>
            <a:off x="4236611" y="38862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3" name="Stage 10 label"/>
          <p:cNvSpPr txBox="1"/>
          <p:nvPr/>
        </p:nvSpPr>
        <p:spPr>
          <a:xfrm>
            <a:off x="4236611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3718473" y="457200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Ingress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3764193" y="491032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/ and /api</a:t>
            </a:r>
            <a:endParaRPr lang="en-US" sz="1200" dirty="0"/>
          </a:p>
        </p:txBody>
      </p:sp>
      <p:sp>
        <p:nvSpPr>
          <p:cNvPr id="46" name="Stage 11"/>
          <p:cNvSpPr/>
          <p:nvPr/>
        </p:nvSpPr>
        <p:spPr>
          <a:xfrm>
            <a:off x="5821528" y="38862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7" name="Stage 11 label"/>
          <p:cNvSpPr txBox="1"/>
          <p:nvPr/>
        </p:nvSpPr>
        <p:spPr>
          <a:xfrm>
            <a:off x="582152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5303389" y="457200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Autoscaling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349109" y="491032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HPA, 2 to 6</a:t>
            </a:r>
            <a:endParaRPr lang="en-US" sz="1200" dirty="0"/>
          </a:p>
        </p:txBody>
      </p:sp>
      <p:sp>
        <p:nvSpPr>
          <p:cNvPr id="50" name="Stage 12"/>
          <p:cNvSpPr/>
          <p:nvPr/>
        </p:nvSpPr>
        <p:spPr>
          <a:xfrm>
            <a:off x="7406444" y="38862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1" name="Stage 12 label"/>
          <p:cNvSpPr txBox="1"/>
          <p:nvPr/>
        </p:nvSpPr>
        <p:spPr>
          <a:xfrm>
            <a:off x="7406444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6888306" y="457200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934026" y="491032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Prometheus, Grafana</a:t>
            </a:r>
            <a:endParaRPr lang="en-US" sz="1200" dirty="0"/>
          </a:p>
        </p:txBody>
      </p:sp>
      <p:sp>
        <p:nvSpPr>
          <p:cNvPr id="54" name="Stage 13"/>
          <p:cNvSpPr/>
          <p:nvPr/>
        </p:nvSpPr>
        <p:spPr>
          <a:xfrm>
            <a:off x="8991361" y="388620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5" name="Stage 13 label"/>
          <p:cNvSpPr txBox="1"/>
          <p:nvPr/>
        </p:nvSpPr>
        <p:spPr>
          <a:xfrm>
            <a:off x="8991361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13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8473222" y="4572000"/>
            <a:ext cx="15849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Troubleshooting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8518942" y="4910328"/>
            <a:ext cx="14934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real incidents, fixed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stages the course asks the final demo to cover. Every one is built, and evidenced in docs/EVIDENCE.md.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02–06 · GIT, CI, DOCKER, TRIVY, REGISTRY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Every push to main ships in under 4 minutes</a:t>
            </a:r>
            <a:endParaRPr lang="en-US" sz="3600" dirty="0"/>
          </a:p>
        </p:txBody>
      </p:sp>
      <p:sp>
        <p:nvSpPr>
          <p:cNvPr id="4" name="Backend job"/>
          <p:cNvSpPr/>
          <p:nvPr/>
        </p:nvSpPr>
        <p:spPr>
          <a:xfrm>
            <a:off x="548640" y="1737360"/>
            <a:ext cx="29718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Backend job dot"/>
          <p:cNvSpPr/>
          <p:nvPr/>
        </p:nvSpPr>
        <p:spPr>
          <a:xfrm>
            <a:off x="731520" y="190195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373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Backend · ruff + pytest</a:t>
            </a:r>
            <a:endParaRPr lang="en-US" sz="1400" dirty="0"/>
          </a:p>
        </p:txBody>
      </p:sp>
      <p:sp>
        <p:nvSpPr>
          <p:cNvPr id="7" name="Frontend job"/>
          <p:cNvSpPr/>
          <p:nvPr/>
        </p:nvSpPr>
        <p:spPr>
          <a:xfrm>
            <a:off x="548640" y="2377440"/>
            <a:ext cx="29718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Frontend job dot"/>
          <p:cNvSpPr/>
          <p:nvPr/>
        </p:nvSpPr>
        <p:spPr>
          <a:xfrm>
            <a:off x="731520" y="25420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3774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Frontend · npm build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1993392"/>
            <a:ext cx="7315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2633472"/>
            <a:ext cx="7315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Images job card"/>
          <p:cNvSpPr/>
          <p:nvPr/>
        </p:nvSpPr>
        <p:spPr>
          <a:xfrm>
            <a:off x="4251960" y="1691640"/>
            <a:ext cx="329184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Images × 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2212848"/>
            <a:ext cx="2706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Build amd64 and arm64</a:t>
            </a:r>
            <a:endParaRPr lang="en-US" sz="1400" dirty="0"/>
          </a:p>
          <a:p>
            <a:pPr marL="203200" indent="-203200">
              <a:spcAft>
                <a:spcPts val="6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Trivy gate on both</a:t>
            </a:r>
            <a:endParaRPr lang="en-US" sz="1400" dirty="0"/>
          </a:p>
          <a:p>
            <a:pPr marL="203200" indent="-203200">
              <a:spcAft>
                <a:spcPts val="6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Push to GHCR, tagged by SHA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43800" y="2441448"/>
            <a:ext cx="59436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Promote card"/>
          <p:cNvSpPr/>
          <p:nvPr/>
        </p:nvSpPr>
        <p:spPr>
          <a:xfrm>
            <a:off x="8138160" y="1691640"/>
            <a:ext cx="1874520" cy="1508760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8105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Promote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2128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commits the new tag [skip ci]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12680" y="2441448"/>
            <a:ext cx="4572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rgoCD card"/>
          <p:cNvSpPr/>
          <p:nvPr/>
        </p:nvSpPr>
        <p:spPr>
          <a:xfrm>
            <a:off x="10469880" y="1691640"/>
            <a:ext cx="1170432" cy="1508760"/>
          </a:xfrm>
          <a:prstGeom prst="roundRect">
            <a:avLst>
              <a:gd name="adj" fmla="val 781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ArgoCD eye outline"/>
          <p:cNvSpPr/>
          <p:nvPr/>
        </p:nvSpPr>
        <p:spPr>
          <a:xfrm>
            <a:off x="10780776" y="1874520"/>
            <a:ext cx="548640" cy="307238"/>
          </a:xfrm>
          <a:prstGeom prst="ellipse">
            <a:avLst/>
          </a:prstGeom>
          <a:solidFill>
            <a:schemeClr val="tx1"/>
          </a:solidFill>
          <a:ln w="22860">
            <a:solidFill>
              <a:schemeClr val="accent1"/>
            </a:solidFill>
            <a:prstDash val="solid"/>
          </a:ln>
        </p:spPr>
      </p:sp>
      <p:sp>
        <p:nvSpPr>
          <p:cNvPr id="22" name="ArgoCD eye pupil"/>
          <p:cNvSpPr/>
          <p:nvPr/>
        </p:nvSpPr>
        <p:spPr>
          <a:xfrm>
            <a:off x="10978286" y="1951330"/>
            <a:ext cx="153619" cy="153619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0" y="233172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ArgoCD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rolls it out</a:t>
            </a:r>
            <a:endParaRPr lang="en-US" sz="1300" dirty="0"/>
          </a:p>
        </p:txBody>
      </p:sp>
      <p:sp>
        <p:nvSpPr>
          <p:cNvPr id="24" name="Helm job"/>
          <p:cNvSpPr/>
          <p:nvPr/>
        </p:nvSpPr>
        <p:spPr>
          <a:xfrm>
            <a:off x="548640" y="3291840"/>
            <a:ext cx="29718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Helm job dot"/>
          <p:cNvSpPr/>
          <p:nvPr/>
        </p:nvSpPr>
        <p:spPr>
          <a:xfrm>
            <a:off x="731520" y="34564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32918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Helm · lint + kubeconform</a:t>
            </a:r>
            <a:endParaRPr lang="en-US" sz="1400" dirty="0"/>
          </a:p>
        </p:txBody>
      </p:sp>
      <p:sp>
        <p:nvSpPr>
          <p:cNvPr id="27" name="Secrets job"/>
          <p:cNvSpPr/>
          <p:nvPr/>
        </p:nvSpPr>
        <p:spPr>
          <a:xfrm>
            <a:off x="548640" y="3931920"/>
            <a:ext cx="29718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ecrets job dot"/>
          <p:cNvSpPr/>
          <p:nvPr/>
        </p:nvSpPr>
        <p:spPr>
          <a:xfrm>
            <a:off x="731520" y="409651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51560" y="39319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Secrets · gitleaks, full history</a:t>
            </a:r>
            <a:endParaRPr lang="en-US" sz="1400" dirty="0"/>
          </a:p>
        </p:txBody>
      </p:sp>
      <p:sp>
        <p:nvSpPr>
          <p:cNvPr id="30" name="Helm stub"/>
          <p:cNvSpPr/>
          <p:nvPr/>
        </p:nvSpPr>
        <p:spPr>
          <a:xfrm>
            <a:off x="3520440" y="3547872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31" name="Secrets stub"/>
          <p:cNvSpPr/>
          <p:nvPr/>
        </p:nvSpPr>
        <p:spPr>
          <a:xfrm>
            <a:off x="3520440" y="4187952"/>
            <a:ext cx="27432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32" name="Gate bus"/>
          <p:cNvSpPr/>
          <p:nvPr/>
        </p:nvSpPr>
        <p:spPr>
          <a:xfrm>
            <a:off x="3794760" y="3547872"/>
            <a:ext cx="0" cy="6400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33" name="Gate line"/>
          <p:cNvSpPr/>
          <p:nvPr/>
        </p:nvSpPr>
        <p:spPr>
          <a:xfrm>
            <a:off x="3794760" y="3867912"/>
            <a:ext cx="5276088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9070848" y="3200400"/>
            <a:ext cx="0" cy="66751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069080" y="3959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Helm and gitleaks must pass before anything is promoted</a:t>
            </a:r>
            <a:endParaRPr lang="en-US" sz="1200" dirty="0"/>
          </a:p>
        </p:txBody>
      </p:sp>
      <p:sp>
        <p:nvSpPr>
          <p:cNvPr id="36" name="Terraform job"/>
          <p:cNvSpPr/>
          <p:nvPr/>
        </p:nvSpPr>
        <p:spPr>
          <a:xfrm>
            <a:off x="548640" y="4663440"/>
            <a:ext cx="2971800" cy="512064"/>
          </a:xfrm>
          <a:prstGeom prst="roundRect">
            <a:avLst>
              <a:gd name="adj" fmla="val 1785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7" name="Terraform job dot"/>
          <p:cNvSpPr/>
          <p:nvPr/>
        </p:nvSpPr>
        <p:spPr>
          <a:xfrm>
            <a:off x="731520" y="482803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51560" y="46634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Terraform · fmt + validate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3703320" y="466344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runs alongside: checks the infrastructure code, deploys nothing</a:t>
            </a:r>
            <a:endParaRPr lang="en-US" sz="1200" dirty="0"/>
          </a:p>
        </p:txBody>
      </p:sp>
      <p:sp>
        <p:nvSpPr>
          <p:cNvPr id="40" name="Pipeline fact 1"/>
          <p:cNvSpPr/>
          <p:nvPr/>
        </p:nvSpPr>
        <p:spPr>
          <a:xfrm>
            <a:off x="548640" y="5413248"/>
            <a:ext cx="3545738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413248"/>
            <a:ext cx="31799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Trivy blocked run 1: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4 HIGH CVEs in pip's bundled libraries, so pip was removed</a:t>
            </a:r>
            <a:endParaRPr lang="en-US" sz="1300" dirty="0"/>
          </a:p>
        </p:txBody>
      </p:sp>
      <p:sp>
        <p:nvSpPr>
          <p:cNvPr id="42" name="Pipeline fact 2"/>
          <p:cNvSpPr/>
          <p:nvPr/>
        </p:nvSpPr>
        <p:spPr>
          <a:xfrm>
            <a:off x="4322978" y="5413248"/>
            <a:ext cx="3545738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05858" y="5413248"/>
            <a:ext cx="31799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Alpine backend: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306 → 178 MB, 0 vulnerabilities, non-root</a:t>
            </a:r>
            <a:endParaRPr lang="en-US" sz="1300" dirty="0"/>
          </a:p>
        </p:txBody>
      </p:sp>
      <p:sp>
        <p:nvSpPr>
          <p:cNvPr id="44" name="Pipeline fact 3"/>
          <p:cNvSpPr/>
          <p:nvPr/>
        </p:nvSpPr>
        <p:spPr>
          <a:xfrm>
            <a:off x="8097317" y="5413248"/>
            <a:ext cx="3545738" cy="749808"/>
          </a:xfrm>
          <a:prstGeom prst="roundRect">
            <a:avLst>
              <a:gd name="adj" fmla="val 1219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80197" y="5413248"/>
            <a:ext cx="31799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Tags are commit SHAs,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never latest; GitHub holds no cluster credentials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07–11 · TERRAFORM, KUBERNETES, HELM, INGRESS, AUTOSCALING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From Terraform to autoscaling</a:t>
            </a:r>
            <a:endParaRPr lang="en-US" sz="3600" dirty="0"/>
          </a:p>
        </p:txBody>
      </p:sp>
      <p:sp>
        <p:nvSpPr>
          <p:cNvPr id="4" name="AWS, built and torn down card"/>
          <p:cNvSpPr/>
          <p:nvPr/>
        </p:nvSpPr>
        <p:spPr>
          <a:xfrm>
            <a:off x="548640" y="1691640"/>
            <a:ext cx="3545738" cy="4434840"/>
          </a:xfrm>
          <a:prstGeom prst="roundRect">
            <a:avLst>
              <a:gd name="adj" fmla="val 257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07 · TERRAFORM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AWS, built and torn down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4728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resources: a VPC and an EKS 1.35 cluster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4069080"/>
            <a:ext cx="286908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2 public + 2 private subnets, one NAT gateway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Encrypted node disks, API allow-listed to one IP</a:t>
            </a:r>
            <a:endParaRPr lang="en-US" sz="1400" dirty="0"/>
          </a:p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Audit logs, node auto repair</a:t>
            </a:r>
            <a:endParaRPr lang="en-US" sz="1400" dirty="0"/>
          </a:p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Applied, evidenced, destroyed: under $1</a:t>
            </a:r>
            <a:endParaRPr lang="en-US" sz="1400" dirty="0"/>
          </a:p>
        </p:txBody>
      </p:sp>
      <p:sp>
        <p:nvSpPr>
          <p:cNvPr id="10" name="One chart, two environments card"/>
          <p:cNvSpPr/>
          <p:nvPr/>
        </p:nvSpPr>
        <p:spPr>
          <a:xfrm>
            <a:off x="4322978" y="1691640"/>
            <a:ext cx="3545738" cy="4434840"/>
          </a:xfrm>
          <a:prstGeom prst="roundRect">
            <a:avLst>
              <a:gd name="adj" fmla="val 257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7298" y="19202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08–10 · K8S, HELM, INGRESS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97298" y="2240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One chart, two environments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7298" y="274320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597298" y="344728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environments: main by ArgoCD, staging by helm upgrade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25314" y="4069080"/>
            <a:ext cx="286908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Ingress: / to the frontend, /api to the backend</a:t>
            </a:r>
            <a:endParaRPr lang="en-US" sz="1400" dirty="0"/>
          </a:p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Postgres as a StatefulSet with a PVC</a:t>
            </a:r>
            <a:endParaRPr lang="en-US" sz="1400" dirty="0"/>
          </a:p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Pod Security restricted: non-root, read-only filesystem</a:t>
            </a:r>
            <a:endParaRPr lang="en-US" sz="1400" dirty="0"/>
          </a:p>
        </p:txBody>
      </p:sp>
      <p:sp>
        <p:nvSpPr>
          <p:cNvPr id="16" name="The HPA under real load card"/>
          <p:cNvSpPr/>
          <p:nvPr/>
        </p:nvSpPr>
        <p:spPr>
          <a:xfrm>
            <a:off x="8097317" y="1691640"/>
            <a:ext cx="3545738" cy="4434840"/>
          </a:xfrm>
          <a:prstGeom prst="roundRect">
            <a:avLst>
              <a:gd name="adj" fmla="val 257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71637" y="19202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11 · AUTOSCALING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71637" y="2240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The HPA under real load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71637" y="2743200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 → 6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71637" y="344728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backend replicas in 30 seconds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99653" y="4069080"/>
            <a:ext cx="286908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70% CPU target; the load peaked at 383%</a:t>
            </a:r>
            <a:endParaRPr lang="en-US" sz="1400" dirty="0"/>
          </a:p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12 clients for 3 minutes, through the Ingress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0 heartbeats missed while scaling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12–13 · MONITORING AND TROUBLESHOOTING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Monitored, alerted, debugged</a:t>
            </a:r>
            <a:endParaRPr lang="en-US" sz="3600" dirty="0"/>
          </a:p>
        </p:txBody>
      </p:sp>
      <p:sp>
        <p:nvSpPr>
          <p:cNvPr id="4" name="Grafana dashboard screenshot frame"/>
          <p:cNvSpPr/>
          <p:nvPr/>
        </p:nvSpPr>
        <p:spPr>
          <a:xfrm>
            <a:off x="548640" y="1691640"/>
            <a:ext cx="5632704" cy="3090672"/>
          </a:xfrm>
          <a:prstGeom prst="roundRect">
            <a:avLst>
              <a:gd name="adj" fmla="val 295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Grafana dashboard screenshot" descr="Grafana dashboard: services up and down, uptime, error budget and burn rate per ser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4792"/>
            <a:ext cx="5486400" cy="2944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46320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Grafana dashboard, provisioned from a ConfigMap</a:t>
            </a:r>
            <a:endParaRPr lang="en-US" sz="1200" dirty="0"/>
          </a:p>
        </p:txBody>
      </p:sp>
      <p:sp>
        <p:nvSpPr>
          <p:cNvPr id="7" name="Fast burn tier"/>
          <p:cNvSpPr/>
          <p:nvPr/>
        </p:nvSpPr>
        <p:spPr>
          <a:xfrm>
            <a:off x="548640" y="5257800"/>
            <a:ext cx="1755648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52578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Fast burn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14.4× over 1h + 5m</a:t>
            </a:r>
            <a:endParaRPr lang="en-US" sz="1300" dirty="0"/>
          </a:p>
        </p:txBody>
      </p:sp>
      <p:sp>
        <p:nvSpPr>
          <p:cNvPr id="9" name="Medium burn tier"/>
          <p:cNvSpPr/>
          <p:nvPr/>
        </p:nvSpPr>
        <p:spPr>
          <a:xfrm>
            <a:off x="2487168" y="5257800"/>
            <a:ext cx="1755648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52578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Medium burn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6× over 6h + 30m</a:t>
            </a:r>
            <a:endParaRPr lang="en-US" sz="1300" dirty="0"/>
          </a:p>
        </p:txBody>
      </p:sp>
      <p:sp>
        <p:nvSpPr>
          <p:cNvPr id="11" name="Slow burn tier"/>
          <p:cNvSpPr/>
          <p:nvPr/>
        </p:nvSpPr>
        <p:spPr>
          <a:xfrm>
            <a:off x="4425696" y="5257800"/>
            <a:ext cx="1755648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90288" y="52578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Slow burn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1× over 24h + 1h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69164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</a:rPr>
              <a:t>Three real incidents, three root causes</a:t>
            </a:r>
            <a:endParaRPr lang="en-US" sz="1700" dirty="0"/>
          </a:p>
        </p:txBody>
      </p:sp>
      <p:sp>
        <p:nvSpPr>
          <p:cNvPr id="14" name="Incident 1 card"/>
          <p:cNvSpPr/>
          <p:nvPr/>
        </p:nvSpPr>
        <p:spPr>
          <a:xfrm>
            <a:off x="6400800" y="2194560"/>
            <a:ext cx="52395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2940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Every service merged into one Prometheus series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Cause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our service label clashed with Kubernetes' own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Fix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honorLabels on the ServiceMonitor</a:t>
            </a:r>
            <a:endParaRPr lang="en-US" sz="1400" dirty="0"/>
          </a:p>
        </p:txBody>
      </p:sp>
      <p:sp>
        <p:nvSpPr>
          <p:cNvPr id="16" name="Incident 2 card"/>
          <p:cNvSpPr/>
          <p:nvPr/>
        </p:nvSpPr>
        <p:spPr>
          <a:xfrm>
            <a:off x="6400800" y="3520440"/>
            <a:ext cx="52395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9400" y="3520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Every deploy looked like an outage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Cause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two simulators rotated each other's tokens mid-rollout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Fix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Recreate strategy for the simulator</a:t>
            </a:r>
            <a:endParaRPr lang="en-US" sz="1400" dirty="0"/>
          </a:p>
        </p:txBody>
      </p:sp>
      <p:sp>
        <p:nvSpPr>
          <p:cNvPr id="18" name="Incident 3 card"/>
          <p:cNvSpPr/>
          <p:nvPr/>
        </p:nvSpPr>
        <p:spPr>
          <a:xfrm>
            <a:off x="6400800" y="4846320"/>
            <a:ext cx="523951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29400" y="4846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terraform apply stopped on one resource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Cause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the AWS org policy denies OIDC providers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Fix 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IRSA off, EKS Pod Identity instead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 commit deploys itself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658082" y="1965960"/>
            <a:ext cx="887553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" name="Flow 1"/>
          <p:cNvSpPr/>
          <p:nvPr/>
        </p:nvSpPr>
        <p:spPr>
          <a:xfrm>
            <a:off x="1383762" y="169164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Flow 1 label"/>
          <p:cNvSpPr txBox="1"/>
          <p:nvPr/>
        </p:nvSpPr>
        <p:spPr>
          <a:xfrm>
            <a:off x="138376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Commit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18531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change the tagline and push</a:t>
            </a:r>
            <a:endParaRPr lang="en-US" sz="1300" dirty="0"/>
          </a:p>
        </p:txBody>
      </p:sp>
      <p:sp>
        <p:nvSpPr>
          <p:cNvPr id="9" name="Flow 2"/>
          <p:cNvSpPr/>
          <p:nvPr/>
        </p:nvSpPr>
        <p:spPr>
          <a:xfrm>
            <a:off x="3602645" y="169164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Flow 2 label"/>
          <p:cNvSpPr txBox="1"/>
          <p:nvPr/>
        </p:nvSpPr>
        <p:spPr>
          <a:xfrm>
            <a:off x="3602645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58963" y="2377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Pipeline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50403" y="2743200"/>
            <a:ext cx="18531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tests, images, Trivy, GHCR: about 3 min</a:t>
            </a:r>
            <a:endParaRPr lang="en-US" sz="1300" dirty="0"/>
          </a:p>
        </p:txBody>
      </p:sp>
      <p:sp>
        <p:nvSpPr>
          <p:cNvPr id="13" name="Flow 3"/>
          <p:cNvSpPr/>
          <p:nvPr/>
        </p:nvSpPr>
        <p:spPr>
          <a:xfrm>
            <a:off x="5821528" y="169164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Flow 3 label"/>
          <p:cNvSpPr txBox="1"/>
          <p:nvPr/>
        </p:nvSpPr>
        <p:spPr>
          <a:xfrm>
            <a:off x="582152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77846" y="2377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Promote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9286" y="2743200"/>
            <a:ext cx="18531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bot commits the new tag</a:t>
            </a:r>
            <a:endParaRPr lang="en-US" sz="1300" dirty="0"/>
          </a:p>
        </p:txBody>
      </p:sp>
      <p:sp>
        <p:nvSpPr>
          <p:cNvPr id="17" name="Flow 4"/>
          <p:cNvSpPr/>
          <p:nvPr/>
        </p:nvSpPr>
        <p:spPr>
          <a:xfrm>
            <a:off x="8040411" y="169164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Flow 4 label"/>
          <p:cNvSpPr txBox="1"/>
          <p:nvPr/>
        </p:nvSpPr>
        <p:spPr>
          <a:xfrm>
            <a:off x="8040411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96729" y="2377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ArgoCD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88169" y="2743200"/>
            <a:ext cx="18531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notices within a minute, then syncs</a:t>
            </a:r>
            <a:endParaRPr lang="en-US" sz="1300" dirty="0"/>
          </a:p>
        </p:txBody>
      </p:sp>
      <p:sp>
        <p:nvSpPr>
          <p:cNvPr id="21" name="Flow 5"/>
          <p:cNvSpPr/>
          <p:nvPr/>
        </p:nvSpPr>
        <p:spPr>
          <a:xfrm>
            <a:off x="10259294" y="1691640"/>
            <a:ext cx="548640" cy="5486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Flow 5 label"/>
          <p:cNvSpPr txBox="1"/>
          <p:nvPr/>
        </p:nvSpPr>
        <p:spPr>
          <a:xfrm>
            <a:off x="1025929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15612" y="237744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Live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7052" y="2743200"/>
            <a:ext cx="18531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pods roll; the board shows the new SHA</a:t>
            </a:r>
            <a:endParaRPr lang="en-US" sz="1300" dirty="0"/>
          </a:p>
        </p:txBody>
      </p:sp>
      <p:sp>
        <p:nvSpPr>
          <p:cNvPr id="25" name="Result 1"/>
          <p:cNvSpPr/>
          <p:nvPr/>
        </p:nvSpPr>
        <p:spPr>
          <a:xfrm>
            <a:off x="548640" y="361188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Result 1 value"/>
          <p:cNvSpPr txBox="1"/>
          <p:nvPr/>
        </p:nvSpPr>
        <p:spPr>
          <a:xfrm>
            <a:off x="777240" y="37947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48</a:t>
            </a:r>
            <a:endParaRPr lang="en-US" sz="3600" dirty="0"/>
          </a:p>
        </p:txBody>
      </p:sp>
      <p:sp>
        <p:nvSpPr>
          <p:cNvPr id="27" name="Result 1 label"/>
          <p:cNvSpPr txBox="1"/>
          <p:nvPr/>
        </p:nvSpPr>
        <p:spPr>
          <a:xfrm>
            <a:off x="777240" y="4526280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tests, 98% coverage</a:t>
            </a:r>
            <a:endParaRPr lang="en-US" sz="1300" dirty="0"/>
          </a:p>
        </p:txBody>
      </p:sp>
      <p:sp>
        <p:nvSpPr>
          <p:cNvPr id="28" name="Result 2"/>
          <p:cNvSpPr/>
          <p:nvPr/>
        </p:nvSpPr>
        <p:spPr>
          <a:xfrm>
            <a:off x="3379394" y="361188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Result 2 value"/>
          <p:cNvSpPr txBox="1"/>
          <p:nvPr/>
        </p:nvSpPr>
        <p:spPr>
          <a:xfrm>
            <a:off x="3607994" y="37947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</a:t>
            </a:r>
            <a:endParaRPr lang="en-US" sz="3600" dirty="0"/>
          </a:p>
        </p:txBody>
      </p:sp>
      <p:sp>
        <p:nvSpPr>
          <p:cNvPr id="30" name="Result 2 label"/>
          <p:cNvSpPr txBox="1"/>
          <p:nvPr/>
        </p:nvSpPr>
        <p:spPr>
          <a:xfrm>
            <a:off x="3607994" y="4526280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vulnerabilities in 6 image builds</a:t>
            </a:r>
            <a:endParaRPr lang="en-US" sz="1300" dirty="0"/>
          </a:p>
        </p:txBody>
      </p:sp>
      <p:sp>
        <p:nvSpPr>
          <p:cNvPr id="31" name="Result 3"/>
          <p:cNvSpPr/>
          <p:nvPr/>
        </p:nvSpPr>
        <p:spPr>
          <a:xfrm>
            <a:off x="6210148" y="361188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Result 3 value"/>
          <p:cNvSpPr txBox="1"/>
          <p:nvPr/>
        </p:nvSpPr>
        <p:spPr>
          <a:xfrm>
            <a:off x="6438748" y="37947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52</a:t>
            </a:r>
            <a:endParaRPr lang="en-US" sz="3600" dirty="0"/>
          </a:p>
        </p:txBody>
      </p:sp>
      <p:sp>
        <p:nvSpPr>
          <p:cNvPr id="33" name="Result 3 label"/>
          <p:cNvSpPr txBox="1"/>
          <p:nvPr/>
        </p:nvSpPr>
        <p:spPr>
          <a:xfrm>
            <a:off x="6438748" y="4526280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AWS resources, destroyed after</a:t>
            </a:r>
            <a:endParaRPr lang="en-US" sz="1300" dirty="0"/>
          </a:p>
        </p:txBody>
      </p:sp>
      <p:sp>
        <p:nvSpPr>
          <p:cNvPr id="34" name="Result 4"/>
          <p:cNvSpPr/>
          <p:nvPr/>
        </p:nvSpPr>
        <p:spPr>
          <a:xfrm>
            <a:off x="9040901" y="361188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5" name="Result 4 value"/>
          <p:cNvSpPr txBox="1"/>
          <p:nvPr/>
        </p:nvSpPr>
        <p:spPr>
          <a:xfrm>
            <a:off x="9269501" y="37947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38</a:t>
            </a:r>
            <a:endParaRPr lang="en-US" sz="3600" dirty="0"/>
          </a:p>
        </p:txBody>
      </p:sp>
      <p:sp>
        <p:nvSpPr>
          <p:cNvPr id="36" name="Result 4 label"/>
          <p:cNvSpPr txBox="1"/>
          <p:nvPr/>
        </p:nvSpPr>
        <p:spPr>
          <a:xfrm>
            <a:off x="9269501" y="4526280"/>
            <a:ext cx="21449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screenshots in docs/EVIDENCE.md</a:t>
            </a:r>
            <a:endParaRPr lang="en-US" sz="1300" dirty="0"/>
          </a:p>
        </p:txBody>
      </p:sp>
      <p:sp>
        <p:nvSpPr>
          <p:cNvPr id="37" name="Closing eye outline"/>
          <p:cNvSpPr/>
          <p:nvPr/>
        </p:nvSpPr>
        <p:spPr>
          <a:xfrm>
            <a:off x="548640" y="5486400"/>
            <a:ext cx="685800" cy="3840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38" name="Closing eye pupil"/>
          <p:cNvSpPr/>
          <p:nvPr/>
        </p:nvSpPr>
        <p:spPr>
          <a:xfrm>
            <a:off x="795528" y="5582412"/>
            <a:ext cx="192024" cy="1920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463040" y="53949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</a:rPr>
              <a:t>Thank you · Questions?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5394960"/>
            <a:ext cx="4873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github.com/arnav-yadav/argus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B9A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gus Night Watch">
  <a:themeElements>
    <a:clrScheme name="Argus Night Watch">
      <a:dk1>
        <a:srgbClr val="0B1120"/>
      </a:dk1>
      <a:lt1>
        <a:srgbClr val="FFFFFF"/>
      </a:lt1>
      <a:dk2>
        <a:srgbClr val="111A2E"/>
      </a:dk2>
      <a:lt2>
        <a:srgbClr val="E2E8F0"/>
      </a:lt2>
      <a:accent1>
        <a:srgbClr val="38BDF8"/>
      </a:accent1>
      <a:accent2>
        <a:srgbClr val="34D399"/>
      </a:accent2>
      <a:accent3>
        <a:srgbClr val="FBBF24"/>
      </a:accent3>
      <a:accent4>
        <a:srgbClr val="F87171"/>
      </a:accent4>
      <a:accent5>
        <a:srgbClr val="8B9AB5"/>
      </a:accent5>
      <a:accent6>
        <a:srgbClr val="22304D"/>
      </a:accent6>
      <a:hlink>
        <a:srgbClr val="38BDF8"/>
      </a:hlink>
      <a:folHlink>
        <a:srgbClr val="8B9AB5"/>
      </a:folHlink>
    </a:clrScheme>
    <a:fontScheme name="Argus Night Wa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Argus: SLO and uptime monitoring, shipped end to end</dc:title>
  <dc:subject>Capstone project</dc:subject>
  <dc:creator>Arnav Yadav</dc:creator>
  <cp:lastModifiedBy>Arnav Yadav</cp:lastModifiedBy>
  <cp:revision>1</cp:revision>
  <dcterms:created xsi:type="dcterms:W3CDTF">2026-10-13T21:55:47Z</dcterms:created>
  <dcterms:modified xsi:type="dcterms:W3CDTF">2026-10-13T21:55:47Z</dcterms:modified>
</cp:coreProperties>
</file>