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0c5cbf8-dbfa-e12b-6330-ee6ebaba1966}">
          <p14:sldIdLst>
            <p14:sldId id="256"/>
            <p14:sldId id="257"/>
            <p14:sldId id="258"/>
          </p14:sldIdLst>
        </p14:section>
        <p14:section name="The delivery chain" id="{9975f8ad-9754-4280-0bdd-f042d928c925}">
          <p14:sldIdLst>
            <p14:sldId id="259"/>
            <p14:sldId id="260"/>
            <p14:sldId id="261"/>
            <p14:sldId id="262"/>
            <p14:sldId id="263"/>
          </p14:sldIdLst>
        </p14:section>
        <p14:section name="Infrastructure" id="{15c31c98-d115-3621-2f5d-dc31cac2d78c}">
          <p14:sldIdLst>
            <p14:sldId id="264"/>
            <p14:sldId id="265"/>
            <p14:sldId id="266"/>
          </p14:sldIdLst>
        </p14:section>
        <p14:section name="Operating it" id="{be06959b-316d-87ff-9ea0-c731247164bb}">
          <p14:sldIdLst>
            <p14:sldId id="267"/>
            <p14:sldId id="268"/>
            <p14:sldId id="269"/>
          </p14:sldIdLst>
        </p14:section>
        <p14:section name="Close" id="{ba18ee2d-3301-a7b0-aa08-ed6aa06e945d}">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Arnav. This is Argus, my Session 21 capstone. It's an SLO and uptime monitor: services send it heartbeats, and it tells you who is up, how much error budget each service has left, and how fast it's burning. The name comes from the hundred-eyed watchman of Greek myth who never slept. On the right is the real status board running on Kubernetes. The rest of the talk follows the course's delivery chain, from the application to troubleshooting, and ends with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A service registers and gets an ingest token, which Argus only stores hashed. It sends a heartbeat every interval. If it goes quiet for two intervals, Argus marks it down, because a crashed process can't report its own crash. And from those beats Argus computes uptime, error budget and burn rate over three windows. A simulator plays five services with different reliability so the numbers move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maths lives in pure functions in slo.py. Time is split into slots of one heartbeat interval; a slot is good if any healthy beat landed in it. Three rules keep it honest: count slots not beats, clip windows to when the service was created, and don't count the current slot until it has a beat. The error budget is the downtime the SLO allows: at 99.9% that's 86.4 seconds a day, and Argus measures budget spent in real seconds. Burn rate is how fast you're spending it: 1x is exactly on budget, and 14.4x is the Google SRE threshold for paging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chain the course asks every capstone to demonstrate, and each stage maps to something real in the repo. I'll walk through them in order: the application, Git and CI, the Docker images and the Trivy gate, the registry, Terraform on AWS, Kubernetes with Helm and an Ingress, autoscaling, monitoring, and the incidents I had to troubleshoot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Postgres: thirteen routes and two tables managed by Alembic. There are 48 tests at 98% coverage. The trick that made testing easy is that all the SLO maths are pure functions that take the current time as an argument, so no clock mocking. Tests use in-memory SQLite. And migrations take a Postgres advisory lock, so when the HPA starts six backend pods at once, only one of them runs the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change is one commit with a message that says why. A push to main runs the workflow: five check jobs, including gitleaks over the whole Git history. Only when the backend and frontend jobs pass do the three image jobs run. Each builds amd64 and arm64, scans both with Trivy, and only then pushes to GitHub Container Registry, tagged with the commit SHA. The last job, Promote, commits the new tag into the Helm values file, and ArgoCD in the cluster pulls it. GitHub never needs credentials for my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images: backend, frontend and simulator, all multi-stage and all running as non-root users. The frontend builds with Node and serves with unprivileged nginx. The biggest change was moving the backend from Debian slim to Alpine. The Debian base carried 44 HIGH CVEs Debian hadn't fixed, in packages my app never touches. On Alpine the image dropped from 306 to 178 megabytes and scans clean. Docker Compose runs the whole stack locally, with a one-shot migrate service before the backend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scans every image before it can reach the registry and fails on HIGH or CRITICAL findings. On the very first run it blocked two images over four HIGH CVEs. One example: CVE-2026-97687 in urllib3, where an HTTPS proxy's TLS settings can be overridden, so traffic could be intercepted. None of these were in my dependencies: they were copies that pip vendors inside itself. Since nothing installs packages at runtime, I removed pip instead of suppressing the findings. Later I tightened it further: Alpine base, both architectures scanned, and no ignoring of unfixed CVEs. Images land in GHCR tagged by commit SHA, never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a VPC with two public and two private subnets and an EKS 1.35 cluster with a managed node group: 52 resources. The control plane takes about eight minutes. I hardened it following HashiCorp's and AWS's guidance: encrypted node disks, which this account doesn't do by default; the Kubernetes API only reachable from my IP; access entries instead of the aws-auth ConfigMap; audit logs; and automatic node repair. To control cost I applied it, captured the evidence and destroyed it, three times in total for under a dollar, and checked AWS directly that nothing was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ships as one Helm chart. The Ingress sends slash to the frontend and slash-api to the backend, and nginx in the frontend also proxies the API, with its upstream templated at start-up. Postgres is a StatefulSet with a persistent volume, and migrations run in an init container. The namespace enforces the Pod Security restricted profile, so every pod is non-root with a read-only filesystem. The same chart runs two environments: main is deployed by ArgoCD, and staging is installed directly with helm upgrade and checked with helm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has a HorizontalPodAutoscaler: two to six replicas, targeting 70% CPU. To prove it works I sent load through the Ingress: twelve clients hitting the fleet-budget endpoint for three minutes. About a minute in, CPU passed 370% of the target, peaking at 383%, and within 30 seconds the HPA went from two replicas to four to six. Because migrations are guarded by an advisory lock, the new pods started cleanly, and none of the simulated services missed a heartbeat. After a five-minute cool-down it scaled back to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GitOps loop, and it's what the live demo shows. I change something visible and push. The pipeline tests, builds, scans and pushes the images in about three minutes. The Promote job commits the new image tag as a bot, with skip-ci so it can't loop. ArgoCD in the cluster sees that commit within about a minute and syncs it, and the pods roll over to the new build. The board's footer shows which commit is running. The screenshot is a real earlier run: no kubectl or helm by hand, and the healthy services stayed at 100%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is a monitoring product, and it's monitored itself with Prometheus and Grafana. The backend's metrics endpoint exposes per-service SLO gauges, computed from the database at scrape time, so no background job runs twice when there are several replicas. The alerts follow the Google SRE workbook's multi-window, multi-burn-rate pattern, in three tiers: fast, medium and slow, plus service down and budget exhausted. The dashboard ships as a ConfigMap, so Grafana loads it with no manual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six things that actually broke while I built this, each with its root cause. The Trivy gate blocking on pip's vendored libraries. Prometheus merging every service into one line, because my 'service' label clashed with the one Kubernetes adds; honorLabels fixed it. Grafana showing no data because it was being OOM-killed. Deploys that looked like outages, because during a rolling update two simulator pods kept rotating each other's tokens. Terraform stopping on one resource because the AWS organisation's policy forbids OIDC providers. And a maths bug where a three-minute-old service showed a budget of minus five thousand percent, fixed by measuring the budget in seconds of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in numbers: 48 tests at 98% coverage, nine CI jobs on every push, zero vulnerabilities across six image builds, 52 AWS resources from Terraform, five alert rules, an HPA that went from two to six replicas without a single missed heartbeat, and 38 screenshots of real output. Every rubric module has its evidence in docs/EVIDENCE.md.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Argus. Now the live demo: I'll change the tagline, push, and we'll watch it go through the pipeline and ArgoCD onto the cluster.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RGUS_TITLE">
    <p:bg>
      <p:bgPr>
        <a:solidFill>
          <a:srgbClr val="0B112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RGUS_CONTENT">
    <p:bg>
      <p:bgPr>
        <a:solidFill>
          <a:srgbClr val="0B112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endParaRPr lang="en-US" sz="36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Argus · Session 21 DevOps capstone · Arnav Yadav</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rgus eye outline"/>
          <p:cNvSpPr/>
          <p:nvPr/>
        </p:nvSpPr>
        <p:spPr>
          <a:xfrm>
            <a:off x="548640" y="1051560"/>
            <a:ext cx="1143000" cy="640080"/>
          </a:xfrm>
          <a:prstGeom prst="ellipse">
            <a:avLst/>
          </a:prstGeom>
          <a:solidFill>
            <a:schemeClr val="tx1"/>
          </a:solidFill>
          <a:ln w="47625">
            <a:solidFill>
              <a:schemeClr val="accent1"/>
            </a:solidFill>
            <a:prstDash val="solid"/>
          </a:ln>
        </p:spPr>
      </p:sp>
      <p:sp>
        <p:nvSpPr>
          <p:cNvPr id="3" name="Argus eye pupil"/>
          <p:cNvSpPr/>
          <p:nvPr/>
        </p:nvSpPr>
        <p:spPr>
          <a:xfrm>
            <a:off x="960120" y="1211580"/>
            <a:ext cx="320040" cy="320040"/>
          </a:xfrm>
          <a:prstGeom prst="ellipse">
            <a:avLst/>
          </a:prstGeom>
          <a:solidFill>
            <a:schemeClr val="accent1"/>
          </a:solidFill>
          <a:ln/>
        </p:spPr>
      </p:sp>
      <p:sp>
        <p:nvSpPr>
          <p:cNvPr id="4" name="Text 2"/>
          <p:cNvSpPr txBox="1"/>
          <p:nvPr/>
        </p:nvSpPr>
        <p:spPr>
          <a:xfrm>
            <a:off x="548640" y="1874520"/>
            <a:ext cx="5394960" cy="1005840"/>
          </a:xfrm>
          <a:prstGeom prst="rect">
            <a:avLst/>
          </a:prstGeom>
          <a:noFill/>
          <a:ln/>
        </p:spPr>
        <p:txBody>
          <a:bodyPr wrap="square" lIns="0" tIns="0" rIns="0" bIns="0" rtlCol="0" anchor="t"/>
          <a:lstStyle/>
          <a:p>
            <a:pPr indent="0" marL="0">
              <a:buNone/>
            </a:pPr>
            <a:r>
              <a:rPr lang="en-US" sz="6000" b="1" dirty="0">
                <a:solidFill>
                  <a:schemeClr val="bg2"/>
                </a:solidFill>
                <a:latin typeface="Arial" pitchFamily="34" charset="0"/>
                <a:ea typeface="Arial" pitchFamily="34" charset="-122"/>
                <a:cs typeface="Arial" pitchFamily="34" charset="-120"/>
              </a:rPr>
              <a:t>Argus</a:t>
            </a:r>
            <a:endParaRPr lang="en-US" sz="6000" dirty="0"/>
          </a:p>
        </p:txBody>
      </p:sp>
      <p:sp>
        <p:nvSpPr>
          <p:cNvPr id="5" name="Text 3"/>
          <p:cNvSpPr txBox="1"/>
          <p:nvPr/>
        </p:nvSpPr>
        <p:spPr>
          <a:xfrm>
            <a:off x="548640" y="2926080"/>
            <a:ext cx="5394960" cy="960120"/>
          </a:xfrm>
          <a:prstGeom prst="rect">
            <a:avLst/>
          </a:prstGeom>
          <a:noFill/>
          <a:ln/>
        </p:spPr>
        <p:txBody>
          <a:bodyPr wrap="square" lIns="0" tIns="0" rIns="0" bIns="0" rtlCol="0" anchor="t"/>
          <a:lstStyle/>
          <a:p>
            <a:pPr indent="0" marL="0">
              <a:buNone/>
            </a:pPr>
            <a:r>
              <a:rPr lang="en-US" sz="2000" dirty="0">
                <a:solidFill>
                  <a:schemeClr val="accent5"/>
                </a:solidFill>
              </a:rPr>
              <a:t>SLO and uptime monitoring, shipped through a complete DevOps pipeline</a:t>
            </a:r>
            <a:endParaRPr lang="en-US" sz="2000" dirty="0"/>
          </a:p>
        </p:txBody>
      </p:sp>
      <p:sp>
        <p:nvSpPr>
          <p:cNvPr id="6" name="Text 4"/>
          <p:cNvSpPr txBox="1"/>
          <p:nvPr/>
        </p:nvSpPr>
        <p:spPr>
          <a:xfrm>
            <a:off x="548640" y="4069080"/>
            <a:ext cx="5120640" cy="731520"/>
          </a:xfrm>
          <a:prstGeom prst="rect">
            <a:avLst/>
          </a:prstGeom>
          <a:noFill/>
          <a:ln/>
        </p:spPr>
        <p:txBody>
          <a:bodyPr wrap="square" lIns="0" tIns="0" rIns="0" bIns="0" rtlCol="0" anchor="t"/>
          <a:lstStyle/>
          <a:p>
            <a:pPr indent="0" marL="0">
              <a:buNone/>
            </a:pPr>
            <a:r>
              <a:rPr lang="en-US" sz="1500" i="1" dirty="0">
                <a:solidFill>
                  <a:schemeClr val="accent1"/>
                </a:solidFill>
              </a:rPr>
              <a:t>Every service watched. Every error budget accounted for. Every deploy traced to a commit.</a:t>
            </a:r>
            <a:endParaRPr lang="en-US" sz="1500" dirty="0"/>
          </a:p>
        </p:txBody>
      </p:sp>
      <p:sp>
        <p:nvSpPr>
          <p:cNvPr id="7" name="Text 5"/>
          <p:cNvSpPr txBox="1"/>
          <p:nvPr/>
        </p:nvSpPr>
        <p:spPr>
          <a:xfrm>
            <a:off x="548640" y="5074920"/>
            <a:ext cx="5120640" cy="1005840"/>
          </a:xfrm>
          <a:prstGeom prst="rect">
            <a:avLst/>
          </a:prstGeom>
          <a:noFill/>
          <a:ln/>
        </p:spPr>
        <p:txBody>
          <a:bodyPr wrap="square" lIns="0" tIns="0" rIns="0" bIns="0" rtlCol="0" anchor="t"/>
          <a:lstStyle/>
          <a:p>
            <a:pPr indent="0" marL="0">
              <a:spcAft>
                <a:spcPts val="300"/>
              </a:spcAft>
              <a:buNone/>
            </a:pPr>
            <a:r>
              <a:rPr lang="en-US" sz="1500" b="1" dirty="0">
                <a:solidFill>
                  <a:schemeClr val="bg2"/>
                </a:solidFill>
              </a:rPr>
              <a:t>Arnav Yadav</a:t>
            </a:r>
            <a:endParaRPr lang="en-US" sz="1500" dirty="0"/>
          </a:p>
          <a:p>
            <a:pPr indent="0" marL="0">
              <a:spcAft>
                <a:spcPts val="300"/>
              </a:spcAft>
              <a:buNone/>
            </a:pPr>
            <a:r>
              <a:rPr lang="en-US" sz="1500" dirty="0">
                <a:solidFill>
                  <a:schemeClr val="accent5"/>
                </a:solidFill>
              </a:rPr>
              <a:t>Session 21 DevOps capstone</a:t>
            </a:r>
            <a:endParaRPr lang="en-US" sz="1500" dirty="0"/>
          </a:p>
          <a:p>
            <a:pPr indent="0" marL="0">
              <a:spcAft>
                <a:spcPts val="300"/>
              </a:spcAft>
              <a:buNone/>
            </a:pPr>
            <a:r>
              <a:rPr lang="en-US" sz="1500" dirty="0">
                <a:solidFill>
                  <a:schemeClr val="accent1"/>
                </a:solidFill>
                <a:latin typeface="Courier New" pitchFamily="34" charset="0"/>
                <a:ea typeface="Courier New" pitchFamily="34" charset="-122"/>
                <a:cs typeface="Courier New" pitchFamily="34" charset="-120"/>
              </a:rPr>
              <a:t>github.com/arnav-yadav/argus</a:t>
            </a:r>
            <a:endParaRPr lang="en-US" sz="1500" dirty="0"/>
          </a:p>
        </p:txBody>
      </p:sp>
      <p:sp>
        <p:nvSpPr>
          <p:cNvPr id="8" name="Status board screenshot frame"/>
          <p:cNvSpPr/>
          <p:nvPr/>
        </p:nvSpPr>
        <p:spPr>
          <a:xfrm>
            <a:off x="6190488" y="1664208"/>
            <a:ext cx="5449824" cy="3140050"/>
          </a:xfrm>
          <a:prstGeom prst="roundRect">
            <a:avLst>
              <a:gd name="adj" fmla="val 2912"/>
            </a:avLst>
          </a:prstGeom>
          <a:solidFill>
            <a:schemeClr val="tx2"/>
          </a:solidFill>
          <a:ln w="9525">
            <a:solidFill>
              <a:schemeClr val="accent6"/>
            </a:solidFill>
            <a:prstDash val="solid"/>
          </a:ln>
        </p:spPr>
      </p:sp>
      <p:pic>
        <p:nvPicPr>
          <p:cNvPr id="9" name="Status board screenshot" descr="The Argus status board: fleet summary and per-service SLO cards">    </p:cNvPr>
          <p:cNvPicPr>
            <a:picLocks noChangeAspect="1"/>
          </p:cNvPicPr>
          <p:nvPr/>
        </p:nvPicPr>
        <p:blipFill>
          <a:blip r:embed="rId1"/>
          <a:stretch>
            <a:fillRect/>
          </a:stretch>
        </p:blipFill>
        <p:spPr>
          <a:xfrm>
            <a:off x="6263640" y="1737360"/>
            <a:ext cx="5303520" cy="2993746"/>
          </a:xfrm>
          <a:prstGeom prst="rect">
            <a:avLst/>
          </a:prstGeom>
        </p:spPr>
      </p:pic>
      <p:sp>
        <p:nvSpPr>
          <p:cNvPr id="10" name="Text 7"/>
          <p:cNvSpPr txBox="1"/>
          <p:nvPr/>
        </p:nvSpPr>
        <p:spPr>
          <a:xfrm>
            <a:off x="6263640" y="4873752"/>
            <a:ext cx="5303520" cy="274320"/>
          </a:xfrm>
          <a:prstGeom prst="rect">
            <a:avLst/>
          </a:prstGeom>
          <a:noFill/>
          <a:ln/>
        </p:spPr>
        <p:txBody>
          <a:bodyPr wrap="square" lIns="0" tIns="0" rIns="0" bIns="0" rtlCol="0" anchor="t"/>
          <a:lstStyle/>
          <a:p>
            <a:pPr indent="0" marL="0">
              <a:buNone/>
            </a:pPr>
            <a:r>
              <a:rPr lang="en-US" sz="1200" dirty="0">
                <a:solidFill>
                  <a:schemeClr val="accent5"/>
                </a:solidFill>
              </a:rPr>
              <a:t>The live status board, served through the Kubernetes Ingress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THE APPLICATION</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Liveness is inferred from silence</a:t>
            </a:r>
            <a:endParaRPr lang="en-US" sz="3600" dirty="0"/>
          </a:p>
        </p:txBody>
      </p:sp>
      <p:sp>
        <p:nvSpPr>
          <p:cNvPr id="4" name="Step 1 card"/>
          <p:cNvSpPr/>
          <p:nvPr/>
        </p:nvSpPr>
        <p:spPr>
          <a:xfrm>
            <a:off x="548640" y="1691640"/>
            <a:ext cx="2602154" cy="3017520"/>
          </a:xfrm>
          <a:prstGeom prst="roundRect">
            <a:avLst>
              <a:gd name="adj" fmla="val 3514"/>
            </a:avLst>
          </a:prstGeom>
          <a:solidFill>
            <a:schemeClr val="tx2"/>
          </a:solidFill>
          <a:ln w="9525">
            <a:solidFill>
              <a:schemeClr val="accent6"/>
            </a:solidFill>
            <a:prstDash val="solid"/>
          </a:ln>
        </p:spPr>
      </p:sp>
      <p:sp>
        <p:nvSpPr>
          <p:cNvPr id="5" name="Step 1 badge"/>
          <p:cNvSpPr/>
          <p:nvPr/>
        </p:nvSpPr>
        <p:spPr>
          <a:xfrm>
            <a:off x="822960" y="1965960"/>
            <a:ext cx="566928" cy="566928"/>
          </a:xfrm>
          <a:prstGeom prst="ellipse">
            <a:avLst/>
          </a:prstGeom>
          <a:solidFill>
            <a:schemeClr val="tx1"/>
          </a:solidFill>
          <a:ln w="19050">
            <a:solidFill>
              <a:schemeClr val="accent1"/>
            </a:solidFill>
            <a:prstDash val="solid"/>
          </a:ln>
        </p:spPr>
      </p:sp>
      <p:sp>
        <p:nvSpPr>
          <p:cNvPr id="6" name="Step 1 badge label"/>
          <p:cNvSpPr txBox="1"/>
          <p:nvPr/>
        </p:nvSpPr>
        <p:spPr>
          <a:xfrm>
            <a:off x="822960" y="1965960"/>
            <a:ext cx="566928" cy="566928"/>
          </a:xfrm>
          <a:prstGeom prst="rect">
            <a:avLst/>
          </a:prstGeom>
          <a:noFill/>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7" name="Text 5"/>
          <p:cNvSpPr txBox="1"/>
          <p:nvPr/>
        </p:nvSpPr>
        <p:spPr>
          <a:xfrm>
            <a:off x="822960" y="2743200"/>
            <a:ext cx="2053514" cy="411480"/>
          </a:xfrm>
          <a:prstGeom prst="rect">
            <a:avLst/>
          </a:prstGeom>
          <a:noFill/>
          <a:ln/>
        </p:spPr>
        <p:txBody>
          <a:bodyPr wrap="square" lIns="0" tIns="0" rIns="0" bIns="0" rtlCol="0" anchor="t"/>
          <a:lstStyle/>
          <a:p>
            <a:pPr indent="0" marL="0">
              <a:buNone/>
            </a:pPr>
            <a:r>
              <a:rPr lang="en-US" sz="1800" b="1" dirty="0">
                <a:solidFill>
                  <a:schemeClr val="bg2"/>
                </a:solidFill>
              </a:rPr>
              <a:t>Register</a:t>
            </a:r>
            <a:endParaRPr lang="en-US" sz="1800" dirty="0"/>
          </a:p>
        </p:txBody>
      </p:sp>
      <p:sp>
        <p:nvSpPr>
          <p:cNvPr id="8" name="Text 6"/>
          <p:cNvSpPr txBox="1"/>
          <p:nvPr/>
        </p:nvSpPr>
        <p:spPr>
          <a:xfrm>
            <a:off x="822960" y="3200400"/>
            <a:ext cx="2053514" cy="1783080"/>
          </a:xfrm>
          <a:prstGeom prst="rect">
            <a:avLst/>
          </a:prstGeom>
          <a:noFill/>
          <a:ln/>
        </p:spPr>
        <p:txBody>
          <a:bodyPr wrap="square" lIns="0" tIns="0" rIns="0" bIns="0" rtlCol="0" anchor="t"/>
          <a:lstStyle/>
          <a:p>
            <a:pPr indent="0" marL="0">
              <a:buNone/>
            </a:pPr>
            <a:r>
              <a:rPr lang="en-US" sz="1400" dirty="0">
                <a:solidFill>
                  <a:schemeClr val="accent5"/>
                </a:solidFill>
              </a:rPr>
              <a:t>A service registers with a heartbeat interval and an SLO target. Argus returns a one-time ingest token and stores only its SHA‑256 hash.</a:t>
            </a:r>
            <a:endParaRPr lang="en-US" sz="1400" dirty="0"/>
          </a:p>
        </p:txBody>
      </p:sp>
      <p:sp>
        <p:nvSpPr>
          <p:cNvPr id="9" name="Step 2 card"/>
          <p:cNvSpPr/>
          <p:nvPr/>
        </p:nvSpPr>
        <p:spPr>
          <a:xfrm>
            <a:off x="3379394" y="1691640"/>
            <a:ext cx="2602154" cy="3017520"/>
          </a:xfrm>
          <a:prstGeom prst="roundRect">
            <a:avLst>
              <a:gd name="adj" fmla="val 3514"/>
            </a:avLst>
          </a:prstGeom>
          <a:solidFill>
            <a:schemeClr val="tx2"/>
          </a:solidFill>
          <a:ln w="9525">
            <a:solidFill>
              <a:schemeClr val="accent6"/>
            </a:solidFill>
            <a:prstDash val="solid"/>
          </a:ln>
        </p:spPr>
      </p:sp>
      <p:sp>
        <p:nvSpPr>
          <p:cNvPr id="10" name="Step 2 badge"/>
          <p:cNvSpPr/>
          <p:nvPr/>
        </p:nvSpPr>
        <p:spPr>
          <a:xfrm>
            <a:off x="3653714" y="1965960"/>
            <a:ext cx="566928" cy="566928"/>
          </a:xfrm>
          <a:prstGeom prst="ellipse">
            <a:avLst/>
          </a:prstGeom>
          <a:solidFill>
            <a:schemeClr val="tx1"/>
          </a:solidFill>
          <a:ln w="19050">
            <a:solidFill>
              <a:schemeClr val="accent1"/>
            </a:solidFill>
            <a:prstDash val="solid"/>
          </a:ln>
        </p:spPr>
      </p:sp>
      <p:sp>
        <p:nvSpPr>
          <p:cNvPr id="11" name="Step 2 badge label"/>
          <p:cNvSpPr txBox="1"/>
          <p:nvPr/>
        </p:nvSpPr>
        <p:spPr>
          <a:xfrm>
            <a:off x="3653714" y="1965960"/>
            <a:ext cx="566928" cy="566928"/>
          </a:xfrm>
          <a:prstGeom prst="rect">
            <a:avLst/>
          </a:prstGeom>
          <a:noFill/>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12" name="Text 10"/>
          <p:cNvSpPr txBox="1"/>
          <p:nvPr/>
        </p:nvSpPr>
        <p:spPr>
          <a:xfrm>
            <a:off x="3653714" y="2743200"/>
            <a:ext cx="2053514" cy="411480"/>
          </a:xfrm>
          <a:prstGeom prst="rect">
            <a:avLst/>
          </a:prstGeom>
          <a:noFill/>
          <a:ln/>
        </p:spPr>
        <p:txBody>
          <a:bodyPr wrap="square" lIns="0" tIns="0" rIns="0" bIns="0" rtlCol="0" anchor="t"/>
          <a:lstStyle/>
          <a:p>
            <a:pPr indent="0" marL="0">
              <a:buNone/>
            </a:pPr>
            <a:r>
              <a:rPr lang="en-US" sz="1800" b="1" dirty="0">
                <a:solidFill>
                  <a:schemeClr val="bg2"/>
                </a:solidFill>
              </a:rPr>
              <a:t>Beat</a:t>
            </a:r>
            <a:endParaRPr lang="en-US" sz="1800" dirty="0"/>
          </a:p>
        </p:txBody>
      </p:sp>
      <p:sp>
        <p:nvSpPr>
          <p:cNvPr id="13" name="Text 11"/>
          <p:cNvSpPr txBox="1"/>
          <p:nvPr/>
        </p:nvSpPr>
        <p:spPr>
          <a:xfrm>
            <a:off x="3653714" y="3200400"/>
            <a:ext cx="2053514" cy="1783080"/>
          </a:xfrm>
          <a:prstGeom prst="rect">
            <a:avLst/>
          </a:prstGeom>
          <a:noFill/>
          <a:ln/>
        </p:spPr>
        <p:txBody>
          <a:bodyPr wrap="square" lIns="0" tIns="0" rIns="0" bIns="0" rtlCol="0" anchor="t"/>
          <a:lstStyle/>
          <a:p>
            <a:pPr indent="0" marL="0">
              <a:buNone/>
            </a:pPr>
            <a:r>
              <a:rPr lang="en-US" sz="1400" dirty="0">
                <a:solidFill>
                  <a:schemeClr val="accent5"/>
                </a:solidFill>
              </a:rPr>
              <a:t>Every interval it reports ok, degraded or fail, with the token in the X‑Argus‑Token header. A wrong token gets a 401.</a:t>
            </a:r>
            <a:endParaRPr lang="en-US" sz="1400" dirty="0"/>
          </a:p>
        </p:txBody>
      </p:sp>
      <p:sp>
        <p:nvSpPr>
          <p:cNvPr id="14" name="Step 3 card"/>
          <p:cNvSpPr/>
          <p:nvPr/>
        </p:nvSpPr>
        <p:spPr>
          <a:xfrm>
            <a:off x="6210148" y="1691640"/>
            <a:ext cx="2602154" cy="3017520"/>
          </a:xfrm>
          <a:prstGeom prst="roundRect">
            <a:avLst>
              <a:gd name="adj" fmla="val 3514"/>
            </a:avLst>
          </a:prstGeom>
          <a:solidFill>
            <a:schemeClr val="tx2"/>
          </a:solidFill>
          <a:ln w="9525">
            <a:solidFill>
              <a:schemeClr val="accent6"/>
            </a:solidFill>
            <a:prstDash val="solid"/>
          </a:ln>
        </p:spPr>
      </p:sp>
      <p:sp>
        <p:nvSpPr>
          <p:cNvPr id="15" name="Step 3 badge"/>
          <p:cNvSpPr/>
          <p:nvPr/>
        </p:nvSpPr>
        <p:spPr>
          <a:xfrm>
            <a:off x="6484468" y="1965960"/>
            <a:ext cx="566928" cy="566928"/>
          </a:xfrm>
          <a:prstGeom prst="ellipse">
            <a:avLst/>
          </a:prstGeom>
          <a:solidFill>
            <a:schemeClr val="tx1"/>
          </a:solidFill>
          <a:ln w="19050">
            <a:solidFill>
              <a:schemeClr val="accent4"/>
            </a:solidFill>
            <a:prstDash val="solid"/>
          </a:ln>
        </p:spPr>
      </p:sp>
      <p:sp>
        <p:nvSpPr>
          <p:cNvPr id="16" name="Step 3 badge label"/>
          <p:cNvSpPr txBox="1"/>
          <p:nvPr/>
        </p:nvSpPr>
        <p:spPr>
          <a:xfrm>
            <a:off x="6484468" y="1965960"/>
            <a:ext cx="566928" cy="566928"/>
          </a:xfrm>
          <a:prstGeom prst="rect">
            <a:avLst/>
          </a:prstGeom>
          <a:noFill/>
          <a:ln/>
        </p:spPr>
        <p:txBody>
          <a:bodyPr wrap="square" lIns="0" tIns="0" rIns="0" bIns="0" rtlCol="0" anchor="ctr"/>
          <a:lstStyle/>
          <a:p>
            <a:pPr algn="ctr" indent="0" marL="0">
              <a:buNone/>
            </a:pPr>
            <a:r>
              <a:rPr lang="en-US" sz="1800" b="1" dirty="0">
                <a:solidFill>
                  <a:schemeClr val="accent4"/>
                </a:solidFill>
              </a:rPr>
              <a:t>3</a:t>
            </a:r>
            <a:endParaRPr lang="en-US" sz="1800" dirty="0"/>
          </a:p>
        </p:txBody>
      </p:sp>
      <p:sp>
        <p:nvSpPr>
          <p:cNvPr id="17" name="Text 15"/>
          <p:cNvSpPr txBox="1"/>
          <p:nvPr/>
        </p:nvSpPr>
        <p:spPr>
          <a:xfrm>
            <a:off x="6484468" y="2743200"/>
            <a:ext cx="2053514" cy="411480"/>
          </a:xfrm>
          <a:prstGeom prst="rect">
            <a:avLst/>
          </a:prstGeom>
          <a:noFill/>
          <a:ln/>
        </p:spPr>
        <p:txBody>
          <a:bodyPr wrap="square" lIns="0" tIns="0" rIns="0" bIns="0" rtlCol="0" anchor="t"/>
          <a:lstStyle/>
          <a:p>
            <a:pPr indent="0" marL="0">
              <a:buNone/>
            </a:pPr>
            <a:r>
              <a:rPr lang="en-US" sz="1800" b="1" dirty="0">
                <a:solidFill>
                  <a:schemeClr val="bg2"/>
                </a:solidFill>
              </a:rPr>
              <a:t>Silence = down</a:t>
            </a:r>
            <a:endParaRPr lang="en-US" sz="1800" dirty="0"/>
          </a:p>
        </p:txBody>
      </p:sp>
      <p:sp>
        <p:nvSpPr>
          <p:cNvPr id="18" name="Text 16"/>
          <p:cNvSpPr txBox="1"/>
          <p:nvPr/>
        </p:nvSpPr>
        <p:spPr>
          <a:xfrm>
            <a:off x="6484468" y="3200400"/>
            <a:ext cx="2053514" cy="1783080"/>
          </a:xfrm>
          <a:prstGeom prst="rect">
            <a:avLst/>
          </a:prstGeom>
          <a:noFill/>
          <a:ln/>
        </p:spPr>
        <p:txBody>
          <a:bodyPr wrap="square" lIns="0" tIns="0" rIns="0" bIns="0" rtlCol="0" anchor="t"/>
          <a:lstStyle/>
          <a:p>
            <a:pPr indent="0" marL="0">
              <a:buNone/>
            </a:pPr>
            <a:r>
              <a:rPr lang="en-US" sz="1400" dirty="0">
                <a:solidFill>
                  <a:schemeClr val="accent5"/>
                </a:solidFill>
              </a:rPr>
              <a:t>Miss two intervals and the service is DOWN, though it never said so. A dead process can't report its own death.</a:t>
            </a:r>
            <a:endParaRPr lang="en-US" sz="1400" dirty="0"/>
          </a:p>
        </p:txBody>
      </p:sp>
      <p:sp>
        <p:nvSpPr>
          <p:cNvPr id="19" name="Step 4 card"/>
          <p:cNvSpPr/>
          <p:nvPr/>
        </p:nvSpPr>
        <p:spPr>
          <a:xfrm>
            <a:off x="9040901" y="1691640"/>
            <a:ext cx="2602154" cy="3017520"/>
          </a:xfrm>
          <a:prstGeom prst="roundRect">
            <a:avLst>
              <a:gd name="adj" fmla="val 3514"/>
            </a:avLst>
          </a:prstGeom>
          <a:solidFill>
            <a:schemeClr val="tx2"/>
          </a:solidFill>
          <a:ln w="9525">
            <a:solidFill>
              <a:schemeClr val="accent6"/>
            </a:solidFill>
            <a:prstDash val="solid"/>
          </a:ln>
        </p:spPr>
      </p:sp>
      <p:sp>
        <p:nvSpPr>
          <p:cNvPr id="20" name="Step 4 badge"/>
          <p:cNvSpPr/>
          <p:nvPr/>
        </p:nvSpPr>
        <p:spPr>
          <a:xfrm>
            <a:off x="9315221" y="1965960"/>
            <a:ext cx="566928" cy="566928"/>
          </a:xfrm>
          <a:prstGeom prst="ellipse">
            <a:avLst/>
          </a:prstGeom>
          <a:solidFill>
            <a:schemeClr val="tx1"/>
          </a:solidFill>
          <a:ln w="19050">
            <a:solidFill>
              <a:schemeClr val="accent1"/>
            </a:solidFill>
            <a:prstDash val="solid"/>
          </a:ln>
        </p:spPr>
      </p:sp>
      <p:sp>
        <p:nvSpPr>
          <p:cNvPr id="21" name="Step 4 badge label"/>
          <p:cNvSpPr txBox="1"/>
          <p:nvPr/>
        </p:nvSpPr>
        <p:spPr>
          <a:xfrm>
            <a:off x="9315221" y="1965960"/>
            <a:ext cx="566928" cy="566928"/>
          </a:xfrm>
          <a:prstGeom prst="rect">
            <a:avLst/>
          </a:prstGeom>
          <a:noFill/>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22" name="Text 20"/>
          <p:cNvSpPr txBox="1"/>
          <p:nvPr/>
        </p:nvSpPr>
        <p:spPr>
          <a:xfrm>
            <a:off x="9315221" y="2743200"/>
            <a:ext cx="2053514" cy="411480"/>
          </a:xfrm>
          <a:prstGeom prst="rect">
            <a:avLst/>
          </a:prstGeom>
          <a:noFill/>
          <a:ln/>
        </p:spPr>
        <p:txBody>
          <a:bodyPr wrap="square" lIns="0" tIns="0" rIns="0" bIns="0" rtlCol="0" anchor="t"/>
          <a:lstStyle/>
          <a:p>
            <a:pPr indent="0" marL="0">
              <a:buNone/>
            </a:pPr>
            <a:r>
              <a:rPr lang="en-US" sz="1800" b="1" dirty="0">
                <a:solidFill>
                  <a:schemeClr val="bg2"/>
                </a:solidFill>
              </a:rPr>
              <a:t>Compute SLOs</a:t>
            </a:r>
            <a:endParaRPr lang="en-US" sz="1800" dirty="0"/>
          </a:p>
        </p:txBody>
      </p:sp>
      <p:sp>
        <p:nvSpPr>
          <p:cNvPr id="23" name="Text 21"/>
          <p:cNvSpPr txBox="1"/>
          <p:nvPr/>
        </p:nvSpPr>
        <p:spPr>
          <a:xfrm>
            <a:off x="9315221" y="3200400"/>
            <a:ext cx="2053514" cy="1783080"/>
          </a:xfrm>
          <a:prstGeom prst="rect">
            <a:avLst/>
          </a:prstGeom>
          <a:noFill/>
          <a:ln/>
        </p:spPr>
        <p:txBody>
          <a:bodyPr wrap="square" lIns="0" tIns="0" rIns="0" bIns="0" rtlCol="0" anchor="t"/>
          <a:lstStyle/>
          <a:p>
            <a:pPr indent="0" marL="0">
              <a:buNone/>
            </a:pPr>
            <a:r>
              <a:rPr lang="en-US" sz="1400" dirty="0">
                <a:solidFill>
                  <a:schemeClr val="accent5"/>
                </a:solidFill>
              </a:rPr>
              <a:t>Uptime, error budget and burn rate over 1h, 24h and 7d, served to the board, the REST API and Prometheus.</a:t>
            </a:r>
            <a:endParaRPr lang="en-US" sz="1400" dirty="0"/>
          </a:p>
        </p:txBody>
      </p:sp>
      <p:sp>
        <p:nvSpPr>
          <p:cNvPr id="24" name="Text 22"/>
          <p:cNvSpPr txBox="1"/>
          <p:nvPr/>
        </p:nvSpPr>
        <p:spPr>
          <a:xfrm>
            <a:off x="548640" y="5120640"/>
            <a:ext cx="11094415" cy="365760"/>
          </a:xfrm>
          <a:prstGeom prst="rect">
            <a:avLst/>
          </a:prstGeom>
          <a:noFill/>
          <a:ln/>
        </p:spPr>
        <p:txBody>
          <a:bodyPr wrap="square" lIns="0" tIns="0" rIns="0" bIns="0" rtlCol="0" anchor="t"/>
          <a:lstStyle/>
          <a:p>
            <a:pPr indent="0" marL="0">
              <a:buNone/>
            </a:pPr>
            <a:r>
              <a:rPr lang="en-US" sz="1500" dirty="0">
                <a:solidFill>
                  <a:schemeClr val="accent5"/>
                </a:solidFill>
              </a:rPr>
              <a:t>Built with  </a:t>
            </a:r>
            <a:pPr indent="0" marL="0">
              <a:buNone/>
            </a:pPr>
            <a:r>
              <a:rPr lang="en-US" sz="1500" dirty="0">
                <a:solidFill>
                  <a:schemeClr val="bg2"/>
                </a:solidFill>
              </a:rPr>
              <a:t>FastAPI · PostgreSQL + Alembic · React + nginx · a heartbeat simulator with five reliability profiles</a:t>
            </a:r>
            <a:endParaRPr lang="en-US" sz="15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THE SLO MATHS</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Error budgets measured in seconds</a:t>
            </a:r>
            <a:endParaRPr lang="en-US" sz="3600" dirty="0"/>
          </a:p>
        </p:txBody>
      </p:sp>
      <p:sp>
        <p:nvSpPr>
          <p:cNvPr id="4" name="Slots card"/>
          <p:cNvSpPr/>
          <p:nvPr/>
        </p:nvSpPr>
        <p:spPr>
          <a:xfrm>
            <a:off x="548640" y="1691640"/>
            <a:ext cx="6035040" cy="4069080"/>
          </a:xfrm>
          <a:prstGeom prst="roundRect">
            <a:avLst>
              <a:gd name="adj" fmla="val 2247"/>
            </a:avLst>
          </a:prstGeom>
          <a:solidFill>
            <a:schemeClr val="tx2"/>
          </a:solidFill>
          <a:ln w="9525">
            <a:solidFill>
              <a:schemeClr val="accent6"/>
            </a:solidFill>
            <a:prstDash val="solid"/>
          </a:ln>
        </p:spPr>
      </p:sp>
      <p:sp>
        <p:nvSpPr>
          <p:cNvPr id="5" name="Text 3"/>
          <p:cNvSpPr txBox="1"/>
          <p:nvPr/>
        </p:nvSpPr>
        <p:spPr>
          <a:xfrm>
            <a:off x="822960" y="1920240"/>
            <a:ext cx="5486400" cy="731520"/>
          </a:xfrm>
          <a:prstGeom prst="rect">
            <a:avLst/>
          </a:prstGeom>
          <a:noFill/>
          <a:ln/>
        </p:spPr>
        <p:txBody>
          <a:bodyPr wrap="square" lIns="0" tIns="0" rIns="0" bIns="0" rtlCol="0" anchor="t"/>
          <a:lstStyle/>
          <a:p>
            <a:pPr indent="0" marL="0">
              <a:buNone/>
            </a:pPr>
            <a:r>
              <a:rPr lang="en-US" sz="1500" dirty="0">
                <a:solidFill>
                  <a:schemeClr val="bg2"/>
                </a:solidFill>
              </a:rPr>
              <a:t>Time is cut into slots, one heartbeat interval each. A slot is good if an ok or degraded beat landed in it.</a:t>
            </a:r>
            <a:endParaRPr lang="en-US" sz="1500" dirty="0"/>
          </a:p>
        </p:txBody>
      </p:sp>
      <p:sp>
        <p:nvSpPr>
          <p:cNvPr id="6" name="Slot 1"/>
          <p:cNvSpPr/>
          <p:nvPr/>
        </p:nvSpPr>
        <p:spPr>
          <a:xfrm>
            <a:off x="822960" y="2788920"/>
            <a:ext cx="365760" cy="502920"/>
          </a:xfrm>
          <a:prstGeom prst="roundRect">
            <a:avLst>
              <a:gd name="adj" fmla="val 12500"/>
            </a:avLst>
          </a:prstGeom>
          <a:solidFill>
            <a:schemeClr val="accent2"/>
          </a:solidFill>
          <a:ln w="12700">
            <a:solidFill>
              <a:schemeClr val="accent2"/>
            </a:solidFill>
            <a:prstDash val="solid"/>
          </a:ln>
        </p:spPr>
      </p:sp>
      <p:sp>
        <p:nvSpPr>
          <p:cNvPr id="7" name="Slot 2"/>
          <p:cNvSpPr/>
          <p:nvPr/>
        </p:nvSpPr>
        <p:spPr>
          <a:xfrm>
            <a:off x="1261872" y="2788920"/>
            <a:ext cx="365760" cy="502920"/>
          </a:xfrm>
          <a:prstGeom prst="roundRect">
            <a:avLst>
              <a:gd name="adj" fmla="val 12500"/>
            </a:avLst>
          </a:prstGeom>
          <a:solidFill>
            <a:schemeClr val="accent2"/>
          </a:solidFill>
          <a:ln w="12700">
            <a:solidFill>
              <a:schemeClr val="accent2"/>
            </a:solidFill>
            <a:prstDash val="solid"/>
          </a:ln>
        </p:spPr>
      </p:sp>
      <p:sp>
        <p:nvSpPr>
          <p:cNvPr id="8" name="Slot 3"/>
          <p:cNvSpPr/>
          <p:nvPr/>
        </p:nvSpPr>
        <p:spPr>
          <a:xfrm>
            <a:off x="1700784" y="2788920"/>
            <a:ext cx="365760" cy="502920"/>
          </a:xfrm>
          <a:prstGeom prst="roundRect">
            <a:avLst>
              <a:gd name="adj" fmla="val 12500"/>
            </a:avLst>
          </a:prstGeom>
          <a:solidFill>
            <a:schemeClr val="accent2"/>
          </a:solidFill>
          <a:ln w="12700">
            <a:solidFill>
              <a:schemeClr val="accent2"/>
            </a:solidFill>
            <a:prstDash val="solid"/>
          </a:ln>
        </p:spPr>
      </p:sp>
      <p:sp>
        <p:nvSpPr>
          <p:cNvPr id="9" name="Slot 4"/>
          <p:cNvSpPr/>
          <p:nvPr/>
        </p:nvSpPr>
        <p:spPr>
          <a:xfrm>
            <a:off x="2139696" y="2788920"/>
            <a:ext cx="365760" cy="502920"/>
          </a:xfrm>
          <a:prstGeom prst="roundRect">
            <a:avLst>
              <a:gd name="adj" fmla="val 12500"/>
            </a:avLst>
          </a:prstGeom>
          <a:solidFill>
            <a:schemeClr val="accent2"/>
          </a:solidFill>
          <a:ln w="12700">
            <a:solidFill>
              <a:schemeClr val="accent2"/>
            </a:solidFill>
            <a:prstDash val="solid"/>
          </a:ln>
        </p:spPr>
      </p:sp>
      <p:sp>
        <p:nvSpPr>
          <p:cNvPr id="10" name="Slot 5"/>
          <p:cNvSpPr/>
          <p:nvPr/>
        </p:nvSpPr>
        <p:spPr>
          <a:xfrm>
            <a:off x="2578608" y="2788920"/>
            <a:ext cx="365760" cy="502920"/>
          </a:xfrm>
          <a:prstGeom prst="roundRect">
            <a:avLst>
              <a:gd name="adj" fmla="val 12500"/>
            </a:avLst>
          </a:prstGeom>
          <a:solidFill>
            <a:schemeClr val="accent4"/>
          </a:solidFill>
          <a:ln w="12700">
            <a:solidFill>
              <a:schemeClr val="accent4"/>
            </a:solidFill>
            <a:prstDash val="solid"/>
          </a:ln>
        </p:spPr>
      </p:sp>
      <p:sp>
        <p:nvSpPr>
          <p:cNvPr id="11" name="Slot 6"/>
          <p:cNvSpPr/>
          <p:nvPr/>
        </p:nvSpPr>
        <p:spPr>
          <a:xfrm>
            <a:off x="3017520" y="2788920"/>
            <a:ext cx="365760" cy="502920"/>
          </a:xfrm>
          <a:prstGeom prst="roundRect">
            <a:avLst>
              <a:gd name="adj" fmla="val 12500"/>
            </a:avLst>
          </a:prstGeom>
          <a:solidFill>
            <a:schemeClr val="accent2"/>
          </a:solidFill>
          <a:ln w="12700">
            <a:solidFill>
              <a:schemeClr val="accent2"/>
            </a:solidFill>
            <a:prstDash val="solid"/>
          </a:ln>
        </p:spPr>
      </p:sp>
      <p:sp>
        <p:nvSpPr>
          <p:cNvPr id="12" name="Slot 7"/>
          <p:cNvSpPr/>
          <p:nvPr/>
        </p:nvSpPr>
        <p:spPr>
          <a:xfrm>
            <a:off x="3456432" y="2788920"/>
            <a:ext cx="365760" cy="502920"/>
          </a:xfrm>
          <a:prstGeom prst="roundRect">
            <a:avLst>
              <a:gd name="adj" fmla="val 12500"/>
            </a:avLst>
          </a:prstGeom>
          <a:solidFill>
            <a:schemeClr val="accent2"/>
          </a:solidFill>
          <a:ln w="12700">
            <a:solidFill>
              <a:schemeClr val="accent2"/>
            </a:solidFill>
            <a:prstDash val="solid"/>
          </a:ln>
        </p:spPr>
      </p:sp>
      <p:sp>
        <p:nvSpPr>
          <p:cNvPr id="13" name="Slot 8"/>
          <p:cNvSpPr/>
          <p:nvPr/>
        </p:nvSpPr>
        <p:spPr>
          <a:xfrm>
            <a:off x="3895344" y="2788920"/>
            <a:ext cx="365760" cy="502920"/>
          </a:xfrm>
          <a:prstGeom prst="roundRect">
            <a:avLst>
              <a:gd name="adj" fmla="val 12500"/>
            </a:avLst>
          </a:prstGeom>
          <a:solidFill>
            <a:schemeClr val="accent4"/>
          </a:solidFill>
          <a:ln w="12700">
            <a:solidFill>
              <a:schemeClr val="accent4"/>
            </a:solidFill>
            <a:prstDash val="solid"/>
          </a:ln>
        </p:spPr>
      </p:sp>
      <p:sp>
        <p:nvSpPr>
          <p:cNvPr id="14" name="Slot 9"/>
          <p:cNvSpPr/>
          <p:nvPr/>
        </p:nvSpPr>
        <p:spPr>
          <a:xfrm>
            <a:off x="4334256" y="2788920"/>
            <a:ext cx="365760" cy="502920"/>
          </a:xfrm>
          <a:prstGeom prst="roundRect">
            <a:avLst>
              <a:gd name="adj" fmla="val 12500"/>
            </a:avLst>
          </a:prstGeom>
          <a:solidFill>
            <a:schemeClr val="accent2"/>
          </a:solidFill>
          <a:ln w="12700">
            <a:solidFill>
              <a:schemeClr val="accent2"/>
            </a:solidFill>
            <a:prstDash val="solid"/>
          </a:ln>
        </p:spPr>
      </p:sp>
      <p:sp>
        <p:nvSpPr>
          <p:cNvPr id="15" name="Slot 10"/>
          <p:cNvSpPr/>
          <p:nvPr/>
        </p:nvSpPr>
        <p:spPr>
          <a:xfrm>
            <a:off x="4773168" y="2788920"/>
            <a:ext cx="365760" cy="502920"/>
          </a:xfrm>
          <a:prstGeom prst="roundRect">
            <a:avLst>
              <a:gd name="adj" fmla="val 12500"/>
            </a:avLst>
          </a:prstGeom>
          <a:solidFill>
            <a:schemeClr val="accent2"/>
          </a:solidFill>
          <a:ln w="12700">
            <a:solidFill>
              <a:schemeClr val="accent2"/>
            </a:solidFill>
            <a:prstDash val="solid"/>
          </a:ln>
        </p:spPr>
      </p:sp>
      <p:sp>
        <p:nvSpPr>
          <p:cNvPr id="16" name="Slot 11"/>
          <p:cNvSpPr/>
          <p:nvPr/>
        </p:nvSpPr>
        <p:spPr>
          <a:xfrm>
            <a:off x="5212080" y="2788920"/>
            <a:ext cx="365760" cy="502920"/>
          </a:xfrm>
          <a:prstGeom prst="roundRect">
            <a:avLst>
              <a:gd name="adj" fmla="val 12500"/>
            </a:avLst>
          </a:prstGeom>
          <a:solidFill>
            <a:schemeClr val="accent2"/>
          </a:solidFill>
          <a:ln w="12700">
            <a:solidFill>
              <a:schemeClr val="accent2"/>
            </a:solidFill>
            <a:prstDash val="solid"/>
          </a:ln>
        </p:spPr>
      </p:sp>
      <p:sp>
        <p:nvSpPr>
          <p:cNvPr id="17" name="Slot 12"/>
          <p:cNvSpPr/>
          <p:nvPr/>
        </p:nvSpPr>
        <p:spPr>
          <a:xfrm>
            <a:off x="5650992" y="2788920"/>
            <a:ext cx="365760" cy="502920"/>
          </a:xfrm>
          <a:prstGeom prst="roundRect">
            <a:avLst>
              <a:gd name="adj" fmla="val 12500"/>
            </a:avLst>
          </a:prstGeom>
          <a:solidFill>
            <a:schemeClr val="tx1"/>
          </a:solidFill>
          <a:ln w="12700">
            <a:solidFill>
              <a:schemeClr val="accent5"/>
            </a:solidFill>
            <a:prstDash val="dash"/>
          </a:ln>
        </p:spPr>
      </p:sp>
      <p:sp>
        <p:nvSpPr>
          <p:cNvPr id="18" name="Text 16"/>
          <p:cNvSpPr txBox="1"/>
          <p:nvPr/>
        </p:nvSpPr>
        <p:spPr>
          <a:xfrm>
            <a:off x="822960" y="3401568"/>
            <a:ext cx="5486400" cy="274320"/>
          </a:xfrm>
          <a:prstGeom prst="rect">
            <a:avLst/>
          </a:prstGeom>
          <a:noFill/>
          <a:ln/>
        </p:spPr>
        <p:txBody>
          <a:bodyPr wrap="square" lIns="0" tIns="0" rIns="0" bIns="0" rtlCol="0" anchor="t"/>
          <a:lstStyle/>
          <a:p>
            <a:pPr indent="0" marL="0">
              <a:buNone/>
            </a:pPr>
            <a:r>
              <a:rPr lang="en-US" sz="1200" dirty="0">
                <a:solidFill>
                  <a:schemeClr val="accent5"/>
                </a:solidFill>
              </a:rPr>
              <a:t>9 good of 11 judged · the dashed slot is still in progress</a:t>
            </a:r>
            <a:endParaRPr lang="en-US" sz="1200" dirty="0"/>
          </a:p>
        </p:txBody>
      </p:sp>
      <p:sp>
        <p:nvSpPr>
          <p:cNvPr id="19" name="Text 17"/>
          <p:cNvSpPr txBox="1"/>
          <p:nvPr/>
        </p:nvSpPr>
        <p:spPr>
          <a:xfrm>
            <a:off x="950976" y="3931920"/>
            <a:ext cx="5358384" cy="1737360"/>
          </a:xfrm>
          <a:prstGeom prst="rect">
            <a:avLst/>
          </a:prstGeom>
          <a:noFill/>
          <a:ln/>
        </p:spPr>
        <p:txBody>
          <a:bodyPr wrap="square" lIns="0" tIns="0" rIns="0" bIns="0" rtlCol="0" anchor="t"/>
          <a:lstStyle/>
          <a:p>
            <a:pPr marL="203200" indent="-203200">
              <a:spcAft>
                <a:spcPts val="1400"/>
              </a:spcAft>
              <a:buClr>
                <a:schemeClr val="accent1"/>
              </a:buClr>
              <a:buSzPct val="100000"/>
              <a:buChar char="•"/>
            </a:pPr>
            <a:r>
              <a:rPr lang="en-US" sz="1600" dirty="0">
                <a:solidFill>
                  <a:schemeClr val="bg2"/>
                </a:solidFill>
              </a:rPr>
              <a:t>Slots, not beat counts: a chatty service can't inflate its uptime</a:t>
            </a:r>
            <a:endParaRPr lang="en-US" sz="1600" dirty="0"/>
          </a:p>
          <a:p>
            <a:pPr marL="203200" indent="-203200">
              <a:spcAft>
                <a:spcPts val="1400"/>
              </a:spcAft>
              <a:buClr>
                <a:schemeClr val="accent1"/>
              </a:buClr>
              <a:buSzPct val="100000"/>
              <a:buChar char="•"/>
            </a:pPr>
            <a:r>
              <a:rPr lang="en-US" sz="1600" dirty="0">
                <a:solidFill>
                  <a:schemeClr val="bg2"/>
                </a:solidFill>
              </a:rPr>
              <a:t>Windows are clipped to the service's creation time</a:t>
            </a:r>
            <a:endParaRPr lang="en-US" sz="1600" dirty="0"/>
          </a:p>
          <a:p>
            <a:pPr marL="203200" indent="-203200">
              <a:spcAft>
                <a:spcPts val="1400"/>
              </a:spcAft>
              <a:buClr>
                <a:schemeClr val="accent1"/>
              </a:buClr>
              <a:buSzPct val="100000"/>
              <a:buChar char="•"/>
            </a:pPr>
            <a:r>
              <a:rPr lang="en-US" sz="1600" dirty="0">
                <a:solidFill>
                  <a:schemeClr val="bg2"/>
                </a:solidFill>
              </a:rPr>
              <a:t>The in-progress slot counts only once it has a beat</a:t>
            </a:r>
            <a:endParaRPr lang="en-US" sz="1600" dirty="0"/>
          </a:p>
        </p:txBody>
      </p:sp>
      <p:sp>
        <p:nvSpPr>
          <p:cNvPr id="20" name="Stat 1"/>
          <p:cNvSpPr/>
          <p:nvPr/>
        </p:nvSpPr>
        <p:spPr>
          <a:xfrm>
            <a:off x="6812280" y="1691640"/>
            <a:ext cx="4828032" cy="1234440"/>
          </a:xfrm>
          <a:prstGeom prst="roundRect">
            <a:avLst>
              <a:gd name="adj" fmla="val 7407"/>
            </a:avLst>
          </a:prstGeom>
          <a:solidFill>
            <a:schemeClr val="tx2"/>
          </a:solidFill>
          <a:ln w="9525">
            <a:solidFill>
              <a:schemeClr val="accent6"/>
            </a:solidFill>
            <a:prstDash val="solid"/>
          </a:ln>
        </p:spPr>
      </p:sp>
      <p:sp>
        <p:nvSpPr>
          <p:cNvPr id="21" name="Text 19"/>
          <p:cNvSpPr txBox="1"/>
          <p:nvPr/>
        </p:nvSpPr>
        <p:spPr>
          <a:xfrm>
            <a:off x="7086600" y="1691640"/>
            <a:ext cx="1783080" cy="1234440"/>
          </a:xfrm>
          <a:prstGeom prst="rect">
            <a:avLst/>
          </a:prstGeom>
          <a:noFill/>
          <a:ln/>
        </p:spPr>
        <p:txBody>
          <a:bodyPr wrap="square" lIns="0" tIns="0" rIns="0" bIns="0" rtlCol="0" anchor="ctr"/>
          <a:lstStyle/>
          <a:p>
            <a:pPr indent="0" marL="0">
              <a:buNone/>
            </a:pPr>
            <a:r>
              <a:rPr lang="en-US" sz="3600" b="1" dirty="0">
                <a:solidFill>
                  <a:schemeClr val="accent1"/>
                </a:solidFill>
              </a:rPr>
              <a:t>86.4 s</a:t>
            </a:r>
            <a:endParaRPr lang="en-US" sz="3600" dirty="0"/>
          </a:p>
        </p:txBody>
      </p:sp>
      <p:sp>
        <p:nvSpPr>
          <p:cNvPr id="22" name="Text 20"/>
          <p:cNvSpPr txBox="1"/>
          <p:nvPr/>
        </p:nvSpPr>
        <p:spPr>
          <a:xfrm>
            <a:off x="8915400" y="1691640"/>
            <a:ext cx="2514600" cy="1234440"/>
          </a:xfrm>
          <a:prstGeom prst="rect">
            <a:avLst/>
          </a:prstGeom>
          <a:noFill/>
          <a:ln/>
        </p:spPr>
        <p:txBody>
          <a:bodyPr wrap="square" lIns="0" tIns="0" rIns="0" bIns="0" rtlCol="0" anchor="ctr"/>
          <a:lstStyle/>
          <a:p>
            <a:pPr indent="0" marL="0">
              <a:buNone/>
            </a:pPr>
            <a:r>
              <a:rPr lang="en-US" sz="1400" dirty="0">
                <a:solidFill>
                  <a:schemeClr val="accent5"/>
                </a:solidFill>
              </a:rPr>
              <a:t>the daily error budget at a 99.9% SLO: (1 − 0.999) × 86,400 s</a:t>
            </a:r>
            <a:endParaRPr lang="en-US" sz="1400" dirty="0"/>
          </a:p>
        </p:txBody>
      </p:sp>
      <p:sp>
        <p:nvSpPr>
          <p:cNvPr id="23" name="Stat 2"/>
          <p:cNvSpPr/>
          <p:nvPr/>
        </p:nvSpPr>
        <p:spPr>
          <a:xfrm>
            <a:off x="6812280" y="3108960"/>
            <a:ext cx="4828032" cy="1234440"/>
          </a:xfrm>
          <a:prstGeom prst="roundRect">
            <a:avLst>
              <a:gd name="adj" fmla="val 7407"/>
            </a:avLst>
          </a:prstGeom>
          <a:solidFill>
            <a:schemeClr val="tx2"/>
          </a:solidFill>
          <a:ln w="9525">
            <a:solidFill>
              <a:schemeClr val="accent6"/>
            </a:solidFill>
            <a:prstDash val="solid"/>
          </a:ln>
        </p:spPr>
      </p:sp>
      <p:sp>
        <p:nvSpPr>
          <p:cNvPr id="24" name="Text 22"/>
          <p:cNvSpPr txBox="1"/>
          <p:nvPr/>
        </p:nvSpPr>
        <p:spPr>
          <a:xfrm>
            <a:off x="7086600" y="3108960"/>
            <a:ext cx="1783080" cy="1234440"/>
          </a:xfrm>
          <a:prstGeom prst="rect">
            <a:avLst/>
          </a:prstGeom>
          <a:noFill/>
          <a:ln/>
        </p:spPr>
        <p:txBody>
          <a:bodyPr wrap="square" lIns="0" tIns="0" rIns="0" bIns="0" rtlCol="0" anchor="ctr"/>
          <a:lstStyle/>
          <a:p>
            <a:pPr indent="0" marL="0">
              <a:buNone/>
            </a:pPr>
            <a:r>
              <a:rPr lang="en-US" sz="3600" b="1" dirty="0">
                <a:solidFill>
                  <a:schemeClr val="accent2"/>
                </a:solidFill>
              </a:rPr>
              <a:t>1×</a:t>
            </a:r>
            <a:endParaRPr lang="en-US" sz="3600" dirty="0"/>
          </a:p>
        </p:txBody>
      </p:sp>
      <p:sp>
        <p:nvSpPr>
          <p:cNvPr id="25" name="Text 23"/>
          <p:cNvSpPr txBox="1"/>
          <p:nvPr/>
        </p:nvSpPr>
        <p:spPr>
          <a:xfrm>
            <a:off x="8915400" y="3108960"/>
            <a:ext cx="2514600" cy="1234440"/>
          </a:xfrm>
          <a:prstGeom prst="rect">
            <a:avLst/>
          </a:prstGeom>
          <a:noFill/>
          <a:ln/>
        </p:spPr>
        <p:txBody>
          <a:bodyPr wrap="square" lIns="0" tIns="0" rIns="0" bIns="0" rtlCol="0" anchor="ctr"/>
          <a:lstStyle/>
          <a:p>
            <a:pPr indent="0" marL="0">
              <a:buNone/>
            </a:pPr>
            <a:r>
              <a:rPr lang="en-US" sz="1400" dirty="0">
                <a:solidFill>
                  <a:schemeClr val="accent5"/>
                </a:solidFill>
              </a:rPr>
              <a:t>burn rate that spends exactly the budget over the window</a:t>
            </a:r>
            <a:endParaRPr lang="en-US" sz="1400" dirty="0"/>
          </a:p>
        </p:txBody>
      </p:sp>
      <p:sp>
        <p:nvSpPr>
          <p:cNvPr id="26" name="Stat 3"/>
          <p:cNvSpPr/>
          <p:nvPr/>
        </p:nvSpPr>
        <p:spPr>
          <a:xfrm>
            <a:off x="6812280" y="4526280"/>
            <a:ext cx="4828032" cy="1234440"/>
          </a:xfrm>
          <a:prstGeom prst="roundRect">
            <a:avLst>
              <a:gd name="adj" fmla="val 7407"/>
            </a:avLst>
          </a:prstGeom>
          <a:solidFill>
            <a:schemeClr val="tx2"/>
          </a:solidFill>
          <a:ln w="9525">
            <a:solidFill>
              <a:schemeClr val="accent6"/>
            </a:solidFill>
            <a:prstDash val="solid"/>
          </a:ln>
        </p:spPr>
      </p:sp>
      <p:sp>
        <p:nvSpPr>
          <p:cNvPr id="27" name="Text 25"/>
          <p:cNvSpPr txBox="1"/>
          <p:nvPr/>
        </p:nvSpPr>
        <p:spPr>
          <a:xfrm>
            <a:off x="7086600" y="4526280"/>
            <a:ext cx="1783080" cy="1234440"/>
          </a:xfrm>
          <a:prstGeom prst="rect">
            <a:avLst/>
          </a:prstGeom>
          <a:noFill/>
          <a:ln/>
        </p:spPr>
        <p:txBody>
          <a:bodyPr wrap="square" lIns="0" tIns="0" rIns="0" bIns="0" rtlCol="0" anchor="ctr"/>
          <a:lstStyle/>
          <a:p>
            <a:pPr indent="0" marL="0">
              <a:buNone/>
            </a:pPr>
            <a:r>
              <a:rPr lang="en-US" sz="3600" b="1" dirty="0">
                <a:solidFill>
                  <a:schemeClr val="accent4"/>
                </a:solidFill>
              </a:rPr>
              <a:t>14.4×</a:t>
            </a:r>
            <a:endParaRPr lang="en-US" sz="3600" dirty="0"/>
          </a:p>
        </p:txBody>
      </p:sp>
      <p:sp>
        <p:nvSpPr>
          <p:cNvPr id="28" name="Text 26"/>
          <p:cNvSpPr txBox="1"/>
          <p:nvPr/>
        </p:nvSpPr>
        <p:spPr>
          <a:xfrm>
            <a:off x="8915400" y="4526280"/>
            <a:ext cx="2514600" cy="1234440"/>
          </a:xfrm>
          <a:prstGeom prst="rect">
            <a:avLst/>
          </a:prstGeom>
          <a:noFill/>
          <a:ln/>
        </p:spPr>
        <p:txBody>
          <a:bodyPr wrap="square" lIns="0" tIns="0" rIns="0" bIns="0" rtlCol="0" anchor="ctr"/>
          <a:lstStyle/>
          <a:p>
            <a:pPr indent="0" marL="0">
              <a:buNone/>
            </a:pPr>
            <a:r>
              <a:rPr lang="en-US" sz="1400" dirty="0">
                <a:solidFill>
                  <a:schemeClr val="accent5"/>
                </a:solidFill>
              </a:rPr>
              <a:t>pages someone: a 30-day budget would be gone in about two days</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THE DELIVERY CHAIN</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From commit to cluster in 13 stages</a:t>
            </a:r>
            <a:endParaRPr lang="en-US" sz="3600" dirty="0"/>
          </a:p>
        </p:txBody>
      </p:sp>
      <p:sp>
        <p:nvSpPr>
          <p:cNvPr id="4" name="Shape 2"/>
          <p:cNvSpPr/>
          <p:nvPr/>
        </p:nvSpPr>
        <p:spPr>
          <a:xfrm>
            <a:off x="1341098" y="2057400"/>
            <a:ext cx="9509499" cy="0"/>
          </a:xfrm>
          <a:prstGeom prst="line">
            <a:avLst/>
          </a:prstGeom>
          <a:noFill/>
          <a:ln w="19050">
            <a:solidFill>
              <a:schemeClr val="accent6"/>
            </a:solidFill>
            <a:prstDash val="solid"/>
          </a:ln>
        </p:spPr>
      </p:sp>
      <p:sp>
        <p:nvSpPr>
          <p:cNvPr id="5" name="Stage 1"/>
          <p:cNvSpPr/>
          <p:nvPr/>
        </p:nvSpPr>
        <p:spPr>
          <a:xfrm>
            <a:off x="1066778" y="1783080"/>
            <a:ext cx="548640" cy="548640"/>
          </a:xfrm>
          <a:prstGeom prst="ellipse">
            <a:avLst/>
          </a:prstGeom>
          <a:solidFill>
            <a:schemeClr val="tx1"/>
          </a:solidFill>
          <a:ln w="19050">
            <a:solidFill>
              <a:schemeClr val="accent1"/>
            </a:solidFill>
            <a:prstDash val="solid"/>
          </a:ln>
        </p:spPr>
      </p:sp>
      <p:sp>
        <p:nvSpPr>
          <p:cNvPr id="6" name="Stage 1 label"/>
          <p:cNvSpPr txBox="1"/>
          <p:nvPr/>
        </p:nvSpPr>
        <p:spPr>
          <a:xfrm>
            <a:off x="1066778" y="17830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7" name="Text 5"/>
          <p:cNvSpPr txBox="1"/>
          <p:nvPr/>
        </p:nvSpPr>
        <p:spPr>
          <a:xfrm>
            <a:off x="548640" y="246888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Application</a:t>
            </a:r>
            <a:endParaRPr lang="en-US" sz="1400" dirty="0"/>
          </a:p>
        </p:txBody>
      </p:sp>
      <p:sp>
        <p:nvSpPr>
          <p:cNvPr id="8" name="Text 6"/>
          <p:cNvSpPr txBox="1"/>
          <p:nvPr/>
        </p:nvSpPr>
        <p:spPr>
          <a:xfrm>
            <a:off x="594360" y="280720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FastAPI + React</a:t>
            </a:r>
            <a:endParaRPr lang="en-US" sz="1200" dirty="0"/>
          </a:p>
        </p:txBody>
      </p:sp>
      <p:sp>
        <p:nvSpPr>
          <p:cNvPr id="9" name="Stage 2"/>
          <p:cNvSpPr/>
          <p:nvPr/>
        </p:nvSpPr>
        <p:spPr>
          <a:xfrm>
            <a:off x="2651695" y="1783080"/>
            <a:ext cx="548640" cy="548640"/>
          </a:xfrm>
          <a:prstGeom prst="ellipse">
            <a:avLst/>
          </a:prstGeom>
          <a:solidFill>
            <a:schemeClr val="tx1"/>
          </a:solidFill>
          <a:ln w="19050">
            <a:solidFill>
              <a:schemeClr val="accent1"/>
            </a:solidFill>
            <a:prstDash val="solid"/>
          </a:ln>
        </p:spPr>
      </p:sp>
      <p:sp>
        <p:nvSpPr>
          <p:cNvPr id="10" name="Stage 2 label"/>
          <p:cNvSpPr txBox="1"/>
          <p:nvPr/>
        </p:nvSpPr>
        <p:spPr>
          <a:xfrm>
            <a:off x="2651695" y="17830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1" name="Text 9"/>
          <p:cNvSpPr txBox="1"/>
          <p:nvPr/>
        </p:nvSpPr>
        <p:spPr>
          <a:xfrm>
            <a:off x="2133556" y="246888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Git commit</a:t>
            </a:r>
            <a:endParaRPr lang="en-US" sz="1400" dirty="0"/>
          </a:p>
        </p:txBody>
      </p:sp>
      <p:sp>
        <p:nvSpPr>
          <p:cNvPr id="12" name="Text 10"/>
          <p:cNvSpPr txBox="1"/>
          <p:nvPr/>
        </p:nvSpPr>
        <p:spPr>
          <a:xfrm>
            <a:off x="2179276" y="280720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one change each</a:t>
            </a:r>
            <a:endParaRPr lang="en-US" sz="1200" dirty="0"/>
          </a:p>
        </p:txBody>
      </p:sp>
      <p:sp>
        <p:nvSpPr>
          <p:cNvPr id="13" name="Stage 3"/>
          <p:cNvSpPr/>
          <p:nvPr/>
        </p:nvSpPr>
        <p:spPr>
          <a:xfrm>
            <a:off x="4236611" y="1783080"/>
            <a:ext cx="548640" cy="548640"/>
          </a:xfrm>
          <a:prstGeom prst="ellipse">
            <a:avLst/>
          </a:prstGeom>
          <a:solidFill>
            <a:schemeClr val="tx1"/>
          </a:solidFill>
          <a:ln w="19050">
            <a:solidFill>
              <a:schemeClr val="accent1"/>
            </a:solidFill>
            <a:prstDash val="solid"/>
          </a:ln>
        </p:spPr>
      </p:sp>
      <p:sp>
        <p:nvSpPr>
          <p:cNvPr id="14" name="Stage 3 label"/>
          <p:cNvSpPr txBox="1"/>
          <p:nvPr/>
        </p:nvSpPr>
        <p:spPr>
          <a:xfrm>
            <a:off x="4236611" y="17830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15" name="Text 13"/>
          <p:cNvSpPr txBox="1"/>
          <p:nvPr/>
        </p:nvSpPr>
        <p:spPr>
          <a:xfrm>
            <a:off x="3718473" y="246888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CI pipeline</a:t>
            </a:r>
            <a:endParaRPr lang="en-US" sz="1400" dirty="0"/>
          </a:p>
        </p:txBody>
      </p:sp>
      <p:sp>
        <p:nvSpPr>
          <p:cNvPr id="16" name="Text 14"/>
          <p:cNvSpPr txBox="1"/>
          <p:nvPr/>
        </p:nvSpPr>
        <p:spPr>
          <a:xfrm>
            <a:off x="3764193" y="280720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GitHub Actions</a:t>
            </a:r>
            <a:endParaRPr lang="en-US" sz="1200" dirty="0"/>
          </a:p>
        </p:txBody>
      </p:sp>
      <p:sp>
        <p:nvSpPr>
          <p:cNvPr id="17" name="Stage 4"/>
          <p:cNvSpPr/>
          <p:nvPr/>
        </p:nvSpPr>
        <p:spPr>
          <a:xfrm>
            <a:off x="5821528" y="1783080"/>
            <a:ext cx="548640" cy="548640"/>
          </a:xfrm>
          <a:prstGeom prst="ellipse">
            <a:avLst/>
          </a:prstGeom>
          <a:solidFill>
            <a:schemeClr val="tx1"/>
          </a:solidFill>
          <a:ln w="19050">
            <a:solidFill>
              <a:schemeClr val="accent1"/>
            </a:solidFill>
            <a:prstDash val="solid"/>
          </a:ln>
        </p:spPr>
      </p:sp>
      <p:sp>
        <p:nvSpPr>
          <p:cNvPr id="18" name="Stage 4 label"/>
          <p:cNvSpPr txBox="1"/>
          <p:nvPr/>
        </p:nvSpPr>
        <p:spPr>
          <a:xfrm>
            <a:off x="5821528" y="17830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19" name="Text 17"/>
          <p:cNvSpPr txBox="1"/>
          <p:nvPr/>
        </p:nvSpPr>
        <p:spPr>
          <a:xfrm>
            <a:off x="5303389" y="246888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Docker image</a:t>
            </a:r>
            <a:endParaRPr lang="en-US" sz="1400" dirty="0"/>
          </a:p>
        </p:txBody>
      </p:sp>
      <p:sp>
        <p:nvSpPr>
          <p:cNvPr id="20" name="Text 18"/>
          <p:cNvSpPr txBox="1"/>
          <p:nvPr/>
        </p:nvSpPr>
        <p:spPr>
          <a:xfrm>
            <a:off x="5349109" y="280720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multi-stage, non-root</a:t>
            </a:r>
            <a:endParaRPr lang="en-US" sz="1200" dirty="0"/>
          </a:p>
        </p:txBody>
      </p:sp>
      <p:sp>
        <p:nvSpPr>
          <p:cNvPr id="21" name="Stage 5"/>
          <p:cNvSpPr/>
          <p:nvPr/>
        </p:nvSpPr>
        <p:spPr>
          <a:xfrm>
            <a:off x="7406444" y="1783080"/>
            <a:ext cx="548640" cy="548640"/>
          </a:xfrm>
          <a:prstGeom prst="ellipse">
            <a:avLst/>
          </a:prstGeom>
          <a:solidFill>
            <a:schemeClr val="tx1"/>
          </a:solidFill>
          <a:ln w="19050">
            <a:solidFill>
              <a:schemeClr val="accent1"/>
            </a:solidFill>
            <a:prstDash val="solid"/>
          </a:ln>
        </p:spPr>
      </p:sp>
      <p:sp>
        <p:nvSpPr>
          <p:cNvPr id="22" name="Stage 5 label"/>
          <p:cNvSpPr txBox="1"/>
          <p:nvPr/>
        </p:nvSpPr>
        <p:spPr>
          <a:xfrm>
            <a:off x="7406444" y="17830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3" name="Text 21"/>
          <p:cNvSpPr txBox="1"/>
          <p:nvPr/>
        </p:nvSpPr>
        <p:spPr>
          <a:xfrm>
            <a:off x="6888306" y="246888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Security scan</a:t>
            </a:r>
            <a:endParaRPr lang="en-US" sz="1400" dirty="0"/>
          </a:p>
        </p:txBody>
      </p:sp>
      <p:sp>
        <p:nvSpPr>
          <p:cNvPr id="24" name="Text 22"/>
          <p:cNvSpPr txBox="1"/>
          <p:nvPr/>
        </p:nvSpPr>
        <p:spPr>
          <a:xfrm>
            <a:off x="6934026" y="280720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Trivy, amd64 + arm64</a:t>
            </a:r>
            <a:endParaRPr lang="en-US" sz="1200" dirty="0"/>
          </a:p>
        </p:txBody>
      </p:sp>
      <p:sp>
        <p:nvSpPr>
          <p:cNvPr id="25" name="Stage 6"/>
          <p:cNvSpPr/>
          <p:nvPr/>
        </p:nvSpPr>
        <p:spPr>
          <a:xfrm>
            <a:off x="8991361" y="1783080"/>
            <a:ext cx="548640" cy="548640"/>
          </a:xfrm>
          <a:prstGeom prst="ellipse">
            <a:avLst/>
          </a:prstGeom>
          <a:solidFill>
            <a:schemeClr val="tx1"/>
          </a:solidFill>
          <a:ln w="19050">
            <a:solidFill>
              <a:schemeClr val="accent1"/>
            </a:solidFill>
            <a:prstDash val="solid"/>
          </a:ln>
        </p:spPr>
      </p:sp>
      <p:sp>
        <p:nvSpPr>
          <p:cNvPr id="26" name="Stage 6 label"/>
          <p:cNvSpPr txBox="1"/>
          <p:nvPr/>
        </p:nvSpPr>
        <p:spPr>
          <a:xfrm>
            <a:off x="8991361" y="17830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27" name="Text 25"/>
          <p:cNvSpPr txBox="1"/>
          <p:nvPr/>
        </p:nvSpPr>
        <p:spPr>
          <a:xfrm>
            <a:off x="8473222" y="246888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Registry</a:t>
            </a:r>
            <a:endParaRPr lang="en-US" sz="1400" dirty="0"/>
          </a:p>
        </p:txBody>
      </p:sp>
      <p:sp>
        <p:nvSpPr>
          <p:cNvPr id="28" name="Text 26"/>
          <p:cNvSpPr txBox="1"/>
          <p:nvPr/>
        </p:nvSpPr>
        <p:spPr>
          <a:xfrm>
            <a:off x="8518942" y="280720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GHCR, SHA tags</a:t>
            </a:r>
            <a:endParaRPr lang="en-US" sz="1200" dirty="0"/>
          </a:p>
        </p:txBody>
      </p:sp>
      <p:sp>
        <p:nvSpPr>
          <p:cNvPr id="29" name="Stage 7"/>
          <p:cNvSpPr/>
          <p:nvPr/>
        </p:nvSpPr>
        <p:spPr>
          <a:xfrm>
            <a:off x="10576277" y="1783080"/>
            <a:ext cx="548640" cy="548640"/>
          </a:xfrm>
          <a:prstGeom prst="ellipse">
            <a:avLst/>
          </a:prstGeom>
          <a:solidFill>
            <a:schemeClr val="tx1"/>
          </a:solidFill>
          <a:ln w="19050">
            <a:solidFill>
              <a:schemeClr val="accent1"/>
            </a:solidFill>
            <a:prstDash val="solid"/>
          </a:ln>
        </p:spPr>
      </p:sp>
      <p:sp>
        <p:nvSpPr>
          <p:cNvPr id="30" name="Stage 7 label"/>
          <p:cNvSpPr txBox="1"/>
          <p:nvPr/>
        </p:nvSpPr>
        <p:spPr>
          <a:xfrm>
            <a:off x="10576277" y="17830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31" name="Text 29"/>
          <p:cNvSpPr txBox="1"/>
          <p:nvPr/>
        </p:nvSpPr>
        <p:spPr>
          <a:xfrm>
            <a:off x="10058139" y="246888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Terraform</a:t>
            </a:r>
            <a:endParaRPr lang="en-US" sz="1400" dirty="0"/>
          </a:p>
        </p:txBody>
      </p:sp>
      <p:sp>
        <p:nvSpPr>
          <p:cNvPr id="32" name="Text 30"/>
          <p:cNvSpPr txBox="1"/>
          <p:nvPr/>
        </p:nvSpPr>
        <p:spPr>
          <a:xfrm>
            <a:off x="10103859" y="280720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AWS VPC + EKS</a:t>
            </a:r>
            <a:endParaRPr lang="en-US" sz="1200" dirty="0"/>
          </a:p>
        </p:txBody>
      </p:sp>
      <p:sp>
        <p:nvSpPr>
          <p:cNvPr id="33" name="Shape 31"/>
          <p:cNvSpPr/>
          <p:nvPr/>
        </p:nvSpPr>
        <p:spPr>
          <a:xfrm>
            <a:off x="1341098" y="4160520"/>
            <a:ext cx="7924582" cy="0"/>
          </a:xfrm>
          <a:prstGeom prst="line">
            <a:avLst/>
          </a:prstGeom>
          <a:noFill/>
          <a:ln w="19050">
            <a:solidFill>
              <a:schemeClr val="accent6"/>
            </a:solidFill>
            <a:prstDash val="solid"/>
          </a:ln>
        </p:spPr>
      </p:sp>
      <p:sp>
        <p:nvSpPr>
          <p:cNvPr id="34" name="Stage 8"/>
          <p:cNvSpPr/>
          <p:nvPr/>
        </p:nvSpPr>
        <p:spPr>
          <a:xfrm>
            <a:off x="1066778" y="3886200"/>
            <a:ext cx="548640" cy="548640"/>
          </a:xfrm>
          <a:prstGeom prst="ellipse">
            <a:avLst/>
          </a:prstGeom>
          <a:solidFill>
            <a:schemeClr val="tx1"/>
          </a:solidFill>
          <a:ln w="19050">
            <a:solidFill>
              <a:schemeClr val="accent1"/>
            </a:solidFill>
            <a:prstDash val="solid"/>
          </a:ln>
        </p:spPr>
      </p:sp>
      <p:sp>
        <p:nvSpPr>
          <p:cNvPr id="35" name="Stage 8 label"/>
          <p:cNvSpPr txBox="1"/>
          <p:nvPr/>
        </p:nvSpPr>
        <p:spPr>
          <a:xfrm>
            <a:off x="1066778" y="388620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36" name="Text 34"/>
          <p:cNvSpPr txBox="1"/>
          <p:nvPr/>
        </p:nvSpPr>
        <p:spPr>
          <a:xfrm>
            <a:off x="548640" y="457200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Kubernetes</a:t>
            </a:r>
            <a:endParaRPr lang="en-US" sz="1400" dirty="0"/>
          </a:p>
        </p:txBody>
      </p:sp>
      <p:sp>
        <p:nvSpPr>
          <p:cNvPr id="37" name="Text 35"/>
          <p:cNvSpPr txBox="1"/>
          <p:nvPr/>
        </p:nvSpPr>
        <p:spPr>
          <a:xfrm>
            <a:off x="594360" y="491032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minikube and EKS</a:t>
            </a:r>
            <a:endParaRPr lang="en-US" sz="1200" dirty="0"/>
          </a:p>
        </p:txBody>
      </p:sp>
      <p:sp>
        <p:nvSpPr>
          <p:cNvPr id="38" name="Stage 9"/>
          <p:cNvSpPr/>
          <p:nvPr/>
        </p:nvSpPr>
        <p:spPr>
          <a:xfrm>
            <a:off x="2651695" y="3886200"/>
            <a:ext cx="548640" cy="548640"/>
          </a:xfrm>
          <a:prstGeom prst="ellipse">
            <a:avLst/>
          </a:prstGeom>
          <a:solidFill>
            <a:schemeClr val="tx1"/>
          </a:solidFill>
          <a:ln w="19050">
            <a:solidFill>
              <a:schemeClr val="accent1"/>
            </a:solidFill>
            <a:prstDash val="solid"/>
          </a:ln>
        </p:spPr>
      </p:sp>
      <p:sp>
        <p:nvSpPr>
          <p:cNvPr id="39" name="Stage 9 label"/>
          <p:cNvSpPr txBox="1"/>
          <p:nvPr/>
        </p:nvSpPr>
        <p:spPr>
          <a:xfrm>
            <a:off x="2651695" y="388620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40" name="Text 38"/>
          <p:cNvSpPr txBox="1"/>
          <p:nvPr/>
        </p:nvSpPr>
        <p:spPr>
          <a:xfrm>
            <a:off x="2133556" y="457200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Helm</a:t>
            </a:r>
            <a:endParaRPr lang="en-US" sz="1400" dirty="0"/>
          </a:p>
        </p:txBody>
      </p:sp>
      <p:sp>
        <p:nvSpPr>
          <p:cNvPr id="41" name="Text 39"/>
          <p:cNvSpPr txBox="1"/>
          <p:nvPr/>
        </p:nvSpPr>
        <p:spPr>
          <a:xfrm>
            <a:off x="2179276" y="491032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one chart, 4 values files</a:t>
            </a:r>
            <a:endParaRPr lang="en-US" sz="1200" dirty="0"/>
          </a:p>
        </p:txBody>
      </p:sp>
      <p:sp>
        <p:nvSpPr>
          <p:cNvPr id="42" name="Stage 10"/>
          <p:cNvSpPr/>
          <p:nvPr/>
        </p:nvSpPr>
        <p:spPr>
          <a:xfrm>
            <a:off x="4236611" y="3886200"/>
            <a:ext cx="548640" cy="548640"/>
          </a:xfrm>
          <a:prstGeom prst="ellipse">
            <a:avLst/>
          </a:prstGeom>
          <a:solidFill>
            <a:schemeClr val="tx1"/>
          </a:solidFill>
          <a:ln w="19050">
            <a:solidFill>
              <a:schemeClr val="accent1"/>
            </a:solidFill>
            <a:prstDash val="solid"/>
          </a:ln>
        </p:spPr>
      </p:sp>
      <p:sp>
        <p:nvSpPr>
          <p:cNvPr id="43" name="Stage 10 label"/>
          <p:cNvSpPr txBox="1"/>
          <p:nvPr/>
        </p:nvSpPr>
        <p:spPr>
          <a:xfrm>
            <a:off x="4236611" y="388620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44" name="Text 42"/>
          <p:cNvSpPr txBox="1"/>
          <p:nvPr/>
        </p:nvSpPr>
        <p:spPr>
          <a:xfrm>
            <a:off x="3718473" y="457200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Ingress</a:t>
            </a:r>
            <a:endParaRPr lang="en-US" sz="1400" dirty="0"/>
          </a:p>
        </p:txBody>
      </p:sp>
      <p:sp>
        <p:nvSpPr>
          <p:cNvPr id="45" name="Text 43"/>
          <p:cNvSpPr txBox="1"/>
          <p:nvPr/>
        </p:nvSpPr>
        <p:spPr>
          <a:xfrm>
            <a:off x="3764193" y="491032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 and /api</a:t>
            </a:r>
            <a:endParaRPr lang="en-US" sz="1200" dirty="0"/>
          </a:p>
        </p:txBody>
      </p:sp>
      <p:sp>
        <p:nvSpPr>
          <p:cNvPr id="46" name="Stage 11"/>
          <p:cNvSpPr/>
          <p:nvPr/>
        </p:nvSpPr>
        <p:spPr>
          <a:xfrm>
            <a:off x="5821528" y="3886200"/>
            <a:ext cx="548640" cy="548640"/>
          </a:xfrm>
          <a:prstGeom prst="ellipse">
            <a:avLst/>
          </a:prstGeom>
          <a:solidFill>
            <a:schemeClr val="tx1"/>
          </a:solidFill>
          <a:ln w="19050">
            <a:solidFill>
              <a:schemeClr val="accent1"/>
            </a:solidFill>
            <a:prstDash val="solid"/>
          </a:ln>
        </p:spPr>
      </p:sp>
      <p:sp>
        <p:nvSpPr>
          <p:cNvPr id="47" name="Stage 11 label"/>
          <p:cNvSpPr txBox="1"/>
          <p:nvPr/>
        </p:nvSpPr>
        <p:spPr>
          <a:xfrm>
            <a:off x="5821528" y="388620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11</a:t>
            </a:r>
            <a:endParaRPr lang="en-US" sz="1500" dirty="0"/>
          </a:p>
        </p:txBody>
      </p:sp>
      <p:sp>
        <p:nvSpPr>
          <p:cNvPr id="48" name="Text 46"/>
          <p:cNvSpPr txBox="1"/>
          <p:nvPr/>
        </p:nvSpPr>
        <p:spPr>
          <a:xfrm>
            <a:off x="5303389" y="457200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Autoscaling</a:t>
            </a:r>
            <a:endParaRPr lang="en-US" sz="1400" dirty="0"/>
          </a:p>
        </p:txBody>
      </p:sp>
      <p:sp>
        <p:nvSpPr>
          <p:cNvPr id="49" name="Text 47"/>
          <p:cNvSpPr txBox="1"/>
          <p:nvPr/>
        </p:nvSpPr>
        <p:spPr>
          <a:xfrm>
            <a:off x="5349109" y="491032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HPA, 2 to 6</a:t>
            </a:r>
            <a:endParaRPr lang="en-US" sz="1200" dirty="0"/>
          </a:p>
        </p:txBody>
      </p:sp>
      <p:sp>
        <p:nvSpPr>
          <p:cNvPr id="50" name="Stage 12"/>
          <p:cNvSpPr/>
          <p:nvPr/>
        </p:nvSpPr>
        <p:spPr>
          <a:xfrm>
            <a:off x="7406444" y="3886200"/>
            <a:ext cx="548640" cy="548640"/>
          </a:xfrm>
          <a:prstGeom prst="ellipse">
            <a:avLst/>
          </a:prstGeom>
          <a:solidFill>
            <a:schemeClr val="tx1"/>
          </a:solidFill>
          <a:ln w="19050">
            <a:solidFill>
              <a:schemeClr val="accent1"/>
            </a:solidFill>
            <a:prstDash val="solid"/>
          </a:ln>
        </p:spPr>
      </p:sp>
      <p:sp>
        <p:nvSpPr>
          <p:cNvPr id="51" name="Stage 12 label"/>
          <p:cNvSpPr txBox="1"/>
          <p:nvPr/>
        </p:nvSpPr>
        <p:spPr>
          <a:xfrm>
            <a:off x="7406444" y="388620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12</a:t>
            </a:r>
            <a:endParaRPr lang="en-US" sz="1500" dirty="0"/>
          </a:p>
        </p:txBody>
      </p:sp>
      <p:sp>
        <p:nvSpPr>
          <p:cNvPr id="52" name="Text 50"/>
          <p:cNvSpPr txBox="1"/>
          <p:nvPr/>
        </p:nvSpPr>
        <p:spPr>
          <a:xfrm>
            <a:off x="6888306" y="457200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Monitoring</a:t>
            </a:r>
            <a:endParaRPr lang="en-US" sz="1400" dirty="0"/>
          </a:p>
        </p:txBody>
      </p:sp>
      <p:sp>
        <p:nvSpPr>
          <p:cNvPr id="53" name="Text 51"/>
          <p:cNvSpPr txBox="1"/>
          <p:nvPr/>
        </p:nvSpPr>
        <p:spPr>
          <a:xfrm>
            <a:off x="6934026" y="491032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Prometheus, Grafana</a:t>
            </a:r>
            <a:endParaRPr lang="en-US" sz="1200" dirty="0"/>
          </a:p>
        </p:txBody>
      </p:sp>
      <p:sp>
        <p:nvSpPr>
          <p:cNvPr id="54" name="Stage 13"/>
          <p:cNvSpPr/>
          <p:nvPr/>
        </p:nvSpPr>
        <p:spPr>
          <a:xfrm>
            <a:off x="8991361" y="3886200"/>
            <a:ext cx="548640" cy="548640"/>
          </a:xfrm>
          <a:prstGeom prst="ellipse">
            <a:avLst/>
          </a:prstGeom>
          <a:solidFill>
            <a:schemeClr val="tx1"/>
          </a:solidFill>
          <a:ln w="19050">
            <a:solidFill>
              <a:schemeClr val="accent3"/>
            </a:solidFill>
            <a:prstDash val="solid"/>
          </a:ln>
        </p:spPr>
      </p:sp>
      <p:sp>
        <p:nvSpPr>
          <p:cNvPr id="55" name="Stage 13 label"/>
          <p:cNvSpPr txBox="1"/>
          <p:nvPr/>
        </p:nvSpPr>
        <p:spPr>
          <a:xfrm>
            <a:off x="8991361" y="3886200"/>
            <a:ext cx="548640" cy="548640"/>
          </a:xfrm>
          <a:prstGeom prst="rect">
            <a:avLst/>
          </a:prstGeom>
          <a:noFill/>
          <a:ln/>
        </p:spPr>
        <p:txBody>
          <a:bodyPr wrap="square" lIns="0" tIns="0" rIns="0" bIns="0" rtlCol="0" anchor="ctr"/>
          <a:lstStyle/>
          <a:p>
            <a:pPr algn="ctr" indent="0" marL="0">
              <a:buNone/>
            </a:pPr>
            <a:r>
              <a:rPr lang="en-US" sz="1500" b="1" dirty="0">
                <a:solidFill>
                  <a:schemeClr val="accent3"/>
                </a:solidFill>
              </a:rPr>
              <a:t>13</a:t>
            </a:r>
            <a:endParaRPr lang="en-US" sz="1500" dirty="0"/>
          </a:p>
        </p:txBody>
      </p:sp>
      <p:sp>
        <p:nvSpPr>
          <p:cNvPr id="56" name="Text 54"/>
          <p:cNvSpPr txBox="1"/>
          <p:nvPr/>
        </p:nvSpPr>
        <p:spPr>
          <a:xfrm>
            <a:off x="8473222" y="4572000"/>
            <a:ext cx="1584916" cy="320040"/>
          </a:xfrm>
          <a:prstGeom prst="rect">
            <a:avLst/>
          </a:prstGeom>
          <a:noFill/>
          <a:ln/>
        </p:spPr>
        <p:txBody>
          <a:bodyPr wrap="square" lIns="0" tIns="0" rIns="0" bIns="0" rtlCol="0" anchor="t"/>
          <a:lstStyle/>
          <a:p>
            <a:pPr algn="ctr" indent="0" marL="0">
              <a:buNone/>
            </a:pPr>
            <a:r>
              <a:rPr lang="en-US" sz="1400" b="1" dirty="0">
                <a:solidFill>
                  <a:schemeClr val="bg2"/>
                </a:solidFill>
              </a:rPr>
              <a:t>Troubleshooting</a:t>
            </a:r>
            <a:endParaRPr lang="en-US" sz="1400" dirty="0"/>
          </a:p>
        </p:txBody>
      </p:sp>
      <p:sp>
        <p:nvSpPr>
          <p:cNvPr id="57" name="Text 55"/>
          <p:cNvSpPr txBox="1"/>
          <p:nvPr/>
        </p:nvSpPr>
        <p:spPr>
          <a:xfrm>
            <a:off x="8518942" y="4910328"/>
            <a:ext cx="1493476" cy="502920"/>
          </a:xfrm>
          <a:prstGeom prst="rect">
            <a:avLst/>
          </a:prstGeom>
          <a:noFill/>
          <a:ln/>
        </p:spPr>
        <p:txBody>
          <a:bodyPr wrap="square" lIns="0" tIns="0" rIns="0" bIns="0" rtlCol="0" anchor="t"/>
          <a:lstStyle/>
          <a:p>
            <a:pPr algn="ctr" indent="0" marL="0">
              <a:buNone/>
            </a:pPr>
            <a:r>
              <a:rPr lang="en-US" sz="1200" dirty="0">
                <a:solidFill>
                  <a:schemeClr val="accent5"/>
                </a:solidFill>
              </a:rPr>
              <a:t>six real incidents</a:t>
            </a:r>
            <a:endParaRPr lang="en-US" sz="1200" dirty="0"/>
          </a:p>
        </p:txBody>
      </p:sp>
      <p:sp>
        <p:nvSpPr>
          <p:cNvPr id="58" name="Text 56"/>
          <p:cNvSpPr txBox="1"/>
          <p:nvPr/>
        </p:nvSpPr>
        <p:spPr>
          <a:xfrm>
            <a:off x="548640" y="5852160"/>
            <a:ext cx="11094415" cy="320040"/>
          </a:xfrm>
          <a:prstGeom prst="rect">
            <a:avLst/>
          </a:prstGeom>
          <a:noFill/>
          <a:ln/>
        </p:spPr>
        <p:txBody>
          <a:bodyPr wrap="square" lIns="0" tIns="0" rIns="0" bIns="0" rtlCol="0" anchor="t"/>
          <a:lstStyle/>
          <a:p>
            <a:pPr indent="0" marL="0">
              <a:buNone/>
            </a:pPr>
            <a:r>
              <a:rPr lang="en-US" sz="1400" dirty="0">
                <a:solidFill>
                  <a:schemeClr val="accent5"/>
                </a:solidFill>
              </a:rPr>
              <a:t>The order the course asks the final demo to walk through. The rest of the talk follows it.</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01 · APPLICATION AND TESTS</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48 tests, 98% coverage, no live database</a:t>
            </a:r>
            <a:endParaRPr lang="en-US" sz="3600" dirty="0"/>
          </a:p>
        </p:txBody>
      </p:sp>
      <p:sp>
        <p:nvSpPr>
          <p:cNvPr id="4" name="App stat 1"/>
          <p:cNvSpPr/>
          <p:nvPr/>
        </p:nvSpPr>
        <p:spPr>
          <a:xfrm>
            <a:off x="548640" y="1691640"/>
            <a:ext cx="2606040" cy="2057400"/>
          </a:xfrm>
          <a:prstGeom prst="roundRect">
            <a:avLst>
              <a:gd name="adj" fmla="val 4444"/>
            </a:avLst>
          </a:prstGeom>
          <a:solidFill>
            <a:schemeClr val="tx2"/>
          </a:solidFill>
          <a:ln w="9525">
            <a:solidFill>
              <a:schemeClr val="accent6"/>
            </a:solidFill>
            <a:prstDash val="solid"/>
          </a:ln>
        </p:spPr>
      </p:sp>
      <p:sp>
        <p:nvSpPr>
          <p:cNvPr id="5" name="App stat 1 value"/>
          <p:cNvSpPr txBox="1"/>
          <p:nvPr/>
        </p:nvSpPr>
        <p:spPr>
          <a:xfrm>
            <a:off x="777240" y="1874520"/>
            <a:ext cx="2148840" cy="1028700"/>
          </a:xfrm>
          <a:prstGeom prst="rect">
            <a:avLst/>
          </a:prstGeom>
          <a:noFill/>
          <a:ln/>
        </p:spPr>
        <p:txBody>
          <a:bodyPr wrap="square" lIns="0" tIns="0" rIns="0" bIns="0" rtlCol="0" anchor="ctr"/>
          <a:lstStyle/>
          <a:p>
            <a:pPr indent="0" marL="0">
              <a:buNone/>
            </a:pPr>
            <a:r>
              <a:rPr lang="en-US" sz="4400" b="1" dirty="0">
                <a:solidFill>
                  <a:schemeClr val="accent1"/>
                </a:solidFill>
              </a:rPr>
              <a:t>13</a:t>
            </a:r>
            <a:endParaRPr lang="en-US" sz="4400" dirty="0"/>
          </a:p>
        </p:txBody>
      </p:sp>
      <p:sp>
        <p:nvSpPr>
          <p:cNvPr id="6" name="App stat 1 label"/>
          <p:cNvSpPr txBox="1"/>
          <p:nvPr/>
        </p:nvSpPr>
        <p:spPr>
          <a:xfrm>
            <a:off x="777240" y="2903220"/>
            <a:ext cx="2148840" cy="708660"/>
          </a:xfrm>
          <a:prstGeom prst="rect">
            <a:avLst/>
          </a:prstGeom>
          <a:noFill/>
          <a:ln/>
        </p:spPr>
        <p:txBody>
          <a:bodyPr wrap="square" lIns="0" tIns="0" rIns="0" bIns="0" rtlCol="0" anchor="t"/>
          <a:lstStyle/>
          <a:p>
            <a:pPr indent="0" marL="0">
              <a:buNone/>
            </a:pPr>
            <a:r>
              <a:rPr lang="en-US" sz="1300" dirty="0">
                <a:solidFill>
                  <a:schemeClr val="accent5"/>
                </a:solidFill>
              </a:rPr>
              <a:t>routes: 9 under /api, plus /, /health, /ready and /metrics</a:t>
            </a:r>
            <a:endParaRPr lang="en-US" sz="1300" dirty="0"/>
          </a:p>
        </p:txBody>
      </p:sp>
      <p:sp>
        <p:nvSpPr>
          <p:cNvPr id="7" name="App stat 2"/>
          <p:cNvSpPr/>
          <p:nvPr/>
        </p:nvSpPr>
        <p:spPr>
          <a:xfrm>
            <a:off x="3383280" y="1691640"/>
            <a:ext cx="2606040" cy="2057400"/>
          </a:xfrm>
          <a:prstGeom prst="roundRect">
            <a:avLst>
              <a:gd name="adj" fmla="val 4444"/>
            </a:avLst>
          </a:prstGeom>
          <a:solidFill>
            <a:schemeClr val="tx2"/>
          </a:solidFill>
          <a:ln w="9525">
            <a:solidFill>
              <a:schemeClr val="accent6"/>
            </a:solidFill>
            <a:prstDash val="solid"/>
          </a:ln>
        </p:spPr>
      </p:sp>
      <p:sp>
        <p:nvSpPr>
          <p:cNvPr id="8" name="App stat 2 value"/>
          <p:cNvSpPr txBox="1"/>
          <p:nvPr/>
        </p:nvSpPr>
        <p:spPr>
          <a:xfrm>
            <a:off x="3611880" y="1874520"/>
            <a:ext cx="2148840" cy="1028700"/>
          </a:xfrm>
          <a:prstGeom prst="rect">
            <a:avLst/>
          </a:prstGeom>
          <a:noFill/>
          <a:ln/>
        </p:spPr>
        <p:txBody>
          <a:bodyPr wrap="square" lIns="0" tIns="0" rIns="0" bIns="0" rtlCol="0" anchor="ctr"/>
          <a:lstStyle/>
          <a:p>
            <a:pPr indent="0" marL="0">
              <a:buNone/>
            </a:pPr>
            <a:r>
              <a:rPr lang="en-US" sz="4400" b="1" dirty="0">
                <a:solidFill>
                  <a:schemeClr val="accent1"/>
                </a:solidFill>
              </a:rPr>
              <a:t>2</a:t>
            </a:r>
            <a:endParaRPr lang="en-US" sz="4400" dirty="0"/>
          </a:p>
        </p:txBody>
      </p:sp>
      <p:sp>
        <p:nvSpPr>
          <p:cNvPr id="9" name="App stat 2 label"/>
          <p:cNvSpPr txBox="1"/>
          <p:nvPr/>
        </p:nvSpPr>
        <p:spPr>
          <a:xfrm>
            <a:off x="3611880" y="2903220"/>
            <a:ext cx="2148840" cy="708660"/>
          </a:xfrm>
          <a:prstGeom prst="rect">
            <a:avLst/>
          </a:prstGeom>
          <a:noFill/>
          <a:ln/>
        </p:spPr>
        <p:txBody>
          <a:bodyPr wrap="square" lIns="0" tIns="0" rIns="0" bIns="0" rtlCol="0" anchor="t"/>
          <a:lstStyle/>
          <a:p>
            <a:pPr indent="0" marL="0">
              <a:buNone/>
            </a:pPr>
            <a:r>
              <a:rPr lang="en-US" sz="1300" dirty="0">
                <a:solidFill>
                  <a:schemeClr val="accent5"/>
                </a:solidFill>
              </a:rPr>
              <a:t>tables, created by an Alembic migration</a:t>
            </a:r>
            <a:endParaRPr lang="en-US" sz="1300" dirty="0"/>
          </a:p>
        </p:txBody>
      </p:sp>
      <p:sp>
        <p:nvSpPr>
          <p:cNvPr id="10" name="App stat 3"/>
          <p:cNvSpPr/>
          <p:nvPr/>
        </p:nvSpPr>
        <p:spPr>
          <a:xfrm>
            <a:off x="548640" y="3977640"/>
            <a:ext cx="2606040" cy="2057400"/>
          </a:xfrm>
          <a:prstGeom prst="roundRect">
            <a:avLst>
              <a:gd name="adj" fmla="val 4444"/>
            </a:avLst>
          </a:prstGeom>
          <a:solidFill>
            <a:schemeClr val="tx2"/>
          </a:solidFill>
          <a:ln w="9525">
            <a:solidFill>
              <a:schemeClr val="accent6"/>
            </a:solidFill>
            <a:prstDash val="solid"/>
          </a:ln>
        </p:spPr>
      </p:sp>
      <p:sp>
        <p:nvSpPr>
          <p:cNvPr id="11" name="App stat 3 value"/>
          <p:cNvSpPr txBox="1"/>
          <p:nvPr/>
        </p:nvSpPr>
        <p:spPr>
          <a:xfrm>
            <a:off x="777240" y="4160520"/>
            <a:ext cx="2148840" cy="1028700"/>
          </a:xfrm>
          <a:prstGeom prst="rect">
            <a:avLst/>
          </a:prstGeom>
          <a:noFill/>
          <a:ln/>
        </p:spPr>
        <p:txBody>
          <a:bodyPr wrap="square" lIns="0" tIns="0" rIns="0" bIns="0" rtlCol="0" anchor="ctr"/>
          <a:lstStyle/>
          <a:p>
            <a:pPr indent="0" marL="0">
              <a:buNone/>
            </a:pPr>
            <a:r>
              <a:rPr lang="en-US" sz="4400" b="1" dirty="0">
                <a:solidFill>
                  <a:schemeClr val="accent2"/>
                </a:solidFill>
              </a:rPr>
              <a:t>48</a:t>
            </a:r>
            <a:endParaRPr lang="en-US" sz="4400" dirty="0"/>
          </a:p>
        </p:txBody>
      </p:sp>
      <p:sp>
        <p:nvSpPr>
          <p:cNvPr id="12" name="App stat 3 label"/>
          <p:cNvSpPr txBox="1"/>
          <p:nvPr/>
        </p:nvSpPr>
        <p:spPr>
          <a:xfrm>
            <a:off x="777240" y="5189220"/>
            <a:ext cx="2148840" cy="708660"/>
          </a:xfrm>
          <a:prstGeom prst="rect">
            <a:avLst/>
          </a:prstGeom>
          <a:noFill/>
          <a:ln/>
        </p:spPr>
        <p:txBody>
          <a:bodyPr wrap="square" lIns="0" tIns="0" rIns="0" bIns="0" rtlCol="0" anchor="t"/>
          <a:lstStyle/>
          <a:p>
            <a:pPr indent="0" marL="0">
              <a:buNone/>
            </a:pPr>
            <a:r>
              <a:rPr lang="en-US" sz="1300" dirty="0">
                <a:solidFill>
                  <a:schemeClr val="accent5"/>
                </a:solidFill>
              </a:rPr>
              <a:t>tests across the API, migrations and SLO maths</a:t>
            </a:r>
            <a:endParaRPr lang="en-US" sz="1300" dirty="0"/>
          </a:p>
        </p:txBody>
      </p:sp>
      <p:sp>
        <p:nvSpPr>
          <p:cNvPr id="13" name="App stat 4"/>
          <p:cNvSpPr/>
          <p:nvPr/>
        </p:nvSpPr>
        <p:spPr>
          <a:xfrm>
            <a:off x="3383280" y="3977640"/>
            <a:ext cx="2606040" cy="2057400"/>
          </a:xfrm>
          <a:prstGeom prst="roundRect">
            <a:avLst>
              <a:gd name="adj" fmla="val 4444"/>
            </a:avLst>
          </a:prstGeom>
          <a:solidFill>
            <a:schemeClr val="tx2"/>
          </a:solidFill>
          <a:ln w="9525">
            <a:solidFill>
              <a:schemeClr val="accent6"/>
            </a:solidFill>
            <a:prstDash val="solid"/>
          </a:ln>
        </p:spPr>
      </p:sp>
      <p:sp>
        <p:nvSpPr>
          <p:cNvPr id="14" name="App stat 4 value"/>
          <p:cNvSpPr txBox="1"/>
          <p:nvPr/>
        </p:nvSpPr>
        <p:spPr>
          <a:xfrm>
            <a:off x="3611880" y="4160520"/>
            <a:ext cx="2148840" cy="1028700"/>
          </a:xfrm>
          <a:prstGeom prst="rect">
            <a:avLst/>
          </a:prstGeom>
          <a:noFill/>
          <a:ln/>
        </p:spPr>
        <p:txBody>
          <a:bodyPr wrap="square" lIns="0" tIns="0" rIns="0" bIns="0" rtlCol="0" anchor="ctr"/>
          <a:lstStyle/>
          <a:p>
            <a:pPr indent="0" marL="0">
              <a:buNone/>
            </a:pPr>
            <a:r>
              <a:rPr lang="en-US" sz="4400" b="1" dirty="0">
                <a:solidFill>
                  <a:schemeClr val="accent2"/>
                </a:solidFill>
              </a:rPr>
              <a:t>98%</a:t>
            </a:r>
            <a:endParaRPr lang="en-US" sz="4400" dirty="0"/>
          </a:p>
        </p:txBody>
      </p:sp>
      <p:sp>
        <p:nvSpPr>
          <p:cNvPr id="15" name="App stat 4 label"/>
          <p:cNvSpPr txBox="1"/>
          <p:nvPr/>
        </p:nvSpPr>
        <p:spPr>
          <a:xfrm>
            <a:off x="3611880" y="5189220"/>
            <a:ext cx="2148840" cy="708660"/>
          </a:xfrm>
          <a:prstGeom prst="rect">
            <a:avLst/>
          </a:prstGeom>
          <a:noFill/>
          <a:ln/>
        </p:spPr>
        <p:txBody>
          <a:bodyPr wrap="square" lIns="0" tIns="0" rIns="0" bIns="0" rtlCol="0" anchor="t"/>
          <a:lstStyle/>
          <a:p>
            <a:pPr indent="0" marL="0">
              <a:buNone/>
            </a:pPr>
            <a:r>
              <a:rPr lang="en-US" sz="1300" dirty="0">
                <a:solidFill>
                  <a:schemeClr val="accent5"/>
                </a:solidFill>
              </a:rPr>
              <a:t>line coverage, with ruff and bandit rules clean</a:t>
            </a:r>
            <a:endParaRPr lang="en-US" sz="1300" dirty="0"/>
          </a:p>
        </p:txBody>
      </p:sp>
      <p:sp>
        <p:nvSpPr>
          <p:cNvPr id="16" name="Testing approach card"/>
          <p:cNvSpPr/>
          <p:nvPr/>
        </p:nvSpPr>
        <p:spPr>
          <a:xfrm>
            <a:off x="6263640" y="1691640"/>
            <a:ext cx="5376672" cy="4343400"/>
          </a:xfrm>
          <a:prstGeom prst="roundRect">
            <a:avLst>
              <a:gd name="adj" fmla="val 2105"/>
            </a:avLst>
          </a:prstGeom>
          <a:solidFill>
            <a:schemeClr val="tx2"/>
          </a:solidFill>
          <a:ln w="9525">
            <a:solidFill>
              <a:schemeClr val="accent6"/>
            </a:solidFill>
            <a:prstDash val="solid"/>
          </a:ln>
        </p:spPr>
      </p:sp>
      <p:sp>
        <p:nvSpPr>
          <p:cNvPr id="17" name="Text 15"/>
          <p:cNvSpPr txBox="1"/>
          <p:nvPr/>
        </p:nvSpPr>
        <p:spPr>
          <a:xfrm>
            <a:off x="6537960" y="1920240"/>
            <a:ext cx="4846320" cy="411480"/>
          </a:xfrm>
          <a:prstGeom prst="rect">
            <a:avLst/>
          </a:prstGeom>
          <a:noFill/>
          <a:ln/>
        </p:spPr>
        <p:txBody>
          <a:bodyPr wrap="square" lIns="0" tIns="0" rIns="0" bIns="0" rtlCol="0" anchor="t"/>
          <a:lstStyle/>
          <a:p>
            <a:pPr indent="0" marL="0">
              <a:buNone/>
            </a:pPr>
            <a:r>
              <a:rPr lang="en-US" sz="1900" b="1" dirty="0">
                <a:solidFill>
                  <a:schemeClr val="bg2"/>
                </a:solidFill>
              </a:rPr>
              <a:t>How it's tested</a:t>
            </a:r>
            <a:endParaRPr lang="en-US" sz="1900" dirty="0"/>
          </a:p>
        </p:txBody>
      </p:sp>
      <p:sp>
        <p:nvSpPr>
          <p:cNvPr id="18" name="Text 16"/>
          <p:cNvSpPr txBox="1"/>
          <p:nvPr/>
        </p:nvSpPr>
        <p:spPr>
          <a:xfrm>
            <a:off x="6665976" y="2514600"/>
            <a:ext cx="4718304" cy="3383280"/>
          </a:xfrm>
          <a:prstGeom prst="rect">
            <a:avLst/>
          </a:prstGeom>
          <a:noFill/>
          <a:ln/>
        </p:spPr>
        <p:txBody>
          <a:bodyPr wrap="square" lIns="0" tIns="0" rIns="0" bIns="0" rtlCol="0" anchor="t"/>
          <a:lstStyle/>
          <a:p>
            <a:pPr marL="203200" indent="-203200">
              <a:spcAft>
                <a:spcPts val="1600"/>
              </a:spcAft>
              <a:buClr>
                <a:schemeClr val="accent1"/>
              </a:buClr>
              <a:buSzPct val="100000"/>
              <a:buChar char="•"/>
            </a:pPr>
            <a:r>
              <a:rPr lang="en-US" sz="1500" dirty="0">
                <a:solidFill>
                  <a:schemeClr val="bg2"/>
                </a:solidFill>
              </a:rPr>
              <a:t>The SLO maths are pure functions that take now as a parameter, so they are tested without mocking the clock</a:t>
            </a:r>
            <a:endParaRPr lang="en-US" sz="1500" dirty="0"/>
          </a:p>
          <a:p>
            <a:pPr marL="203200" indent="-203200">
              <a:spcAft>
                <a:spcPts val="1600"/>
              </a:spcAft>
              <a:buClr>
                <a:schemeClr val="accent1"/>
              </a:buClr>
              <a:buSzPct val="100000"/>
              <a:buChar char="•"/>
            </a:pPr>
            <a:r>
              <a:rPr lang="en-US" sz="1500" dirty="0">
                <a:solidFill>
                  <a:schemeClr val="bg2"/>
                </a:solidFill>
              </a:rPr>
              <a:t>Tests run against an in-memory SQLite database set up in conftest.py, never the real one</a:t>
            </a:r>
            <a:endParaRPr lang="en-US" sz="1500" dirty="0"/>
          </a:p>
          <a:p>
            <a:pPr marL="203200" indent="-203200">
              <a:spcAft>
                <a:spcPts val="1600"/>
              </a:spcAft>
              <a:buClr>
                <a:schemeClr val="accent1"/>
              </a:buClr>
              <a:buSzPct val="100000"/>
              <a:buChar char="•"/>
            </a:pPr>
            <a:r>
              <a:rPr lang="en-US" sz="1500" dirty="0">
                <a:solidFill>
                  <a:schemeClr val="bg2"/>
                </a:solidFill>
              </a:rPr>
              <a:t>Migrations are tested up and down, and run under a Postgres advisory lock, so six replicas starting at once still migrate exactly once</a:t>
            </a:r>
            <a:endParaRPr lang="en-US" sz="1500" dirty="0"/>
          </a:p>
          <a:p>
            <a:pPr marL="203200" indent="-203200">
              <a:spcAft>
                <a:spcPts val="1600"/>
              </a:spcAft>
              <a:buClr>
                <a:schemeClr val="accent1"/>
              </a:buClr>
              <a:buSzPct val="100000"/>
              <a:buChar char="•"/>
            </a:pPr>
            <a:r>
              <a:rPr lang="en-US" sz="1500" dirty="0">
                <a:solidFill>
                  <a:schemeClr val="bg2"/>
                </a:solidFill>
              </a:rPr>
              <a:t>CI runs ruff (with bandit security rules) and pytest before any image is built</a:t>
            </a:r>
            <a:endParaRPr lang="en-US" sz="15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02–03 · GIT COMMIT AND CI PIPELINE</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Every push to main ships in under 4 minutes</a:t>
            </a:r>
            <a:endParaRPr lang="en-US" sz="3600" dirty="0"/>
          </a:p>
        </p:txBody>
      </p:sp>
      <p:sp>
        <p:nvSpPr>
          <p:cNvPr id="4" name="Backend job"/>
          <p:cNvSpPr/>
          <p:nvPr/>
        </p:nvSpPr>
        <p:spPr>
          <a:xfrm>
            <a:off x="548640" y="1737360"/>
            <a:ext cx="2971800" cy="512064"/>
          </a:xfrm>
          <a:prstGeom prst="roundRect">
            <a:avLst>
              <a:gd name="adj" fmla="val 17857"/>
            </a:avLst>
          </a:prstGeom>
          <a:solidFill>
            <a:schemeClr val="tx2"/>
          </a:solidFill>
          <a:ln w="9525">
            <a:solidFill>
              <a:schemeClr val="accent6"/>
            </a:solidFill>
            <a:prstDash val="solid"/>
          </a:ln>
        </p:spPr>
      </p:sp>
      <p:sp>
        <p:nvSpPr>
          <p:cNvPr id="5" name="Backend job dot"/>
          <p:cNvSpPr/>
          <p:nvPr/>
        </p:nvSpPr>
        <p:spPr>
          <a:xfrm>
            <a:off x="731520" y="1901952"/>
            <a:ext cx="182880" cy="182880"/>
          </a:xfrm>
          <a:prstGeom prst="ellipse">
            <a:avLst/>
          </a:prstGeom>
          <a:solidFill>
            <a:schemeClr val="accent2"/>
          </a:solidFill>
          <a:ln/>
        </p:spPr>
      </p:sp>
      <p:sp>
        <p:nvSpPr>
          <p:cNvPr id="6" name="Text 4"/>
          <p:cNvSpPr txBox="1"/>
          <p:nvPr/>
        </p:nvSpPr>
        <p:spPr>
          <a:xfrm>
            <a:off x="1051560" y="1737360"/>
            <a:ext cx="2377440" cy="512064"/>
          </a:xfrm>
          <a:prstGeom prst="rect">
            <a:avLst/>
          </a:prstGeom>
          <a:noFill/>
          <a:ln/>
        </p:spPr>
        <p:txBody>
          <a:bodyPr wrap="square" lIns="0" tIns="0" rIns="0" bIns="0" rtlCol="0" anchor="ctr"/>
          <a:lstStyle/>
          <a:p>
            <a:pPr indent="0" marL="0">
              <a:buNone/>
            </a:pPr>
            <a:r>
              <a:rPr lang="en-US" sz="1400" dirty="0">
                <a:solidFill>
                  <a:schemeClr val="bg2"/>
                </a:solidFill>
              </a:rPr>
              <a:t>Backend · ruff + pytest</a:t>
            </a:r>
            <a:endParaRPr lang="en-US" sz="1400" dirty="0"/>
          </a:p>
        </p:txBody>
      </p:sp>
      <p:sp>
        <p:nvSpPr>
          <p:cNvPr id="7" name="Frontend job"/>
          <p:cNvSpPr/>
          <p:nvPr/>
        </p:nvSpPr>
        <p:spPr>
          <a:xfrm>
            <a:off x="548640" y="2377440"/>
            <a:ext cx="2971800" cy="512064"/>
          </a:xfrm>
          <a:prstGeom prst="roundRect">
            <a:avLst>
              <a:gd name="adj" fmla="val 17857"/>
            </a:avLst>
          </a:prstGeom>
          <a:solidFill>
            <a:schemeClr val="tx2"/>
          </a:solidFill>
          <a:ln w="9525">
            <a:solidFill>
              <a:schemeClr val="accent6"/>
            </a:solidFill>
            <a:prstDash val="solid"/>
          </a:ln>
        </p:spPr>
      </p:sp>
      <p:sp>
        <p:nvSpPr>
          <p:cNvPr id="8" name="Frontend job dot"/>
          <p:cNvSpPr/>
          <p:nvPr/>
        </p:nvSpPr>
        <p:spPr>
          <a:xfrm>
            <a:off x="731520" y="2542032"/>
            <a:ext cx="182880" cy="182880"/>
          </a:xfrm>
          <a:prstGeom prst="ellipse">
            <a:avLst/>
          </a:prstGeom>
          <a:solidFill>
            <a:schemeClr val="accent2"/>
          </a:solidFill>
          <a:ln/>
        </p:spPr>
      </p:sp>
      <p:sp>
        <p:nvSpPr>
          <p:cNvPr id="9" name="Text 7"/>
          <p:cNvSpPr txBox="1"/>
          <p:nvPr/>
        </p:nvSpPr>
        <p:spPr>
          <a:xfrm>
            <a:off x="1051560" y="2377440"/>
            <a:ext cx="2377440" cy="512064"/>
          </a:xfrm>
          <a:prstGeom prst="rect">
            <a:avLst/>
          </a:prstGeom>
          <a:noFill/>
          <a:ln/>
        </p:spPr>
        <p:txBody>
          <a:bodyPr wrap="square" lIns="0" tIns="0" rIns="0" bIns="0" rtlCol="0" anchor="ctr"/>
          <a:lstStyle/>
          <a:p>
            <a:pPr indent="0" marL="0">
              <a:buNone/>
            </a:pPr>
            <a:r>
              <a:rPr lang="en-US" sz="1400" dirty="0">
                <a:solidFill>
                  <a:schemeClr val="bg2"/>
                </a:solidFill>
              </a:rPr>
              <a:t>Frontend · npm build</a:t>
            </a:r>
            <a:endParaRPr lang="en-US" sz="1400" dirty="0"/>
          </a:p>
        </p:txBody>
      </p:sp>
      <p:sp>
        <p:nvSpPr>
          <p:cNvPr id="10" name="Shape 8"/>
          <p:cNvSpPr/>
          <p:nvPr/>
        </p:nvSpPr>
        <p:spPr>
          <a:xfrm>
            <a:off x="3520440" y="1993392"/>
            <a:ext cx="731520" cy="0"/>
          </a:xfrm>
          <a:prstGeom prst="line">
            <a:avLst/>
          </a:prstGeom>
          <a:noFill/>
          <a:ln w="15875">
            <a:solidFill>
              <a:schemeClr val="accent5"/>
            </a:solidFill>
            <a:prstDash val="solid"/>
            <a:tailEnd type="triangle"/>
          </a:ln>
        </p:spPr>
      </p:sp>
      <p:sp>
        <p:nvSpPr>
          <p:cNvPr id="11" name="Shape 9"/>
          <p:cNvSpPr/>
          <p:nvPr/>
        </p:nvSpPr>
        <p:spPr>
          <a:xfrm>
            <a:off x="3520440" y="2633472"/>
            <a:ext cx="731520" cy="0"/>
          </a:xfrm>
          <a:prstGeom prst="line">
            <a:avLst/>
          </a:prstGeom>
          <a:noFill/>
          <a:ln w="15875">
            <a:solidFill>
              <a:schemeClr val="accent5"/>
            </a:solidFill>
            <a:prstDash val="solid"/>
            <a:tailEnd type="triangle"/>
          </a:ln>
        </p:spPr>
      </p:sp>
      <p:sp>
        <p:nvSpPr>
          <p:cNvPr id="12" name="Images job card"/>
          <p:cNvSpPr/>
          <p:nvPr/>
        </p:nvSpPr>
        <p:spPr>
          <a:xfrm>
            <a:off x="4251960" y="1691640"/>
            <a:ext cx="3291840" cy="1508760"/>
          </a:xfrm>
          <a:prstGeom prst="roundRect">
            <a:avLst>
              <a:gd name="adj" fmla="val 6061"/>
            </a:avLst>
          </a:prstGeom>
          <a:solidFill>
            <a:schemeClr val="tx2"/>
          </a:solidFill>
          <a:ln w="9525">
            <a:solidFill>
              <a:schemeClr val="accent6"/>
            </a:solidFill>
            <a:prstDash val="solid"/>
          </a:ln>
        </p:spPr>
      </p:sp>
      <p:sp>
        <p:nvSpPr>
          <p:cNvPr id="13" name="Text 11"/>
          <p:cNvSpPr txBox="1"/>
          <p:nvPr/>
        </p:nvSpPr>
        <p:spPr>
          <a:xfrm>
            <a:off x="4526280" y="1810512"/>
            <a:ext cx="2743200" cy="365760"/>
          </a:xfrm>
          <a:prstGeom prst="rect">
            <a:avLst/>
          </a:prstGeom>
          <a:noFill/>
          <a:ln/>
        </p:spPr>
        <p:txBody>
          <a:bodyPr wrap="square" lIns="0" tIns="0" rIns="0" bIns="0" rtlCol="0" anchor="t"/>
          <a:lstStyle/>
          <a:p>
            <a:pPr indent="0" marL="0">
              <a:buNone/>
            </a:pPr>
            <a:r>
              <a:rPr lang="en-US" sz="1800" b="1" dirty="0">
                <a:solidFill>
                  <a:schemeClr val="bg2"/>
                </a:solidFill>
              </a:rPr>
              <a:t>Images × 3</a:t>
            </a:r>
            <a:endParaRPr lang="en-US" sz="1800" dirty="0"/>
          </a:p>
        </p:txBody>
      </p:sp>
      <p:sp>
        <p:nvSpPr>
          <p:cNvPr id="14" name="Text 12"/>
          <p:cNvSpPr txBox="1"/>
          <p:nvPr/>
        </p:nvSpPr>
        <p:spPr>
          <a:xfrm>
            <a:off x="4654296" y="2212848"/>
            <a:ext cx="2706624" cy="914400"/>
          </a:xfrm>
          <a:prstGeom prst="rect">
            <a:avLst/>
          </a:prstGeom>
          <a:noFill/>
          <a:ln/>
        </p:spPr>
        <p:txBody>
          <a:bodyPr wrap="square" lIns="0" tIns="0" rIns="0" bIns="0" rtlCol="0" anchor="t"/>
          <a:lstStyle/>
          <a:p>
            <a:pPr marL="203200" indent="-203200">
              <a:spcAft>
                <a:spcPts val="600"/>
              </a:spcAft>
              <a:buClr>
                <a:schemeClr val="accent1"/>
              </a:buClr>
              <a:buSzPct val="100000"/>
              <a:buChar char="•"/>
            </a:pPr>
            <a:r>
              <a:rPr lang="en-US" sz="1400" dirty="0">
                <a:solidFill>
                  <a:schemeClr val="accent5"/>
                </a:solidFill>
              </a:rPr>
              <a:t>Build amd64 and arm64</a:t>
            </a:r>
            <a:endParaRPr lang="en-US" sz="1400" dirty="0"/>
          </a:p>
          <a:p>
            <a:pPr marL="203200" indent="-203200">
              <a:spcAft>
                <a:spcPts val="600"/>
              </a:spcAft>
              <a:buClr>
                <a:schemeClr val="accent1"/>
              </a:buClr>
              <a:buSzPct val="100000"/>
              <a:buChar char="•"/>
            </a:pPr>
            <a:r>
              <a:rPr lang="en-US" sz="1400" dirty="0">
                <a:solidFill>
                  <a:schemeClr val="accent5"/>
                </a:solidFill>
              </a:rPr>
              <a:t>Trivy gate on both</a:t>
            </a:r>
            <a:endParaRPr lang="en-US" sz="1400" dirty="0"/>
          </a:p>
          <a:p>
            <a:pPr marL="203200" indent="-203200">
              <a:spcAft>
                <a:spcPts val="600"/>
              </a:spcAft>
              <a:buClr>
                <a:schemeClr val="accent1"/>
              </a:buClr>
              <a:buSzPct val="100000"/>
              <a:buChar char="•"/>
            </a:pPr>
            <a:r>
              <a:rPr lang="en-US" sz="1400" dirty="0">
                <a:solidFill>
                  <a:schemeClr val="accent5"/>
                </a:solidFill>
              </a:rPr>
              <a:t>Push to GHCR, tagged by SHA</a:t>
            </a:r>
            <a:endParaRPr lang="en-US" sz="1400" dirty="0"/>
          </a:p>
        </p:txBody>
      </p:sp>
      <p:sp>
        <p:nvSpPr>
          <p:cNvPr id="15" name="Shape 13"/>
          <p:cNvSpPr/>
          <p:nvPr/>
        </p:nvSpPr>
        <p:spPr>
          <a:xfrm>
            <a:off x="7543800" y="2441448"/>
            <a:ext cx="594360" cy="0"/>
          </a:xfrm>
          <a:prstGeom prst="line">
            <a:avLst/>
          </a:prstGeom>
          <a:noFill/>
          <a:ln w="15875">
            <a:solidFill>
              <a:schemeClr val="accent5"/>
            </a:solidFill>
            <a:prstDash val="solid"/>
            <a:tailEnd type="triangle"/>
          </a:ln>
        </p:spPr>
      </p:sp>
      <p:sp>
        <p:nvSpPr>
          <p:cNvPr id="16" name="Promote card"/>
          <p:cNvSpPr/>
          <p:nvPr/>
        </p:nvSpPr>
        <p:spPr>
          <a:xfrm>
            <a:off x="8138160" y="1691640"/>
            <a:ext cx="1874520" cy="1508760"/>
          </a:xfrm>
          <a:prstGeom prst="roundRect">
            <a:avLst>
              <a:gd name="adj" fmla="val 6061"/>
            </a:avLst>
          </a:prstGeom>
          <a:solidFill>
            <a:schemeClr val="tx2"/>
          </a:solidFill>
          <a:ln w="9525">
            <a:solidFill>
              <a:schemeClr val="accent6"/>
            </a:solidFill>
            <a:prstDash val="solid"/>
          </a:ln>
        </p:spPr>
      </p:sp>
      <p:sp>
        <p:nvSpPr>
          <p:cNvPr id="17" name="Text 15"/>
          <p:cNvSpPr txBox="1"/>
          <p:nvPr/>
        </p:nvSpPr>
        <p:spPr>
          <a:xfrm>
            <a:off x="8321040" y="1810512"/>
            <a:ext cx="1554480" cy="365760"/>
          </a:xfrm>
          <a:prstGeom prst="rect">
            <a:avLst/>
          </a:prstGeom>
          <a:noFill/>
          <a:ln/>
        </p:spPr>
        <p:txBody>
          <a:bodyPr wrap="square" lIns="0" tIns="0" rIns="0" bIns="0" rtlCol="0" anchor="t"/>
          <a:lstStyle/>
          <a:p>
            <a:pPr indent="0" marL="0">
              <a:buNone/>
            </a:pPr>
            <a:r>
              <a:rPr lang="en-US" sz="1800" b="1" dirty="0">
                <a:solidFill>
                  <a:schemeClr val="bg2"/>
                </a:solidFill>
              </a:rPr>
              <a:t>Promote</a:t>
            </a:r>
            <a:endParaRPr lang="en-US" sz="1800" dirty="0"/>
          </a:p>
        </p:txBody>
      </p:sp>
      <p:sp>
        <p:nvSpPr>
          <p:cNvPr id="18" name="Text 16"/>
          <p:cNvSpPr txBox="1"/>
          <p:nvPr/>
        </p:nvSpPr>
        <p:spPr>
          <a:xfrm>
            <a:off x="8321040" y="2212848"/>
            <a:ext cx="1554480" cy="868680"/>
          </a:xfrm>
          <a:prstGeom prst="rect">
            <a:avLst/>
          </a:prstGeom>
          <a:noFill/>
          <a:ln/>
        </p:spPr>
        <p:txBody>
          <a:bodyPr wrap="square" lIns="0" tIns="0" rIns="0" bIns="0" rtlCol="0" anchor="t"/>
          <a:lstStyle/>
          <a:p>
            <a:pPr indent="0" marL="0">
              <a:buNone/>
            </a:pPr>
            <a:r>
              <a:rPr lang="en-US" sz="1300" dirty="0">
                <a:solidFill>
                  <a:schemeClr val="accent5"/>
                </a:solidFill>
              </a:rPr>
              <a:t>commits the new tag [skip ci]</a:t>
            </a:r>
            <a:endParaRPr lang="en-US" sz="1300" dirty="0"/>
          </a:p>
        </p:txBody>
      </p:sp>
      <p:sp>
        <p:nvSpPr>
          <p:cNvPr id="19" name="Shape 17"/>
          <p:cNvSpPr/>
          <p:nvPr/>
        </p:nvSpPr>
        <p:spPr>
          <a:xfrm>
            <a:off x="10012680" y="2441448"/>
            <a:ext cx="457200" cy="0"/>
          </a:xfrm>
          <a:prstGeom prst="line">
            <a:avLst/>
          </a:prstGeom>
          <a:noFill/>
          <a:ln w="15875">
            <a:solidFill>
              <a:schemeClr val="accent5"/>
            </a:solidFill>
            <a:prstDash val="solid"/>
            <a:tailEnd type="triangle"/>
          </a:ln>
        </p:spPr>
      </p:sp>
      <p:sp>
        <p:nvSpPr>
          <p:cNvPr id="20" name="ArgoCD card"/>
          <p:cNvSpPr/>
          <p:nvPr/>
        </p:nvSpPr>
        <p:spPr>
          <a:xfrm>
            <a:off x="10469880" y="1691640"/>
            <a:ext cx="1170432" cy="1508760"/>
          </a:xfrm>
          <a:prstGeom prst="roundRect">
            <a:avLst>
              <a:gd name="adj" fmla="val 7813"/>
            </a:avLst>
          </a:prstGeom>
          <a:solidFill>
            <a:schemeClr val="tx2"/>
          </a:solidFill>
          <a:ln w="9525">
            <a:solidFill>
              <a:schemeClr val="accent6"/>
            </a:solidFill>
            <a:prstDash val="solid"/>
          </a:ln>
        </p:spPr>
      </p:sp>
      <p:sp>
        <p:nvSpPr>
          <p:cNvPr id="21" name="ArgoCD eye outline"/>
          <p:cNvSpPr/>
          <p:nvPr/>
        </p:nvSpPr>
        <p:spPr>
          <a:xfrm>
            <a:off x="10780776" y="1874520"/>
            <a:ext cx="548640" cy="307238"/>
          </a:xfrm>
          <a:prstGeom prst="ellipse">
            <a:avLst/>
          </a:prstGeom>
          <a:solidFill>
            <a:schemeClr val="tx1"/>
          </a:solidFill>
          <a:ln w="22860">
            <a:solidFill>
              <a:schemeClr val="accent1"/>
            </a:solidFill>
            <a:prstDash val="solid"/>
          </a:ln>
        </p:spPr>
      </p:sp>
      <p:sp>
        <p:nvSpPr>
          <p:cNvPr id="22" name="ArgoCD eye pupil"/>
          <p:cNvSpPr/>
          <p:nvPr/>
        </p:nvSpPr>
        <p:spPr>
          <a:xfrm>
            <a:off x="10978286" y="1951330"/>
            <a:ext cx="153619" cy="153619"/>
          </a:xfrm>
          <a:prstGeom prst="ellipse">
            <a:avLst/>
          </a:prstGeom>
          <a:solidFill>
            <a:schemeClr val="accent1"/>
          </a:solidFill>
          <a:ln/>
        </p:spPr>
      </p:sp>
      <p:sp>
        <p:nvSpPr>
          <p:cNvPr id="23" name="Text 21"/>
          <p:cNvSpPr txBox="1"/>
          <p:nvPr/>
        </p:nvSpPr>
        <p:spPr>
          <a:xfrm>
            <a:off x="10515600" y="2331720"/>
            <a:ext cx="1078992" cy="731520"/>
          </a:xfrm>
          <a:prstGeom prst="rect">
            <a:avLst/>
          </a:prstGeom>
          <a:noFill/>
          <a:ln/>
        </p:spPr>
        <p:txBody>
          <a:bodyPr wrap="square" lIns="0" tIns="0" rIns="0" bIns="0" rtlCol="0" anchor="t"/>
          <a:lstStyle/>
          <a:p>
            <a:pPr algn="ctr" indent="0" marL="0">
              <a:buNone/>
            </a:pPr>
            <a:r>
              <a:rPr lang="en-US" sz="1300" b="1" dirty="0">
                <a:solidFill>
                  <a:schemeClr val="bg2"/>
                </a:solidFill>
              </a:rPr>
              <a:t>ArgoCD</a:t>
            </a:r>
            <a:endParaRPr lang="en-US" sz="1300" dirty="0"/>
          </a:p>
          <a:p>
            <a:pPr algn="ctr" indent="0" marL="0">
              <a:buNone/>
            </a:pPr>
            <a:r>
              <a:rPr lang="en-US" sz="1300" b="1" dirty="0">
                <a:solidFill>
                  <a:schemeClr val="bg2"/>
                </a:solidFill>
              </a:rPr>
              <a:t>rolls it out</a:t>
            </a:r>
            <a:endParaRPr lang="en-US" sz="1300" dirty="0"/>
          </a:p>
        </p:txBody>
      </p:sp>
      <p:sp>
        <p:nvSpPr>
          <p:cNvPr id="24" name="Helm job"/>
          <p:cNvSpPr/>
          <p:nvPr/>
        </p:nvSpPr>
        <p:spPr>
          <a:xfrm>
            <a:off x="548640" y="3291840"/>
            <a:ext cx="2971800" cy="512064"/>
          </a:xfrm>
          <a:prstGeom prst="roundRect">
            <a:avLst>
              <a:gd name="adj" fmla="val 17857"/>
            </a:avLst>
          </a:prstGeom>
          <a:solidFill>
            <a:schemeClr val="tx2"/>
          </a:solidFill>
          <a:ln w="9525">
            <a:solidFill>
              <a:schemeClr val="accent6"/>
            </a:solidFill>
            <a:prstDash val="solid"/>
          </a:ln>
        </p:spPr>
      </p:sp>
      <p:sp>
        <p:nvSpPr>
          <p:cNvPr id="25" name="Helm job dot"/>
          <p:cNvSpPr/>
          <p:nvPr/>
        </p:nvSpPr>
        <p:spPr>
          <a:xfrm>
            <a:off x="731520" y="3456432"/>
            <a:ext cx="182880" cy="182880"/>
          </a:xfrm>
          <a:prstGeom prst="ellipse">
            <a:avLst/>
          </a:prstGeom>
          <a:solidFill>
            <a:schemeClr val="accent2"/>
          </a:solidFill>
          <a:ln/>
        </p:spPr>
      </p:sp>
      <p:sp>
        <p:nvSpPr>
          <p:cNvPr id="26" name="Text 24"/>
          <p:cNvSpPr txBox="1"/>
          <p:nvPr/>
        </p:nvSpPr>
        <p:spPr>
          <a:xfrm>
            <a:off x="1051560" y="3291840"/>
            <a:ext cx="2377440" cy="512064"/>
          </a:xfrm>
          <a:prstGeom prst="rect">
            <a:avLst/>
          </a:prstGeom>
          <a:noFill/>
          <a:ln/>
        </p:spPr>
        <p:txBody>
          <a:bodyPr wrap="square" lIns="0" tIns="0" rIns="0" bIns="0" rtlCol="0" anchor="ctr"/>
          <a:lstStyle/>
          <a:p>
            <a:pPr indent="0" marL="0">
              <a:buNone/>
            </a:pPr>
            <a:r>
              <a:rPr lang="en-US" sz="1400" dirty="0">
                <a:solidFill>
                  <a:schemeClr val="bg2"/>
                </a:solidFill>
              </a:rPr>
              <a:t>Helm · lint + kubeconform</a:t>
            </a:r>
            <a:endParaRPr lang="en-US" sz="1400" dirty="0"/>
          </a:p>
        </p:txBody>
      </p:sp>
      <p:sp>
        <p:nvSpPr>
          <p:cNvPr id="27" name="Secrets job"/>
          <p:cNvSpPr/>
          <p:nvPr/>
        </p:nvSpPr>
        <p:spPr>
          <a:xfrm>
            <a:off x="548640" y="3931920"/>
            <a:ext cx="2971800" cy="512064"/>
          </a:xfrm>
          <a:prstGeom prst="roundRect">
            <a:avLst>
              <a:gd name="adj" fmla="val 17857"/>
            </a:avLst>
          </a:prstGeom>
          <a:solidFill>
            <a:schemeClr val="tx2"/>
          </a:solidFill>
          <a:ln w="9525">
            <a:solidFill>
              <a:schemeClr val="accent6"/>
            </a:solidFill>
            <a:prstDash val="solid"/>
          </a:ln>
        </p:spPr>
      </p:sp>
      <p:sp>
        <p:nvSpPr>
          <p:cNvPr id="28" name="Secrets job dot"/>
          <p:cNvSpPr/>
          <p:nvPr/>
        </p:nvSpPr>
        <p:spPr>
          <a:xfrm>
            <a:off x="731520" y="4096512"/>
            <a:ext cx="182880" cy="182880"/>
          </a:xfrm>
          <a:prstGeom prst="ellipse">
            <a:avLst/>
          </a:prstGeom>
          <a:solidFill>
            <a:schemeClr val="accent2"/>
          </a:solidFill>
          <a:ln/>
        </p:spPr>
      </p:sp>
      <p:sp>
        <p:nvSpPr>
          <p:cNvPr id="29" name="Text 27"/>
          <p:cNvSpPr txBox="1"/>
          <p:nvPr/>
        </p:nvSpPr>
        <p:spPr>
          <a:xfrm>
            <a:off x="1051560" y="3931920"/>
            <a:ext cx="2377440" cy="512064"/>
          </a:xfrm>
          <a:prstGeom prst="rect">
            <a:avLst/>
          </a:prstGeom>
          <a:noFill/>
          <a:ln/>
        </p:spPr>
        <p:txBody>
          <a:bodyPr wrap="square" lIns="0" tIns="0" rIns="0" bIns="0" rtlCol="0" anchor="ctr"/>
          <a:lstStyle/>
          <a:p>
            <a:pPr indent="0" marL="0">
              <a:buNone/>
            </a:pPr>
            <a:r>
              <a:rPr lang="en-US" sz="1400" dirty="0">
                <a:solidFill>
                  <a:schemeClr val="bg2"/>
                </a:solidFill>
              </a:rPr>
              <a:t>Secrets · gitleaks, full history</a:t>
            </a:r>
            <a:endParaRPr lang="en-US" sz="1400" dirty="0"/>
          </a:p>
        </p:txBody>
      </p:sp>
      <p:sp>
        <p:nvSpPr>
          <p:cNvPr id="30" name="Helm stub"/>
          <p:cNvSpPr/>
          <p:nvPr/>
        </p:nvSpPr>
        <p:spPr>
          <a:xfrm>
            <a:off x="3520440" y="3547872"/>
            <a:ext cx="274320" cy="0"/>
          </a:xfrm>
          <a:prstGeom prst="line">
            <a:avLst/>
          </a:prstGeom>
          <a:noFill/>
          <a:ln w="15875">
            <a:solidFill>
              <a:schemeClr val="accent5"/>
            </a:solidFill>
            <a:prstDash val="solid"/>
          </a:ln>
        </p:spPr>
      </p:sp>
      <p:sp>
        <p:nvSpPr>
          <p:cNvPr id="31" name="Secrets stub"/>
          <p:cNvSpPr/>
          <p:nvPr/>
        </p:nvSpPr>
        <p:spPr>
          <a:xfrm>
            <a:off x="3520440" y="4187952"/>
            <a:ext cx="274320" cy="0"/>
          </a:xfrm>
          <a:prstGeom prst="line">
            <a:avLst/>
          </a:prstGeom>
          <a:noFill/>
          <a:ln w="15875">
            <a:solidFill>
              <a:schemeClr val="accent5"/>
            </a:solidFill>
            <a:prstDash val="solid"/>
          </a:ln>
        </p:spPr>
      </p:sp>
      <p:sp>
        <p:nvSpPr>
          <p:cNvPr id="32" name="Gate bus"/>
          <p:cNvSpPr/>
          <p:nvPr/>
        </p:nvSpPr>
        <p:spPr>
          <a:xfrm>
            <a:off x="3794760" y="3547872"/>
            <a:ext cx="0" cy="640080"/>
          </a:xfrm>
          <a:prstGeom prst="line">
            <a:avLst/>
          </a:prstGeom>
          <a:noFill/>
          <a:ln w="15875">
            <a:solidFill>
              <a:schemeClr val="accent5"/>
            </a:solidFill>
            <a:prstDash val="solid"/>
          </a:ln>
        </p:spPr>
      </p:sp>
      <p:sp>
        <p:nvSpPr>
          <p:cNvPr id="33" name="Gate line"/>
          <p:cNvSpPr/>
          <p:nvPr/>
        </p:nvSpPr>
        <p:spPr>
          <a:xfrm>
            <a:off x="3794760" y="3867912"/>
            <a:ext cx="5276088" cy="0"/>
          </a:xfrm>
          <a:prstGeom prst="line">
            <a:avLst/>
          </a:prstGeom>
          <a:noFill/>
          <a:ln w="15875">
            <a:solidFill>
              <a:schemeClr val="accent5"/>
            </a:solidFill>
            <a:prstDash val="solid"/>
          </a:ln>
        </p:spPr>
      </p:sp>
      <p:sp>
        <p:nvSpPr>
          <p:cNvPr id="34" name="Shape 32"/>
          <p:cNvSpPr/>
          <p:nvPr/>
        </p:nvSpPr>
        <p:spPr>
          <a:xfrm flipV="1">
            <a:off x="9070848" y="3200400"/>
            <a:ext cx="0" cy="667512"/>
          </a:xfrm>
          <a:prstGeom prst="line">
            <a:avLst/>
          </a:prstGeom>
          <a:noFill/>
          <a:ln w="15875">
            <a:solidFill>
              <a:schemeClr val="accent5"/>
            </a:solidFill>
            <a:prstDash val="solid"/>
            <a:tailEnd type="triangle"/>
          </a:ln>
        </p:spPr>
      </p:sp>
      <p:sp>
        <p:nvSpPr>
          <p:cNvPr id="35" name="Text 33"/>
          <p:cNvSpPr txBox="1"/>
          <p:nvPr/>
        </p:nvSpPr>
        <p:spPr>
          <a:xfrm>
            <a:off x="4069080" y="3959352"/>
            <a:ext cx="4846320" cy="274320"/>
          </a:xfrm>
          <a:prstGeom prst="rect">
            <a:avLst/>
          </a:prstGeom>
          <a:noFill/>
          <a:ln/>
        </p:spPr>
        <p:txBody>
          <a:bodyPr wrap="square" lIns="0" tIns="0" rIns="0" bIns="0" rtlCol="0" anchor="t"/>
          <a:lstStyle/>
          <a:p>
            <a:pPr indent="0" marL="0">
              <a:buNone/>
            </a:pPr>
            <a:r>
              <a:rPr lang="en-US" sz="1200" dirty="0">
                <a:solidFill>
                  <a:schemeClr val="accent5"/>
                </a:solidFill>
              </a:rPr>
              <a:t>Helm and gitleaks must pass before anything is promoted</a:t>
            </a:r>
            <a:endParaRPr lang="en-US" sz="1200" dirty="0"/>
          </a:p>
        </p:txBody>
      </p:sp>
      <p:sp>
        <p:nvSpPr>
          <p:cNvPr id="36" name="Terraform job"/>
          <p:cNvSpPr/>
          <p:nvPr/>
        </p:nvSpPr>
        <p:spPr>
          <a:xfrm>
            <a:off x="548640" y="4663440"/>
            <a:ext cx="2971800" cy="512064"/>
          </a:xfrm>
          <a:prstGeom prst="roundRect">
            <a:avLst>
              <a:gd name="adj" fmla="val 17857"/>
            </a:avLst>
          </a:prstGeom>
          <a:solidFill>
            <a:schemeClr val="tx2"/>
          </a:solidFill>
          <a:ln w="9525">
            <a:solidFill>
              <a:schemeClr val="accent6"/>
            </a:solidFill>
            <a:prstDash val="solid"/>
          </a:ln>
        </p:spPr>
      </p:sp>
      <p:sp>
        <p:nvSpPr>
          <p:cNvPr id="37" name="Terraform job dot"/>
          <p:cNvSpPr/>
          <p:nvPr/>
        </p:nvSpPr>
        <p:spPr>
          <a:xfrm>
            <a:off x="731520" y="4828032"/>
            <a:ext cx="182880" cy="182880"/>
          </a:xfrm>
          <a:prstGeom prst="ellipse">
            <a:avLst/>
          </a:prstGeom>
          <a:solidFill>
            <a:schemeClr val="accent2"/>
          </a:solidFill>
          <a:ln/>
        </p:spPr>
      </p:sp>
      <p:sp>
        <p:nvSpPr>
          <p:cNvPr id="38" name="Text 36"/>
          <p:cNvSpPr txBox="1"/>
          <p:nvPr/>
        </p:nvSpPr>
        <p:spPr>
          <a:xfrm>
            <a:off x="1051560" y="4663440"/>
            <a:ext cx="2377440" cy="512064"/>
          </a:xfrm>
          <a:prstGeom prst="rect">
            <a:avLst/>
          </a:prstGeom>
          <a:noFill/>
          <a:ln/>
        </p:spPr>
        <p:txBody>
          <a:bodyPr wrap="square" lIns="0" tIns="0" rIns="0" bIns="0" rtlCol="0" anchor="ctr"/>
          <a:lstStyle/>
          <a:p>
            <a:pPr indent="0" marL="0">
              <a:buNone/>
            </a:pPr>
            <a:r>
              <a:rPr lang="en-US" sz="1400" dirty="0">
                <a:solidFill>
                  <a:schemeClr val="bg2"/>
                </a:solidFill>
              </a:rPr>
              <a:t>Terraform · fmt + validate</a:t>
            </a:r>
            <a:endParaRPr lang="en-US" sz="1400" dirty="0"/>
          </a:p>
        </p:txBody>
      </p:sp>
      <p:sp>
        <p:nvSpPr>
          <p:cNvPr id="39" name="Text 37"/>
          <p:cNvSpPr txBox="1"/>
          <p:nvPr/>
        </p:nvSpPr>
        <p:spPr>
          <a:xfrm>
            <a:off x="3703320" y="4663440"/>
            <a:ext cx="5486400" cy="512064"/>
          </a:xfrm>
          <a:prstGeom prst="rect">
            <a:avLst/>
          </a:prstGeom>
          <a:noFill/>
          <a:ln/>
        </p:spPr>
        <p:txBody>
          <a:bodyPr wrap="square" lIns="0" tIns="0" rIns="0" bIns="0" rtlCol="0" anchor="ctr"/>
          <a:lstStyle/>
          <a:p>
            <a:pPr indent="0" marL="0">
              <a:buNone/>
            </a:pPr>
            <a:r>
              <a:rPr lang="en-US" sz="1200" dirty="0">
                <a:solidFill>
                  <a:schemeClr val="accent5"/>
                </a:solidFill>
              </a:rPr>
              <a:t>runs alongside: checks the infrastructure code, deploys nothing</a:t>
            </a:r>
            <a:endParaRPr lang="en-US" sz="1200" dirty="0"/>
          </a:p>
        </p:txBody>
      </p:sp>
      <p:sp>
        <p:nvSpPr>
          <p:cNvPr id="40" name="Pipeline fact 1"/>
          <p:cNvSpPr/>
          <p:nvPr/>
        </p:nvSpPr>
        <p:spPr>
          <a:xfrm>
            <a:off x="548640" y="5486400"/>
            <a:ext cx="3545738" cy="566928"/>
          </a:xfrm>
          <a:prstGeom prst="roundRect">
            <a:avLst>
              <a:gd name="adj" fmla="val 16129"/>
            </a:avLst>
          </a:prstGeom>
          <a:solidFill>
            <a:schemeClr val="tx2"/>
          </a:solidFill>
          <a:ln w="9525">
            <a:solidFill>
              <a:schemeClr val="accent6"/>
            </a:solidFill>
            <a:prstDash val="solid"/>
          </a:ln>
        </p:spPr>
      </p:sp>
      <p:sp>
        <p:nvSpPr>
          <p:cNvPr id="41" name="Text 39"/>
          <p:cNvSpPr txBox="1"/>
          <p:nvPr/>
        </p:nvSpPr>
        <p:spPr>
          <a:xfrm>
            <a:off x="731520" y="5486400"/>
            <a:ext cx="3179978" cy="566928"/>
          </a:xfrm>
          <a:prstGeom prst="rect">
            <a:avLst/>
          </a:prstGeom>
          <a:noFill/>
          <a:ln/>
        </p:spPr>
        <p:txBody>
          <a:bodyPr wrap="square" lIns="0" tIns="0" rIns="0" bIns="0" rtlCol="0" anchor="ctr"/>
          <a:lstStyle/>
          <a:p>
            <a:pPr indent="0" marL="0">
              <a:buNone/>
            </a:pPr>
            <a:r>
              <a:rPr lang="en-US" sz="1400" dirty="0">
                <a:solidFill>
                  <a:schemeClr val="bg2"/>
                </a:solidFill>
              </a:rPr>
              <a:t>Runs on every push to main</a:t>
            </a:r>
            <a:endParaRPr lang="en-US" sz="1400" dirty="0"/>
          </a:p>
        </p:txBody>
      </p:sp>
      <p:sp>
        <p:nvSpPr>
          <p:cNvPr id="42" name="Pipeline fact 2"/>
          <p:cNvSpPr/>
          <p:nvPr/>
        </p:nvSpPr>
        <p:spPr>
          <a:xfrm>
            <a:off x="4322978" y="5486400"/>
            <a:ext cx="3545738" cy="566928"/>
          </a:xfrm>
          <a:prstGeom prst="roundRect">
            <a:avLst>
              <a:gd name="adj" fmla="val 16129"/>
            </a:avLst>
          </a:prstGeom>
          <a:solidFill>
            <a:schemeClr val="tx2"/>
          </a:solidFill>
          <a:ln w="9525">
            <a:solidFill>
              <a:schemeClr val="accent6"/>
            </a:solidFill>
            <a:prstDash val="solid"/>
          </a:ln>
        </p:spPr>
      </p:sp>
      <p:sp>
        <p:nvSpPr>
          <p:cNvPr id="43" name="Text 41"/>
          <p:cNvSpPr txBox="1"/>
          <p:nvPr/>
        </p:nvSpPr>
        <p:spPr>
          <a:xfrm>
            <a:off x="4505858" y="5486400"/>
            <a:ext cx="3179978" cy="566928"/>
          </a:xfrm>
          <a:prstGeom prst="rect">
            <a:avLst/>
          </a:prstGeom>
          <a:noFill/>
          <a:ln/>
        </p:spPr>
        <p:txBody>
          <a:bodyPr wrap="square" lIns="0" tIns="0" rIns="0" bIns="0" rtlCol="0" anchor="ctr"/>
          <a:lstStyle/>
          <a:p>
            <a:pPr indent="0" marL="0">
              <a:buNone/>
            </a:pPr>
            <a:r>
              <a:rPr lang="en-US" sz="1400" dirty="0">
                <a:solidFill>
                  <a:schemeClr val="bg2"/>
                </a:solidFill>
              </a:rPr>
              <a:t>Tags are commit SHAs, never latest</a:t>
            </a:r>
            <a:endParaRPr lang="en-US" sz="1400" dirty="0"/>
          </a:p>
        </p:txBody>
      </p:sp>
      <p:sp>
        <p:nvSpPr>
          <p:cNvPr id="44" name="Pipeline fact 3"/>
          <p:cNvSpPr/>
          <p:nvPr/>
        </p:nvSpPr>
        <p:spPr>
          <a:xfrm>
            <a:off x="8097317" y="5486400"/>
            <a:ext cx="3545738" cy="566928"/>
          </a:xfrm>
          <a:prstGeom prst="roundRect">
            <a:avLst>
              <a:gd name="adj" fmla="val 16129"/>
            </a:avLst>
          </a:prstGeom>
          <a:solidFill>
            <a:schemeClr val="tx2"/>
          </a:solidFill>
          <a:ln w="9525">
            <a:solidFill>
              <a:schemeClr val="accent6"/>
            </a:solidFill>
            <a:prstDash val="solid"/>
          </a:ln>
        </p:spPr>
      </p:sp>
      <p:sp>
        <p:nvSpPr>
          <p:cNvPr id="45" name="Text 43"/>
          <p:cNvSpPr txBox="1"/>
          <p:nvPr/>
        </p:nvSpPr>
        <p:spPr>
          <a:xfrm>
            <a:off x="8280197" y="5486400"/>
            <a:ext cx="3179978" cy="566928"/>
          </a:xfrm>
          <a:prstGeom prst="rect">
            <a:avLst/>
          </a:prstGeom>
          <a:noFill/>
          <a:ln/>
        </p:spPr>
        <p:txBody>
          <a:bodyPr wrap="square" lIns="0" tIns="0" rIns="0" bIns="0" rtlCol="0" anchor="ctr"/>
          <a:lstStyle/>
          <a:p>
            <a:pPr indent="0" marL="0">
              <a:buNone/>
            </a:pPr>
            <a:r>
              <a:rPr lang="en-US" sz="1400" dirty="0">
                <a:solidFill>
                  <a:schemeClr val="bg2"/>
                </a:solidFill>
              </a:rPr>
              <a:t>GitHub never holds cluster credentials</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04 · DOCKER IMAGE</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Small images that run as non-root</a:t>
            </a:r>
            <a:endParaRPr lang="en-US" sz="3600" dirty="0"/>
          </a:p>
        </p:txBody>
      </p:sp>
      <p:sp>
        <p:nvSpPr>
          <p:cNvPr id="4" name="Before image card"/>
          <p:cNvSpPr/>
          <p:nvPr/>
        </p:nvSpPr>
        <p:spPr>
          <a:xfrm>
            <a:off x="548640" y="1691640"/>
            <a:ext cx="5321808" cy="2148840"/>
          </a:xfrm>
          <a:prstGeom prst="roundRect">
            <a:avLst>
              <a:gd name="adj" fmla="val 4255"/>
            </a:avLst>
          </a:prstGeom>
          <a:solidFill>
            <a:schemeClr val="tx2"/>
          </a:solidFill>
          <a:ln w="9525">
            <a:solidFill>
              <a:schemeClr val="accent6"/>
            </a:solidFill>
            <a:prstDash val="solid"/>
          </a:ln>
        </p:spPr>
      </p:sp>
      <p:sp>
        <p:nvSpPr>
          <p:cNvPr id="5" name="Text 3"/>
          <p:cNvSpPr txBox="1"/>
          <p:nvPr/>
        </p:nvSpPr>
        <p:spPr>
          <a:xfrm>
            <a:off x="822960" y="1874520"/>
            <a:ext cx="4754880" cy="320040"/>
          </a:xfrm>
          <a:prstGeom prst="rect">
            <a:avLst/>
          </a:prstGeom>
          <a:noFill/>
          <a:ln/>
        </p:spPr>
        <p:txBody>
          <a:bodyPr wrap="square" lIns="0" tIns="0" rIns="0" bIns="0" rtlCol="0" anchor="t"/>
          <a:lstStyle/>
          <a:p>
            <a:pPr indent="0" marL="0">
              <a:buNone/>
            </a:pPr>
            <a:r>
              <a:rPr lang="en-US" sz="1300" b="1" spc="100" kern="0" dirty="0">
                <a:solidFill>
                  <a:schemeClr val="accent4"/>
                </a:solidFill>
              </a:rPr>
              <a:t>BEFORE · Debian slim</a:t>
            </a:r>
            <a:endParaRPr lang="en-US" sz="1300" dirty="0"/>
          </a:p>
        </p:txBody>
      </p:sp>
      <p:sp>
        <p:nvSpPr>
          <p:cNvPr id="6" name="Text 4"/>
          <p:cNvSpPr txBox="1"/>
          <p:nvPr/>
        </p:nvSpPr>
        <p:spPr>
          <a:xfrm>
            <a:off x="822960" y="2212848"/>
            <a:ext cx="2194560" cy="777240"/>
          </a:xfrm>
          <a:prstGeom prst="rect">
            <a:avLst/>
          </a:prstGeom>
          <a:noFill/>
          <a:ln/>
        </p:spPr>
        <p:txBody>
          <a:bodyPr wrap="square" lIns="0" tIns="0" rIns="0" bIns="0" rtlCol="0" anchor="ctr"/>
          <a:lstStyle/>
          <a:p>
            <a:pPr indent="0" marL="0">
              <a:buNone/>
            </a:pPr>
            <a:r>
              <a:rPr lang="en-US" sz="4400" b="1" dirty="0">
                <a:solidFill>
                  <a:schemeClr val="accent4"/>
                </a:solidFill>
              </a:rPr>
              <a:t>306 MB</a:t>
            </a:r>
            <a:endParaRPr lang="en-US" sz="4400" dirty="0"/>
          </a:p>
        </p:txBody>
      </p:sp>
      <p:sp>
        <p:nvSpPr>
          <p:cNvPr id="7" name="Text 5"/>
          <p:cNvSpPr txBox="1"/>
          <p:nvPr/>
        </p:nvSpPr>
        <p:spPr>
          <a:xfrm>
            <a:off x="3063240" y="2240280"/>
            <a:ext cx="2560320" cy="1417320"/>
          </a:xfrm>
          <a:prstGeom prst="rect">
            <a:avLst/>
          </a:prstGeom>
          <a:noFill/>
          <a:ln/>
        </p:spPr>
        <p:txBody>
          <a:bodyPr wrap="square" lIns="0" tIns="0" rIns="0" bIns="0" rtlCol="0" anchor="ctr"/>
          <a:lstStyle/>
          <a:p>
            <a:pPr indent="0" marL="0">
              <a:buNone/>
            </a:pPr>
            <a:r>
              <a:rPr lang="en-US" sz="1400" dirty="0">
                <a:solidFill>
                  <a:schemeClr val="accent5"/>
                </a:solidFill>
              </a:rPr>
              <a:t>44 HIGH CVEs Debian hasn't fixed, in util‑linux, perl, ncurses and systemd</a:t>
            </a:r>
            <a:endParaRPr lang="en-US" sz="1400" dirty="0"/>
          </a:p>
        </p:txBody>
      </p:sp>
      <p:sp>
        <p:nvSpPr>
          <p:cNvPr id="8" name="After image card"/>
          <p:cNvSpPr/>
          <p:nvPr/>
        </p:nvSpPr>
        <p:spPr>
          <a:xfrm>
            <a:off x="6327648" y="1691640"/>
            <a:ext cx="5321808" cy="2148840"/>
          </a:xfrm>
          <a:prstGeom prst="roundRect">
            <a:avLst>
              <a:gd name="adj" fmla="val 4255"/>
            </a:avLst>
          </a:prstGeom>
          <a:solidFill>
            <a:schemeClr val="tx2"/>
          </a:solidFill>
          <a:ln w="9525">
            <a:solidFill>
              <a:schemeClr val="accent6"/>
            </a:solidFill>
            <a:prstDash val="solid"/>
          </a:ln>
        </p:spPr>
      </p:sp>
      <p:sp>
        <p:nvSpPr>
          <p:cNvPr id="9" name="Text 7"/>
          <p:cNvSpPr txBox="1"/>
          <p:nvPr/>
        </p:nvSpPr>
        <p:spPr>
          <a:xfrm>
            <a:off x="6601968" y="1874520"/>
            <a:ext cx="4754880" cy="320040"/>
          </a:xfrm>
          <a:prstGeom prst="rect">
            <a:avLst/>
          </a:prstGeom>
          <a:noFill/>
          <a:ln/>
        </p:spPr>
        <p:txBody>
          <a:bodyPr wrap="square" lIns="0" tIns="0" rIns="0" bIns="0" rtlCol="0" anchor="t"/>
          <a:lstStyle/>
          <a:p>
            <a:pPr indent="0" marL="0">
              <a:buNone/>
            </a:pPr>
            <a:r>
              <a:rPr lang="en-US" sz="1300" b="1" spc="100" kern="0" dirty="0">
                <a:solidFill>
                  <a:schemeClr val="accent2"/>
                </a:solidFill>
              </a:rPr>
              <a:t>AFTER · Alpine</a:t>
            </a:r>
            <a:endParaRPr lang="en-US" sz="1300" dirty="0"/>
          </a:p>
        </p:txBody>
      </p:sp>
      <p:sp>
        <p:nvSpPr>
          <p:cNvPr id="10" name="Text 8"/>
          <p:cNvSpPr txBox="1"/>
          <p:nvPr/>
        </p:nvSpPr>
        <p:spPr>
          <a:xfrm>
            <a:off x="6601968" y="2212848"/>
            <a:ext cx="2194560" cy="777240"/>
          </a:xfrm>
          <a:prstGeom prst="rect">
            <a:avLst/>
          </a:prstGeom>
          <a:noFill/>
          <a:ln/>
        </p:spPr>
        <p:txBody>
          <a:bodyPr wrap="square" lIns="0" tIns="0" rIns="0" bIns="0" rtlCol="0" anchor="ctr"/>
          <a:lstStyle/>
          <a:p>
            <a:pPr indent="0" marL="0">
              <a:buNone/>
            </a:pPr>
            <a:r>
              <a:rPr lang="en-US" sz="4400" b="1" dirty="0">
                <a:solidFill>
                  <a:schemeClr val="accent2"/>
                </a:solidFill>
              </a:rPr>
              <a:t>178 MB</a:t>
            </a:r>
            <a:endParaRPr lang="en-US" sz="4400" dirty="0"/>
          </a:p>
        </p:txBody>
      </p:sp>
      <p:sp>
        <p:nvSpPr>
          <p:cNvPr id="11" name="Text 9"/>
          <p:cNvSpPr txBox="1"/>
          <p:nvPr/>
        </p:nvSpPr>
        <p:spPr>
          <a:xfrm>
            <a:off x="8842248" y="2240280"/>
            <a:ext cx="2560320" cy="1417320"/>
          </a:xfrm>
          <a:prstGeom prst="rect">
            <a:avLst/>
          </a:prstGeom>
          <a:noFill/>
          <a:ln/>
        </p:spPr>
        <p:txBody>
          <a:bodyPr wrap="square" lIns="0" tIns="0" rIns="0" bIns="0" rtlCol="0" anchor="ctr"/>
          <a:lstStyle/>
          <a:p>
            <a:pPr indent="0" marL="0">
              <a:buNone/>
            </a:pPr>
            <a:r>
              <a:rPr lang="en-US" sz="1400" dirty="0">
                <a:solidFill>
                  <a:schemeClr val="accent5"/>
                </a:solidFill>
              </a:rPr>
              <a:t>0 vulnerabilities at any severity, in amd64 and arm64</a:t>
            </a:r>
            <a:endParaRPr lang="en-US" sz="1400" dirty="0"/>
          </a:p>
        </p:txBody>
      </p:sp>
      <p:sp>
        <p:nvSpPr>
          <p:cNvPr id="12" name="Shape 10"/>
          <p:cNvSpPr/>
          <p:nvPr/>
        </p:nvSpPr>
        <p:spPr>
          <a:xfrm>
            <a:off x="5916168" y="2761488"/>
            <a:ext cx="329184" cy="0"/>
          </a:xfrm>
          <a:prstGeom prst="line">
            <a:avLst/>
          </a:prstGeom>
          <a:noFill/>
          <a:ln w="25400">
            <a:solidFill>
              <a:schemeClr val="accent1"/>
            </a:solidFill>
            <a:prstDash val="solid"/>
            <a:tailEnd type="triangle"/>
          </a:ln>
        </p:spPr>
      </p:sp>
      <p:sp>
        <p:nvSpPr>
          <p:cNvPr id="13" name="Practice 1 mark"/>
          <p:cNvSpPr/>
          <p:nvPr/>
        </p:nvSpPr>
        <p:spPr>
          <a:xfrm>
            <a:off x="548640" y="4224528"/>
            <a:ext cx="292608" cy="292608"/>
          </a:xfrm>
          <a:prstGeom prst="ellipse">
            <a:avLst/>
          </a:prstGeom>
          <a:solidFill>
            <a:schemeClr val="tx1"/>
          </a:solidFill>
          <a:ln w="19050">
            <a:solidFill>
              <a:schemeClr val="accent2"/>
            </a:solidFill>
            <a:prstDash val="solid"/>
          </a:ln>
        </p:spPr>
      </p:sp>
      <p:sp>
        <p:nvSpPr>
          <p:cNvPr id="14" name="Text 12"/>
          <p:cNvSpPr txBox="1"/>
          <p:nvPr/>
        </p:nvSpPr>
        <p:spPr>
          <a:xfrm>
            <a:off x="548640" y="4224528"/>
            <a:ext cx="292608" cy="292608"/>
          </a:xfrm>
          <a:prstGeom prst="rect">
            <a:avLst/>
          </a:prstGeom>
          <a:noFill/>
          <a:ln/>
        </p:spPr>
        <p:txBody>
          <a:bodyPr wrap="square" lIns="0" tIns="0" rIns="0" bIns="0" rtlCol="0" anchor="ctr"/>
          <a:lstStyle/>
          <a:p>
            <a:pPr algn="ctr" indent="0" marL="0">
              <a:buNone/>
            </a:pPr>
            <a:r>
              <a:rPr lang="en-US" sz="1200" b="1" dirty="0">
                <a:solidFill>
                  <a:schemeClr val="accent2"/>
                </a:solidFill>
              </a:rPr>
              <a:t>✓</a:t>
            </a:r>
            <a:endParaRPr lang="en-US" sz="1200" dirty="0"/>
          </a:p>
        </p:txBody>
      </p:sp>
      <p:sp>
        <p:nvSpPr>
          <p:cNvPr id="15" name="Text 13"/>
          <p:cNvSpPr txBox="1"/>
          <p:nvPr/>
        </p:nvSpPr>
        <p:spPr>
          <a:xfrm>
            <a:off x="1005840" y="4114800"/>
            <a:ext cx="4975708" cy="512064"/>
          </a:xfrm>
          <a:prstGeom prst="rect">
            <a:avLst/>
          </a:prstGeom>
          <a:noFill/>
          <a:ln/>
        </p:spPr>
        <p:txBody>
          <a:bodyPr wrap="square" lIns="0" tIns="0" rIns="0" bIns="0" rtlCol="0" anchor="ctr"/>
          <a:lstStyle/>
          <a:p>
            <a:pPr indent="0" marL="0">
              <a:buNone/>
            </a:pPr>
            <a:r>
              <a:rPr lang="en-US" sz="1500" dirty="0">
                <a:solidFill>
                  <a:schemeClr val="bg2"/>
                </a:solidFill>
              </a:rPr>
              <a:t>Multi‑stage builds: no compilers at runtime</a:t>
            </a:r>
            <a:endParaRPr lang="en-US" sz="1500" dirty="0"/>
          </a:p>
        </p:txBody>
      </p:sp>
      <p:sp>
        <p:nvSpPr>
          <p:cNvPr id="16" name="Practice 2 mark"/>
          <p:cNvSpPr/>
          <p:nvPr/>
        </p:nvSpPr>
        <p:spPr>
          <a:xfrm>
            <a:off x="6210148" y="4224528"/>
            <a:ext cx="292608" cy="292608"/>
          </a:xfrm>
          <a:prstGeom prst="ellipse">
            <a:avLst/>
          </a:prstGeom>
          <a:solidFill>
            <a:schemeClr val="tx1"/>
          </a:solidFill>
          <a:ln w="19050">
            <a:solidFill>
              <a:schemeClr val="accent2"/>
            </a:solidFill>
            <a:prstDash val="solid"/>
          </a:ln>
        </p:spPr>
      </p:sp>
      <p:sp>
        <p:nvSpPr>
          <p:cNvPr id="17" name="Text 15"/>
          <p:cNvSpPr txBox="1"/>
          <p:nvPr/>
        </p:nvSpPr>
        <p:spPr>
          <a:xfrm>
            <a:off x="6210148" y="4224528"/>
            <a:ext cx="292608" cy="292608"/>
          </a:xfrm>
          <a:prstGeom prst="rect">
            <a:avLst/>
          </a:prstGeom>
          <a:noFill/>
          <a:ln/>
        </p:spPr>
        <p:txBody>
          <a:bodyPr wrap="square" lIns="0" tIns="0" rIns="0" bIns="0" rtlCol="0" anchor="ctr"/>
          <a:lstStyle/>
          <a:p>
            <a:pPr algn="ctr" indent="0" marL="0">
              <a:buNone/>
            </a:pPr>
            <a:r>
              <a:rPr lang="en-US" sz="1200" b="1" dirty="0">
                <a:solidFill>
                  <a:schemeClr val="accent2"/>
                </a:solidFill>
              </a:rPr>
              <a:t>✓</a:t>
            </a:r>
            <a:endParaRPr lang="en-US" sz="1200" dirty="0"/>
          </a:p>
        </p:txBody>
      </p:sp>
      <p:sp>
        <p:nvSpPr>
          <p:cNvPr id="18" name="Text 16"/>
          <p:cNvSpPr txBox="1"/>
          <p:nvPr/>
        </p:nvSpPr>
        <p:spPr>
          <a:xfrm>
            <a:off x="6667348" y="4114800"/>
            <a:ext cx="4975708" cy="512064"/>
          </a:xfrm>
          <a:prstGeom prst="rect">
            <a:avLst/>
          </a:prstGeom>
          <a:noFill/>
          <a:ln/>
        </p:spPr>
        <p:txBody>
          <a:bodyPr wrap="square" lIns="0" tIns="0" rIns="0" bIns="0" rtlCol="0" anchor="ctr"/>
          <a:lstStyle/>
          <a:p>
            <a:pPr indent="0" marL="0">
              <a:buNone/>
            </a:pPr>
            <a:r>
              <a:rPr lang="en-US" sz="1500" dirty="0">
                <a:solidFill>
                  <a:schemeClr val="bg2"/>
                </a:solidFill>
              </a:rPr>
              <a:t>Non‑root users: 10001 backend, 101 frontend, 10002 simulator</a:t>
            </a:r>
            <a:endParaRPr lang="en-US" sz="1500" dirty="0"/>
          </a:p>
        </p:txBody>
      </p:sp>
      <p:sp>
        <p:nvSpPr>
          <p:cNvPr id="19" name="Practice 3 mark"/>
          <p:cNvSpPr/>
          <p:nvPr/>
        </p:nvSpPr>
        <p:spPr>
          <a:xfrm>
            <a:off x="548640" y="4882896"/>
            <a:ext cx="292608" cy="292608"/>
          </a:xfrm>
          <a:prstGeom prst="ellipse">
            <a:avLst/>
          </a:prstGeom>
          <a:solidFill>
            <a:schemeClr val="tx1"/>
          </a:solidFill>
          <a:ln w="19050">
            <a:solidFill>
              <a:schemeClr val="accent2"/>
            </a:solidFill>
            <a:prstDash val="solid"/>
          </a:ln>
        </p:spPr>
      </p:sp>
      <p:sp>
        <p:nvSpPr>
          <p:cNvPr id="20" name="Text 18"/>
          <p:cNvSpPr txBox="1"/>
          <p:nvPr/>
        </p:nvSpPr>
        <p:spPr>
          <a:xfrm>
            <a:off x="548640" y="4882896"/>
            <a:ext cx="292608" cy="292608"/>
          </a:xfrm>
          <a:prstGeom prst="rect">
            <a:avLst/>
          </a:prstGeom>
          <a:noFill/>
          <a:ln/>
        </p:spPr>
        <p:txBody>
          <a:bodyPr wrap="square" lIns="0" tIns="0" rIns="0" bIns="0" rtlCol="0" anchor="ctr"/>
          <a:lstStyle/>
          <a:p>
            <a:pPr algn="ctr" indent="0" marL="0">
              <a:buNone/>
            </a:pPr>
            <a:r>
              <a:rPr lang="en-US" sz="1200" b="1" dirty="0">
                <a:solidFill>
                  <a:schemeClr val="accent2"/>
                </a:solidFill>
              </a:rPr>
              <a:t>✓</a:t>
            </a:r>
            <a:endParaRPr lang="en-US" sz="1200" dirty="0"/>
          </a:p>
        </p:txBody>
      </p:sp>
      <p:sp>
        <p:nvSpPr>
          <p:cNvPr id="21" name="Text 19"/>
          <p:cNvSpPr txBox="1"/>
          <p:nvPr/>
        </p:nvSpPr>
        <p:spPr>
          <a:xfrm>
            <a:off x="1005840" y="4773168"/>
            <a:ext cx="4975708" cy="512064"/>
          </a:xfrm>
          <a:prstGeom prst="rect">
            <a:avLst/>
          </a:prstGeom>
          <a:noFill/>
          <a:ln/>
        </p:spPr>
        <p:txBody>
          <a:bodyPr wrap="square" lIns="0" tIns="0" rIns="0" bIns="0" rtlCol="0" anchor="ctr"/>
          <a:lstStyle/>
          <a:p>
            <a:pPr indent="0" marL="0">
              <a:buNone/>
            </a:pPr>
            <a:r>
              <a:rPr lang="en-US" sz="1500" dirty="0">
                <a:solidFill>
                  <a:schemeClr val="bg2"/>
                </a:solidFill>
              </a:rPr>
              <a:t>No pip in the Python runtime images</a:t>
            </a:r>
            <a:endParaRPr lang="en-US" sz="1500" dirty="0"/>
          </a:p>
        </p:txBody>
      </p:sp>
      <p:sp>
        <p:nvSpPr>
          <p:cNvPr id="22" name="Practice 4 mark"/>
          <p:cNvSpPr/>
          <p:nvPr/>
        </p:nvSpPr>
        <p:spPr>
          <a:xfrm>
            <a:off x="6210148" y="4882896"/>
            <a:ext cx="292608" cy="292608"/>
          </a:xfrm>
          <a:prstGeom prst="ellipse">
            <a:avLst/>
          </a:prstGeom>
          <a:solidFill>
            <a:schemeClr val="tx1"/>
          </a:solidFill>
          <a:ln w="19050">
            <a:solidFill>
              <a:schemeClr val="accent2"/>
            </a:solidFill>
            <a:prstDash val="solid"/>
          </a:ln>
        </p:spPr>
      </p:sp>
      <p:sp>
        <p:nvSpPr>
          <p:cNvPr id="23" name="Text 21"/>
          <p:cNvSpPr txBox="1"/>
          <p:nvPr/>
        </p:nvSpPr>
        <p:spPr>
          <a:xfrm>
            <a:off x="6210148" y="4882896"/>
            <a:ext cx="292608" cy="292608"/>
          </a:xfrm>
          <a:prstGeom prst="rect">
            <a:avLst/>
          </a:prstGeom>
          <a:noFill/>
          <a:ln/>
        </p:spPr>
        <p:txBody>
          <a:bodyPr wrap="square" lIns="0" tIns="0" rIns="0" bIns="0" rtlCol="0" anchor="ctr"/>
          <a:lstStyle/>
          <a:p>
            <a:pPr algn="ctr" indent="0" marL="0">
              <a:buNone/>
            </a:pPr>
            <a:r>
              <a:rPr lang="en-US" sz="1200" b="1" dirty="0">
                <a:solidFill>
                  <a:schemeClr val="accent2"/>
                </a:solidFill>
              </a:rPr>
              <a:t>✓</a:t>
            </a:r>
            <a:endParaRPr lang="en-US" sz="1200" dirty="0"/>
          </a:p>
        </p:txBody>
      </p:sp>
      <p:sp>
        <p:nvSpPr>
          <p:cNvPr id="24" name="Text 22"/>
          <p:cNvSpPr txBox="1"/>
          <p:nvPr/>
        </p:nvSpPr>
        <p:spPr>
          <a:xfrm>
            <a:off x="6667348" y="4773168"/>
            <a:ext cx="4975708" cy="512064"/>
          </a:xfrm>
          <a:prstGeom prst="rect">
            <a:avLst/>
          </a:prstGeom>
          <a:noFill/>
          <a:ln/>
        </p:spPr>
        <p:txBody>
          <a:bodyPr wrap="square" lIns="0" tIns="0" rIns="0" bIns="0" rtlCol="0" anchor="ctr"/>
          <a:lstStyle/>
          <a:p>
            <a:pPr indent="0" marL="0">
              <a:buNone/>
            </a:pPr>
            <a:r>
              <a:rPr lang="en-US" sz="1500" dirty="0">
                <a:solidFill>
                  <a:schemeClr val="bg2"/>
                </a:solidFill>
              </a:rPr>
              <a:t>Read-only root filesystem, all capabilities dropped</a:t>
            </a:r>
            <a:endParaRPr lang="en-US" sz="1500" dirty="0"/>
          </a:p>
        </p:txBody>
      </p:sp>
      <p:sp>
        <p:nvSpPr>
          <p:cNvPr id="25" name="Practice 5 mark"/>
          <p:cNvSpPr/>
          <p:nvPr/>
        </p:nvSpPr>
        <p:spPr>
          <a:xfrm>
            <a:off x="548640" y="5541264"/>
            <a:ext cx="292608" cy="292608"/>
          </a:xfrm>
          <a:prstGeom prst="ellipse">
            <a:avLst/>
          </a:prstGeom>
          <a:solidFill>
            <a:schemeClr val="tx1"/>
          </a:solidFill>
          <a:ln w="19050">
            <a:solidFill>
              <a:schemeClr val="accent2"/>
            </a:solidFill>
            <a:prstDash val="solid"/>
          </a:ln>
        </p:spPr>
      </p:sp>
      <p:sp>
        <p:nvSpPr>
          <p:cNvPr id="26" name="Text 24"/>
          <p:cNvSpPr txBox="1"/>
          <p:nvPr/>
        </p:nvSpPr>
        <p:spPr>
          <a:xfrm>
            <a:off x="548640" y="5541264"/>
            <a:ext cx="292608" cy="292608"/>
          </a:xfrm>
          <a:prstGeom prst="rect">
            <a:avLst/>
          </a:prstGeom>
          <a:noFill/>
          <a:ln/>
        </p:spPr>
        <p:txBody>
          <a:bodyPr wrap="square" lIns="0" tIns="0" rIns="0" bIns="0" rtlCol="0" anchor="ctr"/>
          <a:lstStyle/>
          <a:p>
            <a:pPr algn="ctr" indent="0" marL="0">
              <a:buNone/>
            </a:pPr>
            <a:r>
              <a:rPr lang="en-US" sz="1200" b="1" dirty="0">
                <a:solidFill>
                  <a:schemeClr val="accent2"/>
                </a:solidFill>
              </a:rPr>
              <a:t>✓</a:t>
            </a:r>
            <a:endParaRPr lang="en-US" sz="1200" dirty="0"/>
          </a:p>
        </p:txBody>
      </p:sp>
      <p:sp>
        <p:nvSpPr>
          <p:cNvPr id="27" name="Text 25"/>
          <p:cNvSpPr txBox="1"/>
          <p:nvPr/>
        </p:nvSpPr>
        <p:spPr>
          <a:xfrm>
            <a:off x="1005840" y="5431536"/>
            <a:ext cx="4975708" cy="512064"/>
          </a:xfrm>
          <a:prstGeom prst="rect">
            <a:avLst/>
          </a:prstGeom>
          <a:noFill/>
          <a:ln/>
        </p:spPr>
        <p:txBody>
          <a:bodyPr wrap="square" lIns="0" tIns="0" rIns="0" bIns="0" rtlCol="0" anchor="ctr"/>
          <a:lstStyle/>
          <a:p>
            <a:pPr indent="0" marL="0">
              <a:buNone/>
            </a:pPr>
            <a:r>
              <a:rPr lang="en-US" sz="1500" dirty="0">
                <a:solidFill>
                  <a:schemeClr val="bg2"/>
                </a:solidFill>
              </a:rPr>
              <a:t>Health checks in every image</a:t>
            </a:r>
            <a:endParaRPr lang="en-US" sz="1500" dirty="0"/>
          </a:p>
        </p:txBody>
      </p:sp>
      <p:sp>
        <p:nvSpPr>
          <p:cNvPr id="28" name="Practice 6 mark"/>
          <p:cNvSpPr/>
          <p:nvPr/>
        </p:nvSpPr>
        <p:spPr>
          <a:xfrm>
            <a:off x="6210148" y="5541264"/>
            <a:ext cx="292608" cy="292608"/>
          </a:xfrm>
          <a:prstGeom prst="ellipse">
            <a:avLst/>
          </a:prstGeom>
          <a:solidFill>
            <a:schemeClr val="tx1"/>
          </a:solidFill>
          <a:ln w="19050">
            <a:solidFill>
              <a:schemeClr val="accent2"/>
            </a:solidFill>
            <a:prstDash val="solid"/>
          </a:ln>
        </p:spPr>
      </p:sp>
      <p:sp>
        <p:nvSpPr>
          <p:cNvPr id="29" name="Text 27"/>
          <p:cNvSpPr txBox="1"/>
          <p:nvPr/>
        </p:nvSpPr>
        <p:spPr>
          <a:xfrm>
            <a:off x="6210148" y="5541264"/>
            <a:ext cx="292608" cy="292608"/>
          </a:xfrm>
          <a:prstGeom prst="rect">
            <a:avLst/>
          </a:prstGeom>
          <a:noFill/>
          <a:ln/>
        </p:spPr>
        <p:txBody>
          <a:bodyPr wrap="square" lIns="0" tIns="0" rIns="0" bIns="0" rtlCol="0" anchor="ctr"/>
          <a:lstStyle/>
          <a:p>
            <a:pPr algn="ctr" indent="0" marL="0">
              <a:buNone/>
            </a:pPr>
            <a:r>
              <a:rPr lang="en-US" sz="1200" b="1" dirty="0">
                <a:solidFill>
                  <a:schemeClr val="accent2"/>
                </a:solidFill>
              </a:rPr>
              <a:t>✓</a:t>
            </a:r>
            <a:endParaRPr lang="en-US" sz="1200" dirty="0"/>
          </a:p>
        </p:txBody>
      </p:sp>
      <p:sp>
        <p:nvSpPr>
          <p:cNvPr id="30" name="Text 28"/>
          <p:cNvSpPr txBox="1"/>
          <p:nvPr/>
        </p:nvSpPr>
        <p:spPr>
          <a:xfrm>
            <a:off x="6667348" y="5431536"/>
            <a:ext cx="4975708" cy="512064"/>
          </a:xfrm>
          <a:prstGeom prst="rect">
            <a:avLst/>
          </a:prstGeom>
          <a:noFill/>
          <a:ln/>
        </p:spPr>
        <p:txBody>
          <a:bodyPr wrap="square" lIns="0" tIns="0" rIns="0" bIns="0" rtlCol="0" anchor="ctr"/>
          <a:lstStyle/>
          <a:p>
            <a:pPr indent="0" marL="0">
              <a:buNone/>
            </a:pPr>
            <a:r>
              <a:rPr lang="en-US" sz="1500" dirty="0">
                <a:solidFill>
                  <a:schemeClr val="bg2"/>
                </a:solidFill>
              </a:rPr>
              <a:t>Compose: Postgres → one‑shot migrate → backend → frontend</a:t>
            </a:r>
            <a:endParaRPr lang="en-US" sz="15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05–06 · SECURITY SCAN AND REGISTRY</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The Trivy gate earned its place</a:t>
            </a:r>
            <a:endParaRPr lang="en-US" sz="3600" dirty="0"/>
          </a:p>
        </p:txBody>
      </p:sp>
      <p:sp>
        <p:nvSpPr>
          <p:cNvPr id="4" name="Gate step 1"/>
          <p:cNvSpPr/>
          <p:nvPr/>
        </p:nvSpPr>
        <p:spPr>
          <a:xfrm>
            <a:off x="548640" y="1737360"/>
            <a:ext cx="457200" cy="457200"/>
          </a:xfrm>
          <a:prstGeom prst="ellipse">
            <a:avLst/>
          </a:prstGeom>
          <a:solidFill>
            <a:schemeClr val="tx1"/>
          </a:solidFill>
          <a:ln w="19050">
            <a:solidFill>
              <a:schemeClr val="accent4"/>
            </a:solidFill>
            <a:prstDash val="solid"/>
          </a:ln>
        </p:spPr>
      </p:sp>
      <p:sp>
        <p:nvSpPr>
          <p:cNvPr id="5" name="Gate step 1 label"/>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400" b="1" dirty="0">
                <a:solidFill>
                  <a:schemeClr val="accent4"/>
                </a:solidFill>
              </a:rPr>
              <a:t>1</a:t>
            </a:r>
            <a:endParaRPr lang="en-US" sz="1400" dirty="0"/>
          </a:p>
        </p:txBody>
      </p:sp>
      <p:sp>
        <p:nvSpPr>
          <p:cNvPr id="6" name="Gate step 1 connector"/>
          <p:cNvSpPr/>
          <p:nvPr/>
        </p:nvSpPr>
        <p:spPr>
          <a:xfrm>
            <a:off x="777240" y="2240280"/>
            <a:ext cx="0" cy="978408"/>
          </a:xfrm>
          <a:prstGeom prst="line">
            <a:avLst/>
          </a:prstGeom>
          <a:noFill/>
          <a:ln w="19050">
            <a:solidFill>
              <a:schemeClr val="accent6"/>
            </a:solidFill>
            <a:prstDash val="solid"/>
          </a:ln>
        </p:spPr>
      </p:sp>
      <p:sp>
        <p:nvSpPr>
          <p:cNvPr id="7" name="Text 5"/>
          <p:cNvSpPr txBox="1"/>
          <p:nvPr/>
        </p:nvSpPr>
        <p:spPr>
          <a:xfrm>
            <a:off x="1234440" y="1737360"/>
            <a:ext cx="4343400" cy="365760"/>
          </a:xfrm>
          <a:prstGeom prst="rect">
            <a:avLst/>
          </a:prstGeom>
          <a:noFill/>
          <a:ln/>
        </p:spPr>
        <p:txBody>
          <a:bodyPr wrap="square" lIns="0" tIns="0" rIns="0" bIns="0" rtlCol="0" anchor="t"/>
          <a:lstStyle/>
          <a:p>
            <a:pPr indent="0" marL="0">
              <a:buNone/>
            </a:pPr>
            <a:r>
              <a:rPr lang="en-US" sz="1700" b="1" dirty="0">
                <a:solidFill>
                  <a:schemeClr val="accent4"/>
                </a:solidFill>
              </a:rPr>
              <a:t>Run 1: blocked</a:t>
            </a:r>
            <a:endParaRPr lang="en-US" sz="1700" dirty="0"/>
          </a:p>
        </p:txBody>
      </p:sp>
      <p:sp>
        <p:nvSpPr>
          <p:cNvPr id="8" name="Text 6"/>
          <p:cNvSpPr txBox="1"/>
          <p:nvPr/>
        </p:nvSpPr>
        <p:spPr>
          <a:xfrm>
            <a:off x="1234440" y="2130552"/>
            <a:ext cx="4343400" cy="960120"/>
          </a:xfrm>
          <a:prstGeom prst="rect">
            <a:avLst/>
          </a:prstGeom>
          <a:noFill/>
          <a:ln/>
        </p:spPr>
        <p:txBody>
          <a:bodyPr wrap="square" lIns="0" tIns="0" rIns="0" bIns="0" rtlCol="0" anchor="t"/>
          <a:lstStyle/>
          <a:p>
            <a:pPr indent="0" marL="0">
              <a:buNone/>
            </a:pPr>
            <a:r>
              <a:rPr lang="en-US" sz="1400" dirty="0">
                <a:solidFill>
                  <a:schemeClr val="accent5"/>
                </a:solidFill>
              </a:rPr>
              <a:t>Trivy stopped the backend and simulator: 4 HIGH CVEs in the urllib3, msgpack and setuptools code that pip bundles inside itself.</a:t>
            </a:r>
            <a:endParaRPr lang="en-US" sz="1400" dirty="0"/>
          </a:p>
        </p:txBody>
      </p:sp>
      <p:sp>
        <p:nvSpPr>
          <p:cNvPr id="9" name="Gate step 2"/>
          <p:cNvSpPr/>
          <p:nvPr/>
        </p:nvSpPr>
        <p:spPr>
          <a:xfrm>
            <a:off x="548640" y="3218688"/>
            <a:ext cx="457200" cy="457200"/>
          </a:xfrm>
          <a:prstGeom prst="ellipse">
            <a:avLst/>
          </a:prstGeom>
          <a:solidFill>
            <a:schemeClr val="tx1"/>
          </a:solidFill>
          <a:ln w="19050">
            <a:solidFill>
              <a:schemeClr val="accent3"/>
            </a:solidFill>
            <a:prstDash val="solid"/>
          </a:ln>
        </p:spPr>
      </p:sp>
      <p:sp>
        <p:nvSpPr>
          <p:cNvPr id="10" name="Gate step 2 label"/>
          <p:cNvSpPr txBox="1"/>
          <p:nvPr/>
        </p:nvSpPr>
        <p:spPr>
          <a:xfrm>
            <a:off x="548640" y="3218688"/>
            <a:ext cx="457200" cy="457200"/>
          </a:xfrm>
          <a:prstGeom prst="rect">
            <a:avLst/>
          </a:prstGeom>
          <a:noFill/>
          <a:ln/>
        </p:spPr>
        <p:txBody>
          <a:bodyPr wrap="square" lIns="0" tIns="0" rIns="0" bIns="0" rtlCol="0" anchor="ctr"/>
          <a:lstStyle/>
          <a:p>
            <a:pPr algn="ctr" indent="0" marL="0">
              <a:buNone/>
            </a:pPr>
            <a:r>
              <a:rPr lang="en-US" sz="1400" b="1" dirty="0">
                <a:solidFill>
                  <a:schemeClr val="accent3"/>
                </a:solidFill>
              </a:rPr>
              <a:t>2</a:t>
            </a:r>
            <a:endParaRPr lang="en-US" sz="1400" dirty="0"/>
          </a:p>
        </p:txBody>
      </p:sp>
      <p:sp>
        <p:nvSpPr>
          <p:cNvPr id="11" name="Gate step 2 connector"/>
          <p:cNvSpPr/>
          <p:nvPr/>
        </p:nvSpPr>
        <p:spPr>
          <a:xfrm>
            <a:off x="777240" y="3721608"/>
            <a:ext cx="0" cy="978408"/>
          </a:xfrm>
          <a:prstGeom prst="line">
            <a:avLst/>
          </a:prstGeom>
          <a:noFill/>
          <a:ln w="19050">
            <a:solidFill>
              <a:schemeClr val="accent6"/>
            </a:solidFill>
            <a:prstDash val="solid"/>
          </a:ln>
        </p:spPr>
      </p:sp>
      <p:sp>
        <p:nvSpPr>
          <p:cNvPr id="12" name="Text 10"/>
          <p:cNvSpPr txBox="1"/>
          <p:nvPr/>
        </p:nvSpPr>
        <p:spPr>
          <a:xfrm>
            <a:off x="1234440" y="3218688"/>
            <a:ext cx="4343400" cy="365760"/>
          </a:xfrm>
          <a:prstGeom prst="rect">
            <a:avLst/>
          </a:prstGeom>
          <a:noFill/>
          <a:ln/>
        </p:spPr>
        <p:txBody>
          <a:bodyPr wrap="square" lIns="0" tIns="0" rIns="0" bIns="0" rtlCol="0" anchor="t"/>
          <a:lstStyle/>
          <a:p>
            <a:pPr indent="0" marL="0">
              <a:buNone/>
            </a:pPr>
            <a:r>
              <a:rPr lang="en-US" sz="1700" b="1" dirty="0">
                <a:solidFill>
                  <a:schemeClr val="accent3"/>
                </a:solidFill>
              </a:rPr>
              <a:t>Fix, not suppress</a:t>
            </a:r>
            <a:endParaRPr lang="en-US" sz="1700" dirty="0"/>
          </a:p>
        </p:txBody>
      </p:sp>
      <p:sp>
        <p:nvSpPr>
          <p:cNvPr id="13" name="Text 11"/>
          <p:cNvSpPr txBox="1"/>
          <p:nvPr/>
        </p:nvSpPr>
        <p:spPr>
          <a:xfrm>
            <a:off x="1234440" y="3611880"/>
            <a:ext cx="4343400" cy="960120"/>
          </a:xfrm>
          <a:prstGeom prst="rect">
            <a:avLst/>
          </a:prstGeom>
          <a:noFill/>
          <a:ln/>
        </p:spPr>
        <p:txBody>
          <a:bodyPr wrap="square" lIns="0" tIns="0" rIns="0" bIns="0" rtlCol="0" anchor="t"/>
          <a:lstStyle/>
          <a:p>
            <a:pPr indent="0" marL="0">
              <a:buNone/>
            </a:pPr>
            <a:r>
              <a:rPr lang="en-US" sz="1400" dirty="0">
                <a:solidFill>
                  <a:schemeClr val="accent5"/>
                </a:solidFill>
              </a:rPr>
              <a:t>Nothing installs packages at runtime, so pip and ensurepip were removed from the images. The next run passed.</a:t>
            </a:r>
            <a:endParaRPr lang="en-US" sz="1400" dirty="0"/>
          </a:p>
        </p:txBody>
      </p:sp>
      <p:sp>
        <p:nvSpPr>
          <p:cNvPr id="14" name="Gate step 3"/>
          <p:cNvSpPr/>
          <p:nvPr/>
        </p:nvSpPr>
        <p:spPr>
          <a:xfrm>
            <a:off x="548640" y="4700016"/>
            <a:ext cx="457200" cy="457200"/>
          </a:xfrm>
          <a:prstGeom prst="ellipse">
            <a:avLst/>
          </a:prstGeom>
          <a:solidFill>
            <a:schemeClr val="tx1"/>
          </a:solidFill>
          <a:ln w="19050">
            <a:solidFill>
              <a:schemeClr val="accent2"/>
            </a:solidFill>
            <a:prstDash val="solid"/>
          </a:ln>
        </p:spPr>
      </p:sp>
      <p:sp>
        <p:nvSpPr>
          <p:cNvPr id="15" name="Gate step 3 label"/>
          <p:cNvSpPr txBox="1"/>
          <p:nvPr/>
        </p:nvSpPr>
        <p:spPr>
          <a:xfrm>
            <a:off x="548640" y="4700016"/>
            <a:ext cx="457200" cy="457200"/>
          </a:xfrm>
          <a:prstGeom prst="rect">
            <a:avLst/>
          </a:prstGeom>
          <a:noFill/>
          <a:ln/>
        </p:spPr>
        <p:txBody>
          <a:bodyPr wrap="square" lIns="0" tIns="0" rIns="0" bIns="0" rtlCol="0" anchor="ctr"/>
          <a:lstStyle/>
          <a:p>
            <a:pPr algn="ctr" indent="0" marL="0">
              <a:buNone/>
            </a:pPr>
            <a:r>
              <a:rPr lang="en-US" sz="1400" b="1" dirty="0">
                <a:solidFill>
                  <a:schemeClr val="accent2"/>
                </a:solidFill>
              </a:rPr>
              <a:t>3</a:t>
            </a:r>
            <a:endParaRPr lang="en-US" sz="1400" dirty="0"/>
          </a:p>
        </p:txBody>
      </p:sp>
      <p:sp>
        <p:nvSpPr>
          <p:cNvPr id="16" name="Text 14"/>
          <p:cNvSpPr txBox="1"/>
          <p:nvPr/>
        </p:nvSpPr>
        <p:spPr>
          <a:xfrm>
            <a:off x="1234440" y="4700016"/>
            <a:ext cx="4343400" cy="365760"/>
          </a:xfrm>
          <a:prstGeom prst="rect">
            <a:avLst/>
          </a:prstGeom>
          <a:noFill/>
          <a:ln/>
        </p:spPr>
        <p:txBody>
          <a:bodyPr wrap="square" lIns="0" tIns="0" rIns="0" bIns="0" rtlCol="0" anchor="t"/>
          <a:lstStyle/>
          <a:p>
            <a:pPr indent="0" marL="0">
              <a:buNone/>
            </a:pPr>
            <a:r>
              <a:rPr lang="en-US" sz="1700" b="1" dirty="0">
                <a:solidFill>
                  <a:schemeClr val="accent2"/>
                </a:solidFill>
              </a:rPr>
              <a:t>Tightened</a:t>
            </a:r>
            <a:endParaRPr lang="en-US" sz="1700" dirty="0"/>
          </a:p>
        </p:txBody>
      </p:sp>
      <p:sp>
        <p:nvSpPr>
          <p:cNvPr id="17" name="Text 15"/>
          <p:cNvSpPr txBox="1"/>
          <p:nvPr/>
        </p:nvSpPr>
        <p:spPr>
          <a:xfrm>
            <a:off x="1234440" y="5093208"/>
            <a:ext cx="4343400" cy="960120"/>
          </a:xfrm>
          <a:prstGeom prst="rect">
            <a:avLst/>
          </a:prstGeom>
          <a:noFill/>
          <a:ln/>
        </p:spPr>
        <p:txBody>
          <a:bodyPr wrap="square" lIns="0" tIns="0" rIns="0" bIns="0" rtlCol="0" anchor="t"/>
          <a:lstStyle/>
          <a:p>
            <a:pPr indent="0" marL="0">
              <a:buNone/>
            </a:pPr>
            <a:r>
              <a:rPr lang="en-US" sz="1400" dirty="0">
                <a:solidFill>
                  <a:schemeClr val="accent5"/>
                </a:solidFill>
              </a:rPr>
              <a:t>Backend moved to Alpine, both architectures are scanned, and the gate now fails on any HIGH or CRITICAL, fixed upstream or not.</a:t>
            </a:r>
            <a:endParaRPr lang="en-US" sz="1400" dirty="0"/>
          </a:p>
        </p:txBody>
      </p:sp>
      <p:sp>
        <p:nvSpPr>
          <p:cNvPr id="18" name="Trivy report screenshot frame"/>
          <p:cNvSpPr/>
          <p:nvPr/>
        </p:nvSpPr>
        <p:spPr>
          <a:xfrm>
            <a:off x="5779008" y="1691640"/>
            <a:ext cx="5861304" cy="2218334"/>
          </a:xfrm>
          <a:prstGeom prst="roundRect">
            <a:avLst>
              <a:gd name="adj" fmla="val 4122"/>
            </a:avLst>
          </a:prstGeom>
          <a:solidFill>
            <a:schemeClr val="tx2"/>
          </a:solidFill>
          <a:ln w="9525">
            <a:solidFill>
              <a:schemeClr val="accent6"/>
            </a:solidFill>
            <a:prstDash val="solid"/>
          </a:ln>
        </p:spPr>
      </p:sp>
      <p:pic>
        <p:nvPicPr>
          <p:cNvPr id="19" name="Trivy report screenshot" descr="Trivy report from run 1: four HIGH vulnerabilities, exit code 1">    </p:cNvPr>
          <p:cNvPicPr>
            <a:picLocks noChangeAspect="1"/>
          </p:cNvPicPr>
          <p:nvPr/>
        </p:nvPicPr>
        <p:blipFill>
          <a:blip r:embed="rId1"/>
          <a:stretch>
            <a:fillRect/>
          </a:stretch>
        </p:blipFill>
        <p:spPr>
          <a:xfrm>
            <a:off x="5852160" y="1764792"/>
            <a:ext cx="5715000" cy="2072030"/>
          </a:xfrm>
          <a:prstGeom prst="rect">
            <a:avLst/>
          </a:prstGeom>
        </p:spPr>
      </p:pic>
      <p:sp>
        <p:nvSpPr>
          <p:cNvPr id="20" name="Text 17"/>
          <p:cNvSpPr txBox="1"/>
          <p:nvPr/>
        </p:nvSpPr>
        <p:spPr>
          <a:xfrm>
            <a:off x="5852160" y="3950208"/>
            <a:ext cx="5715000" cy="274320"/>
          </a:xfrm>
          <a:prstGeom prst="rect">
            <a:avLst/>
          </a:prstGeom>
          <a:noFill/>
          <a:ln/>
        </p:spPr>
        <p:txBody>
          <a:bodyPr wrap="square" lIns="0" tIns="0" rIns="0" bIns="0" rtlCol="0" anchor="t"/>
          <a:lstStyle/>
          <a:p>
            <a:pPr indent="0" marL="0">
              <a:buNone/>
            </a:pPr>
            <a:r>
              <a:rPr lang="en-US" sz="1200" dirty="0">
                <a:solidFill>
                  <a:schemeClr val="accent5"/>
                </a:solidFill>
              </a:rPr>
              <a:t>Run 1, real gate output: four HIGH findings, exit code 1, nothing pushed</a:t>
            </a:r>
            <a:endParaRPr lang="en-US" sz="1200" dirty="0"/>
          </a:p>
        </p:txBody>
      </p:sp>
      <p:sp>
        <p:nvSpPr>
          <p:cNvPr id="21" name="Registry card"/>
          <p:cNvSpPr/>
          <p:nvPr/>
        </p:nvSpPr>
        <p:spPr>
          <a:xfrm>
            <a:off x="5779008" y="4434840"/>
            <a:ext cx="5861304" cy="1417320"/>
          </a:xfrm>
          <a:prstGeom prst="roundRect">
            <a:avLst>
              <a:gd name="adj" fmla="val 6452"/>
            </a:avLst>
          </a:prstGeom>
          <a:solidFill>
            <a:schemeClr val="tx2"/>
          </a:solidFill>
          <a:ln w="9525">
            <a:solidFill>
              <a:schemeClr val="accent6"/>
            </a:solidFill>
            <a:prstDash val="solid"/>
          </a:ln>
        </p:spPr>
      </p:sp>
      <p:sp>
        <p:nvSpPr>
          <p:cNvPr id="22" name="Text 19"/>
          <p:cNvSpPr txBox="1"/>
          <p:nvPr/>
        </p:nvSpPr>
        <p:spPr>
          <a:xfrm>
            <a:off x="6053328" y="4572000"/>
            <a:ext cx="5394960" cy="365760"/>
          </a:xfrm>
          <a:prstGeom prst="rect">
            <a:avLst/>
          </a:prstGeom>
          <a:noFill/>
          <a:ln/>
        </p:spPr>
        <p:txBody>
          <a:bodyPr wrap="square" lIns="0" tIns="0" rIns="0" bIns="0" rtlCol="0" anchor="t"/>
          <a:lstStyle/>
          <a:p>
            <a:pPr indent="0" marL="0">
              <a:buNone/>
            </a:pPr>
            <a:r>
              <a:rPr lang="en-US" sz="1700" b="1" dirty="0">
                <a:solidFill>
                  <a:schemeClr val="bg2"/>
                </a:solidFill>
              </a:rPr>
              <a:t>Registry: GitHub Container Registry</a:t>
            </a:r>
            <a:endParaRPr lang="en-US" sz="1700" dirty="0"/>
          </a:p>
        </p:txBody>
      </p:sp>
      <p:sp>
        <p:nvSpPr>
          <p:cNvPr id="23" name="Text 20"/>
          <p:cNvSpPr txBox="1"/>
          <p:nvPr/>
        </p:nvSpPr>
        <p:spPr>
          <a:xfrm>
            <a:off x="6053328" y="4983480"/>
            <a:ext cx="5394960" cy="91440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sha-1a2b3c4</a:t>
            </a:r>
            <a:pPr indent="0" marL="0">
              <a:buNone/>
            </a:pPr>
            <a:r>
              <a:rPr lang="en-US" sz="1400" dirty="0">
                <a:solidFill>
                  <a:schemeClr val="accent5"/>
                </a:solidFill>
              </a:rPr>
              <a:t> and the full SHA, never latest. Multi-arch, with an SBOM attached. Results go to GitHub code scanning: 0 open alerts.</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07 · TERRAFORM INFRASTRUCTURE</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AWS VPC and EKS, built and torn down</a:t>
            </a:r>
            <a:endParaRPr lang="en-US" sz="3600" dirty="0"/>
          </a:p>
        </p:txBody>
      </p:sp>
      <p:sp>
        <p:nvSpPr>
          <p:cNvPr id="4" name="Terraform stat 1"/>
          <p:cNvSpPr/>
          <p:nvPr/>
        </p:nvSpPr>
        <p:spPr>
          <a:xfrm>
            <a:off x="548640" y="1691640"/>
            <a:ext cx="1783080" cy="1691640"/>
          </a:xfrm>
          <a:prstGeom prst="roundRect">
            <a:avLst>
              <a:gd name="adj" fmla="val 5405"/>
            </a:avLst>
          </a:prstGeom>
          <a:solidFill>
            <a:schemeClr val="tx2"/>
          </a:solidFill>
          <a:ln w="9525">
            <a:solidFill>
              <a:schemeClr val="accent6"/>
            </a:solidFill>
            <a:prstDash val="solid"/>
          </a:ln>
        </p:spPr>
      </p:sp>
      <p:sp>
        <p:nvSpPr>
          <p:cNvPr id="5" name="Terraform stat 1 value"/>
          <p:cNvSpPr txBox="1"/>
          <p:nvPr/>
        </p:nvSpPr>
        <p:spPr>
          <a:xfrm>
            <a:off x="777240" y="1874520"/>
            <a:ext cx="1325880" cy="845820"/>
          </a:xfrm>
          <a:prstGeom prst="rect">
            <a:avLst/>
          </a:prstGeom>
          <a:noFill/>
          <a:ln/>
        </p:spPr>
        <p:txBody>
          <a:bodyPr wrap="square" lIns="0" tIns="0" rIns="0" bIns="0" rtlCol="0" anchor="ctr"/>
          <a:lstStyle/>
          <a:p>
            <a:pPr indent="0" marL="0">
              <a:buNone/>
            </a:pPr>
            <a:r>
              <a:rPr lang="en-US" sz="3200" b="1" dirty="0">
                <a:solidFill>
                  <a:schemeClr val="accent1"/>
                </a:solidFill>
              </a:rPr>
              <a:t>52</a:t>
            </a:r>
            <a:endParaRPr lang="en-US" sz="3200" dirty="0"/>
          </a:p>
        </p:txBody>
      </p:sp>
      <p:sp>
        <p:nvSpPr>
          <p:cNvPr id="6" name="Terraform stat 1 label"/>
          <p:cNvSpPr txBox="1"/>
          <p:nvPr/>
        </p:nvSpPr>
        <p:spPr>
          <a:xfrm>
            <a:off x="777240" y="2720340"/>
            <a:ext cx="1325880" cy="525780"/>
          </a:xfrm>
          <a:prstGeom prst="rect">
            <a:avLst/>
          </a:prstGeom>
          <a:noFill/>
          <a:ln/>
        </p:spPr>
        <p:txBody>
          <a:bodyPr wrap="square" lIns="0" tIns="0" rIns="0" bIns="0" rtlCol="0" anchor="t"/>
          <a:lstStyle/>
          <a:p>
            <a:pPr indent="0" marL="0">
              <a:buNone/>
            </a:pPr>
            <a:r>
              <a:rPr lang="en-US" sz="1300" dirty="0">
                <a:solidFill>
                  <a:schemeClr val="accent5"/>
                </a:solidFill>
              </a:rPr>
              <a:t>AWS resources</a:t>
            </a:r>
            <a:endParaRPr lang="en-US" sz="1300" dirty="0"/>
          </a:p>
        </p:txBody>
      </p:sp>
      <p:sp>
        <p:nvSpPr>
          <p:cNvPr id="7" name="Terraform stat 2"/>
          <p:cNvSpPr/>
          <p:nvPr/>
        </p:nvSpPr>
        <p:spPr>
          <a:xfrm>
            <a:off x="2514600" y="1691640"/>
            <a:ext cx="1783080" cy="1691640"/>
          </a:xfrm>
          <a:prstGeom prst="roundRect">
            <a:avLst>
              <a:gd name="adj" fmla="val 5405"/>
            </a:avLst>
          </a:prstGeom>
          <a:solidFill>
            <a:schemeClr val="tx2"/>
          </a:solidFill>
          <a:ln w="9525">
            <a:solidFill>
              <a:schemeClr val="accent6"/>
            </a:solidFill>
            <a:prstDash val="solid"/>
          </a:ln>
        </p:spPr>
      </p:sp>
      <p:sp>
        <p:nvSpPr>
          <p:cNvPr id="8" name="Terraform stat 2 value"/>
          <p:cNvSpPr txBox="1"/>
          <p:nvPr/>
        </p:nvSpPr>
        <p:spPr>
          <a:xfrm>
            <a:off x="2743200" y="1874520"/>
            <a:ext cx="1325880" cy="845820"/>
          </a:xfrm>
          <a:prstGeom prst="rect">
            <a:avLst/>
          </a:prstGeom>
          <a:noFill/>
          <a:ln/>
        </p:spPr>
        <p:txBody>
          <a:bodyPr wrap="square" lIns="0" tIns="0" rIns="0" bIns="0" rtlCol="0" anchor="ctr"/>
          <a:lstStyle/>
          <a:p>
            <a:pPr indent="0" marL="0">
              <a:buNone/>
            </a:pPr>
            <a:r>
              <a:rPr lang="en-US" sz="3200" b="1" dirty="0">
                <a:solidFill>
                  <a:schemeClr val="accent1"/>
                </a:solidFill>
              </a:rPr>
              <a:t>8 min</a:t>
            </a:r>
            <a:endParaRPr lang="en-US" sz="3200" dirty="0"/>
          </a:p>
        </p:txBody>
      </p:sp>
      <p:sp>
        <p:nvSpPr>
          <p:cNvPr id="9" name="Terraform stat 2 label"/>
          <p:cNvSpPr txBox="1"/>
          <p:nvPr/>
        </p:nvSpPr>
        <p:spPr>
          <a:xfrm>
            <a:off x="2743200" y="2720340"/>
            <a:ext cx="1325880" cy="525780"/>
          </a:xfrm>
          <a:prstGeom prst="rect">
            <a:avLst/>
          </a:prstGeom>
          <a:noFill/>
          <a:ln/>
        </p:spPr>
        <p:txBody>
          <a:bodyPr wrap="square" lIns="0" tIns="0" rIns="0" bIns="0" rtlCol="0" anchor="t"/>
          <a:lstStyle/>
          <a:p>
            <a:pPr indent="0" marL="0">
              <a:buNone/>
            </a:pPr>
            <a:r>
              <a:rPr lang="en-US" sz="1300" dirty="0">
                <a:solidFill>
                  <a:schemeClr val="accent5"/>
                </a:solidFill>
              </a:rPr>
              <a:t>for the EKS control plane</a:t>
            </a:r>
            <a:endParaRPr lang="en-US" sz="1300" dirty="0"/>
          </a:p>
        </p:txBody>
      </p:sp>
      <p:sp>
        <p:nvSpPr>
          <p:cNvPr id="10" name="Terraform stat 3"/>
          <p:cNvSpPr/>
          <p:nvPr/>
        </p:nvSpPr>
        <p:spPr>
          <a:xfrm>
            <a:off x="4480560" y="1691640"/>
            <a:ext cx="1783080" cy="1691640"/>
          </a:xfrm>
          <a:prstGeom prst="roundRect">
            <a:avLst>
              <a:gd name="adj" fmla="val 5405"/>
            </a:avLst>
          </a:prstGeom>
          <a:solidFill>
            <a:schemeClr val="tx2"/>
          </a:solidFill>
          <a:ln w="9525">
            <a:solidFill>
              <a:schemeClr val="accent6"/>
            </a:solidFill>
            <a:prstDash val="solid"/>
          </a:ln>
        </p:spPr>
      </p:sp>
      <p:sp>
        <p:nvSpPr>
          <p:cNvPr id="11" name="Terraform stat 3 value"/>
          <p:cNvSpPr txBox="1"/>
          <p:nvPr/>
        </p:nvSpPr>
        <p:spPr>
          <a:xfrm>
            <a:off x="4709160" y="1874520"/>
            <a:ext cx="1325880" cy="845820"/>
          </a:xfrm>
          <a:prstGeom prst="rect">
            <a:avLst/>
          </a:prstGeom>
          <a:noFill/>
          <a:ln/>
        </p:spPr>
        <p:txBody>
          <a:bodyPr wrap="square" lIns="0" tIns="0" rIns="0" bIns="0" rtlCol="0" anchor="ctr"/>
          <a:lstStyle/>
          <a:p>
            <a:pPr indent="0" marL="0">
              <a:buNone/>
            </a:pPr>
            <a:r>
              <a:rPr lang="en-US" sz="3200" b="1" dirty="0">
                <a:solidFill>
                  <a:schemeClr val="accent2"/>
                </a:solidFill>
              </a:rPr>
              <a:t>0</a:t>
            </a:r>
            <a:endParaRPr lang="en-US" sz="3200" dirty="0"/>
          </a:p>
        </p:txBody>
      </p:sp>
      <p:sp>
        <p:nvSpPr>
          <p:cNvPr id="12" name="Terraform stat 3 label"/>
          <p:cNvSpPr txBox="1"/>
          <p:nvPr/>
        </p:nvSpPr>
        <p:spPr>
          <a:xfrm>
            <a:off x="4709160" y="2720340"/>
            <a:ext cx="1325880" cy="525780"/>
          </a:xfrm>
          <a:prstGeom prst="rect">
            <a:avLst/>
          </a:prstGeom>
          <a:noFill/>
          <a:ln/>
        </p:spPr>
        <p:txBody>
          <a:bodyPr wrap="square" lIns="0" tIns="0" rIns="0" bIns="0" rtlCol="0" anchor="t"/>
          <a:lstStyle/>
          <a:p>
            <a:pPr indent="0" marL="0">
              <a:buNone/>
            </a:pPr>
            <a:r>
              <a:rPr lang="en-US" sz="1300" dirty="0">
                <a:solidFill>
                  <a:schemeClr val="accent5"/>
                </a:solidFill>
              </a:rPr>
              <a:t>left after destroy, checked in AWS</a:t>
            </a:r>
            <a:endParaRPr lang="en-US" sz="1300" dirty="0"/>
          </a:p>
        </p:txBody>
      </p:sp>
      <p:sp>
        <p:nvSpPr>
          <p:cNvPr id="13" name="Hardening card"/>
          <p:cNvSpPr/>
          <p:nvPr/>
        </p:nvSpPr>
        <p:spPr>
          <a:xfrm>
            <a:off x="548640" y="3886200"/>
            <a:ext cx="5715000" cy="1965960"/>
          </a:xfrm>
          <a:prstGeom prst="roundRect">
            <a:avLst>
              <a:gd name="adj" fmla="val 4651"/>
            </a:avLst>
          </a:prstGeom>
          <a:solidFill>
            <a:schemeClr val="tx2"/>
          </a:solidFill>
          <a:ln w="9525">
            <a:solidFill>
              <a:schemeClr val="accent6"/>
            </a:solidFill>
            <a:prstDash val="solid"/>
          </a:ln>
        </p:spPr>
      </p:sp>
      <p:sp>
        <p:nvSpPr>
          <p:cNvPr id="14" name="Text 12"/>
          <p:cNvSpPr txBox="1"/>
          <p:nvPr/>
        </p:nvSpPr>
        <p:spPr>
          <a:xfrm>
            <a:off x="822960" y="4041648"/>
            <a:ext cx="5212080" cy="365760"/>
          </a:xfrm>
          <a:prstGeom prst="rect">
            <a:avLst/>
          </a:prstGeom>
          <a:noFill/>
          <a:ln/>
        </p:spPr>
        <p:txBody>
          <a:bodyPr wrap="square" lIns="0" tIns="0" rIns="0" bIns="0" rtlCol="0" anchor="t"/>
          <a:lstStyle/>
          <a:p>
            <a:pPr indent="0" marL="0">
              <a:buNone/>
            </a:pPr>
            <a:r>
              <a:rPr lang="en-US" sz="1600" b="1" dirty="0">
                <a:solidFill>
                  <a:schemeClr val="bg2"/>
                </a:solidFill>
              </a:rPr>
              <a:t>Hardened along HashiCorp's and AWS's guidance</a:t>
            </a:r>
            <a:endParaRPr lang="en-US" sz="1600" dirty="0"/>
          </a:p>
        </p:txBody>
      </p:sp>
      <p:sp>
        <p:nvSpPr>
          <p:cNvPr id="15" name="Text 13"/>
          <p:cNvSpPr txBox="1"/>
          <p:nvPr/>
        </p:nvSpPr>
        <p:spPr>
          <a:xfrm>
            <a:off x="950976" y="4480560"/>
            <a:ext cx="5129784" cy="1325880"/>
          </a:xfrm>
          <a:prstGeom prst="rect">
            <a:avLst/>
          </a:prstGeom>
          <a:noFill/>
          <a:ln/>
        </p:spPr>
        <p:txBody>
          <a:bodyPr wrap="square" lIns="0" tIns="0" rIns="0" bIns="0" rtlCol="0" anchor="t"/>
          <a:lstStyle/>
          <a:p>
            <a:pPr marL="203200" indent="-203200">
              <a:spcAft>
                <a:spcPts val="600"/>
              </a:spcAft>
              <a:buClr>
                <a:schemeClr val="accent1"/>
              </a:buClr>
              <a:buSzPct val="100000"/>
              <a:buChar char="•"/>
            </a:pPr>
            <a:r>
              <a:rPr lang="en-US" sz="1400" dirty="0">
                <a:solidFill>
                  <a:schemeClr val="bg2"/>
                </a:solidFill>
              </a:rPr>
              <a:t>Node disks encrypted (the account's default is off)</a:t>
            </a:r>
            <a:endParaRPr lang="en-US" sz="1400" dirty="0"/>
          </a:p>
          <a:p>
            <a:pPr marL="203200" indent="-203200">
              <a:spcAft>
                <a:spcPts val="600"/>
              </a:spcAft>
              <a:buClr>
                <a:schemeClr val="accent1"/>
              </a:buClr>
              <a:buSzPct val="100000"/>
              <a:buChar char="•"/>
            </a:pPr>
            <a:r>
              <a:rPr lang="en-US" sz="1400" dirty="0">
                <a:solidFill>
                  <a:schemeClr val="bg2"/>
                </a:solidFill>
              </a:rPr>
              <a:t>Kubernetes API reachable only from one IP</a:t>
            </a:r>
            <a:endParaRPr lang="en-US" sz="1400" dirty="0"/>
          </a:p>
          <a:p>
            <a:pPr marL="203200" indent="-203200">
              <a:spcAft>
                <a:spcPts val="600"/>
              </a:spcAft>
              <a:buClr>
                <a:schemeClr val="accent1"/>
              </a:buClr>
              <a:buSzPct val="100000"/>
              <a:buChar char="•"/>
            </a:pPr>
            <a:r>
              <a:rPr lang="en-US" sz="1400" dirty="0">
                <a:solidFill>
                  <a:schemeClr val="bg2"/>
                </a:solidFill>
              </a:rPr>
              <a:t>Access entries only, no aws-auth ConfigMap</a:t>
            </a:r>
            <a:endParaRPr lang="en-US" sz="1400" dirty="0"/>
          </a:p>
          <a:p>
            <a:pPr marL="203200" indent="-203200">
              <a:spcAft>
                <a:spcPts val="600"/>
              </a:spcAft>
              <a:buClr>
                <a:schemeClr val="accent1"/>
              </a:buClr>
              <a:buSzPct val="100000"/>
              <a:buChar char="•"/>
            </a:pPr>
            <a:r>
              <a:rPr lang="en-US" sz="1400" dirty="0">
                <a:solidFill>
                  <a:schemeClr val="bg2"/>
                </a:solidFill>
              </a:rPr>
              <a:t>Audit logs in CloudWatch · node auto repair · IMDSv2</a:t>
            </a:r>
            <a:endParaRPr lang="en-US" sz="1400" dirty="0"/>
          </a:p>
        </p:txBody>
      </p:sp>
      <p:sp>
        <p:nvSpPr>
          <p:cNvPr id="16" name="EKS console screenshot frame"/>
          <p:cNvSpPr/>
          <p:nvPr/>
        </p:nvSpPr>
        <p:spPr>
          <a:xfrm>
            <a:off x="6464808" y="1691640"/>
            <a:ext cx="5175504" cy="1740103"/>
          </a:xfrm>
          <a:prstGeom prst="roundRect">
            <a:avLst>
              <a:gd name="adj" fmla="val 5255"/>
            </a:avLst>
          </a:prstGeom>
          <a:solidFill>
            <a:schemeClr val="tx2"/>
          </a:solidFill>
          <a:ln w="9525">
            <a:solidFill>
              <a:schemeClr val="accent6"/>
            </a:solidFill>
            <a:prstDash val="solid"/>
          </a:ln>
        </p:spPr>
      </p:sp>
      <p:pic>
        <p:nvPicPr>
          <p:cNvPr id="17" name="EKS console screenshot" descr="AWS console: argus-eks Active, Kubernetes 1.35, standard support">    </p:cNvPr>
          <p:cNvPicPr>
            <a:picLocks noChangeAspect="1"/>
          </p:cNvPicPr>
          <p:nvPr/>
        </p:nvPicPr>
        <p:blipFill>
          <a:blip r:embed="rId1"/>
          <a:stretch>
            <a:fillRect/>
          </a:stretch>
        </p:blipFill>
        <p:spPr>
          <a:xfrm>
            <a:off x="6537960" y="1764792"/>
            <a:ext cx="5029200" cy="1593799"/>
          </a:xfrm>
          <a:prstGeom prst="rect">
            <a:avLst/>
          </a:prstGeom>
        </p:spPr>
      </p:pic>
      <p:sp>
        <p:nvSpPr>
          <p:cNvPr id="18" name="Text 15"/>
          <p:cNvSpPr txBox="1"/>
          <p:nvPr/>
        </p:nvSpPr>
        <p:spPr>
          <a:xfrm>
            <a:off x="6537960" y="3474720"/>
            <a:ext cx="5029200" cy="274320"/>
          </a:xfrm>
          <a:prstGeom prst="rect">
            <a:avLst/>
          </a:prstGeom>
          <a:noFill/>
          <a:ln/>
        </p:spPr>
        <p:txBody>
          <a:bodyPr wrap="square" lIns="0" tIns="0" rIns="0" bIns="0" rtlCol="0" anchor="t"/>
          <a:lstStyle/>
          <a:p>
            <a:pPr indent="0" marL="0">
              <a:buNone/>
            </a:pPr>
            <a:r>
              <a:rPr lang="en-US" sz="1200" dirty="0">
                <a:solidFill>
                  <a:schemeClr val="accent5"/>
                </a:solidFill>
              </a:rPr>
              <a:t>In the AWS console: Active, Kubernetes 1.35</a:t>
            </a:r>
            <a:endParaRPr lang="en-US" sz="1200" dirty="0"/>
          </a:p>
        </p:txBody>
      </p:sp>
      <p:sp>
        <p:nvSpPr>
          <p:cNvPr id="19" name="Infrastructure facts card"/>
          <p:cNvSpPr/>
          <p:nvPr/>
        </p:nvSpPr>
        <p:spPr>
          <a:xfrm>
            <a:off x="6464808" y="3886200"/>
            <a:ext cx="5175504" cy="1965960"/>
          </a:xfrm>
          <a:prstGeom prst="roundRect">
            <a:avLst>
              <a:gd name="adj" fmla="val 4651"/>
            </a:avLst>
          </a:prstGeom>
          <a:solidFill>
            <a:schemeClr val="tx2"/>
          </a:solidFill>
          <a:ln w="9525">
            <a:solidFill>
              <a:schemeClr val="accent6"/>
            </a:solidFill>
            <a:prstDash val="solid"/>
          </a:ln>
        </p:spPr>
      </p:sp>
      <p:sp>
        <p:nvSpPr>
          <p:cNvPr id="20" name="Text 17"/>
          <p:cNvSpPr txBox="1"/>
          <p:nvPr/>
        </p:nvSpPr>
        <p:spPr>
          <a:xfrm>
            <a:off x="6867144" y="4160520"/>
            <a:ext cx="4581144" cy="1554480"/>
          </a:xfrm>
          <a:prstGeom prst="rect">
            <a:avLst/>
          </a:prstGeom>
          <a:noFill/>
          <a:ln/>
        </p:spPr>
        <p:txBody>
          <a:bodyPr wrap="square" lIns="0" tIns="0" rIns="0" bIns="0" rtlCol="0" anchor="t"/>
          <a:lstStyle/>
          <a:p>
            <a:pPr marL="203200" indent="-203200">
              <a:spcAft>
                <a:spcPts val="600"/>
              </a:spcAft>
              <a:buClr>
                <a:schemeClr val="accent1"/>
              </a:buClr>
              <a:buSzPct val="100000"/>
              <a:buChar char="•"/>
            </a:pPr>
            <a:r>
              <a:rPr lang="en-US" sz="1400" dirty="0">
                <a:solidFill>
                  <a:schemeClr val="bg2"/>
                </a:solidFill>
              </a:rPr>
              <a:t>VPC: 2 public + 2 private subnets, one NAT gateway</a:t>
            </a:r>
            <a:endParaRPr lang="en-US" sz="1400" dirty="0"/>
          </a:p>
          <a:p>
            <a:pPr marL="203200" indent="-203200">
              <a:spcAft>
                <a:spcPts val="600"/>
              </a:spcAft>
              <a:buClr>
                <a:schemeClr val="accent1"/>
              </a:buClr>
              <a:buSzPct val="100000"/>
              <a:buChar char="•"/>
            </a:pPr>
            <a:r>
              <a:rPr lang="en-US" sz="1400" dirty="0">
                <a:solidFill>
                  <a:schemeClr val="bg2"/>
                </a:solidFill>
              </a:rPr>
              <a:t>EKS 1.35, pinned to standard support</a:t>
            </a:r>
            <a:endParaRPr lang="en-US" sz="1400" dirty="0"/>
          </a:p>
          <a:p>
            <a:pPr marL="203200" indent="-203200">
              <a:spcAft>
                <a:spcPts val="600"/>
              </a:spcAft>
              <a:buClr>
                <a:schemeClr val="accent1"/>
              </a:buClr>
              <a:buSzPct val="100000"/>
              <a:buChar char="•"/>
            </a:pPr>
            <a:r>
              <a:rPr lang="en-US" sz="1400" dirty="0">
                <a:solidFill>
                  <a:schemeClr val="bg2"/>
                </a:solidFill>
              </a:rPr>
              <a:t>2 × m7i-flex.large in ap-southeast-2</a:t>
            </a:r>
            <a:endParaRPr lang="en-US" sz="1400" dirty="0"/>
          </a:p>
          <a:p>
            <a:pPr marL="203200" indent="-203200">
              <a:spcAft>
                <a:spcPts val="600"/>
              </a:spcAft>
              <a:buClr>
                <a:schemeClr val="accent1"/>
              </a:buClr>
              <a:buSzPct val="100000"/>
              <a:buChar char="•"/>
            </a:pPr>
            <a:r>
              <a:rPr lang="en-US" sz="1400" dirty="0">
                <a:solidFill>
                  <a:schemeClr val="bg2"/>
                </a:solidFill>
              </a:rPr>
              <a:t>Applied three times, destroyed each time: under $1</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08–10 · KUBERNETES, HELM AND INGRESS</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One chart, two environments</a:t>
            </a:r>
            <a:endParaRPr lang="en-US" sz="3600" dirty="0"/>
          </a:p>
        </p:txBody>
      </p:sp>
      <p:sp>
        <p:nvSpPr>
          <p:cNvPr id="4" name="Ingress box"/>
          <p:cNvSpPr/>
          <p:nvPr/>
        </p:nvSpPr>
        <p:spPr>
          <a:xfrm>
            <a:off x="548640" y="2880360"/>
            <a:ext cx="1737360" cy="1051560"/>
          </a:xfrm>
          <a:prstGeom prst="roundRect">
            <a:avLst>
              <a:gd name="adj" fmla="val 8696"/>
            </a:avLst>
          </a:prstGeom>
          <a:solidFill>
            <a:schemeClr val="tx2"/>
          </a:solidFill>
          <a:ln w="9525">
            <a:solidFill>
              <a:schemeClr val="accent6"/>
            </a:solidFill>
            <a:prstDash val="solid"/>
          </a:ln>
        </p:spPr>
      </p:sp>
      <p:sp>
        <p:nvSpPr>
          <p:cNvPr id="5" name="Text 3"/>
          <p:cNvSpPr txBox="1"/>
          <p:nvPr/>
        </p:nvSpPr>
        <p:spPr>
          <a:xfrm>
            <a:off x="731520" y="3017520"/>
            <a:ext cx="1371600" cy="365760"/>
          </a:xfrm>
          <a:prstGeom prst="rect">
            <a:avLst/>
          </a:prstGeom>
          <a:noFill/>
          <a:ln/>
        </p:spPr>
        <p:txBody>
          <a:bodyPr wrap="square" lIns="0" tIns="0" rIns="0" bIns="0" rtlCol="0" anchor="t"/>
          <a:lstStyle/>
          <a:p>
            <a:pPr indent="0" marL="0">
              <a:buNone/>
            </a:pPr>
            <a:r>
              <a:rPr lang="en-US" sz="1600" b="1" dirty="0">
                <a:solidFill>
                  <a:schemeClr val="accent1"/>
                </a:solidFill>
              </a:rPr>
              <a:t>Ingress</a:t>
            </a:r>
            <a:endParaRPr lang="en-US" sz="1600" dirty="0"/>
          </a:p>
        </p:txBody>
      </p:sp>
      <p:sp>
        <p:nvSpPr>
          <p:cNvPr id="6" name="Text 4"/>
          <p:cNvSpPr txBox="1"/>
          <p:nvPr/>
        </p:nvSpPr>
        <p:spPr>
          <a:xfrm>
            <a:off x="731520" y="3383280"/>
            <a:ext cx="1371600" cy="457200"/>
          </a:xfrm>
          <a:prstGeom prst="rect">
            <a:avLst/>
          </a:prstGeom>
          <a:noFill/>
          <a:ln/>
        </p:spPr>
        <p:txBody>
          <a:bodyPr wrap="square" lIns="0" tIns="0" rIns="0" bIns="0" rtlCol="0" anchor="t"/>
          <a:lstStyle/>
          <a:p>
            <a:pPr indent="0" marL="0">
              <a:buNone/>
            </a:pPr>
            <a:r>
              <a:rPr lang="en-US" sz="1300" dirty="0">
                <a:solidFill>
                  <a:schemeClr val="accent5"/>
                </a:solidFill>
              </a:rPr>
              <a:t>argus.localhost</a:t>
            </a:r>
            <a:endParaRPr lang="en-US" sz="1300" dirty="0"/>
          </a:p>
        </p:txBody>
      </p:sp>
      <p:sp>
        <p:nvSpPr>
          <p:cNvPr id="7" name="Frontend box"/>
          <p:cNvSpPr/>
          <p:nvPr/>
        </p:nvSpPr>
        <p:spPr>
          <a:xfrm>
            <a:off x="3063240" y="1691640"/>
            <a:ext cx="2057400" cy="1051560"/>
          </a:xfrm>
          <a:prstGeom prst="roundRect">
            <a:avLst>
              <a:gd name="adj" fmla="val 8696"/>
            </a:avLst>
          </a:prstGeom>
          <a:solidFill>
            <a:schemeClr val="tx2"/>
          </a:solidFill>
          <a:ln w="9525">
            <a:solidFill>
              <a:schemeClr val="accent6"/>
            </a:solidFill>
            <a:prstDash val="solid"/>
          </a:ln>
        </p:spPr>
      </p:sp>
      <p:sp>
        <p:nvSpPr>
          <p:cNvPr id="8" name="Text 6"/>
          <p:cNvSpPr txBox="1"/>
          <p:nvPr/>
        </p:nvSpPr>
        <p:spPr>
          <a:xfrm>
            <a:off x="3246120" y="1828800"/>
            <a:ext cx="1691640" cy="365760"/>
          </a:xfrm>
          <a:prstGeom prst="rect">
            <a:avLst/>
          </a:prstGeom>
          <a:noFill/>
          <a:ln/>
        </p:spPr>
        <p:txBody>
          <a:bodyPr wrap="square" lIns="0" tIns="0" rIns="0" bIns="0" rtlCol="0" anchor="t"/>
          <a:lstStyle/>
          <a:p>
            <a:pPr indent="0" marL="0">
              <a:buNone/>
            </a:pPr>
            <a:r>
              <a:rPr lang="en-US" sz="1600" b="1" dirty="0">
                <a:solidFill>
                  <a:schemeClr val="bg2"/>
                </a:solidFill>
              </a:rPr>
              <a:t>frontend × 2</a:t>
            </a:r>
            <a:endParaRPr lang="en-US" sz="1600" dirty="0"/>
          </a:p>
        </p:txBody>
      </p:sp>
      <p:sp>
        <p:nvSpPr>
          <p:cNvPr id="9" name="Text 7"/>
          <p:cNvSpPr txBox="1"/>
          <p:nvPr/>
        </p:nvSpPr>
        <p:spPr>
          <a:xfrm>
            <a:off x="3246120" y="2194560"/>
            <a:ext cx="1691640" cy="457200"/>
          </a:xfrm>
          <a:prstGeom prst="rect">
            <a:avLst/>
          </a:prstGeom>
          <a:noFill/>
          <a:ln/>
        </p:spPr>
        <p:txBody>
          <a:bodyPr wrap="square" lIns="0" tIns="0" rIns="0" bIns="0" rtlCol="0" anchor="t"/>
          <a:lstStyle/>
          <a:p>
            <a:pPr indent="0" marL="0">
              <a:buNone/>
            </a:pPr>
            <a:r>
              <a:rPr lang="en-US" sz="1300" dirty="0">
                <a:solidFill>
                  <a:schemeClr val="accent5"/>
                </a:solidFill>
              </a:rPr>
              <a:t>React + nginx</a:t>
            </a:r>
            <a:endParaRPr lang="en-US" sz="1300" dirty="0"/>
          </a:p>
        </p:txBody>
      </p:sp>
      <p:sp>
        <p:nvSpPr>
          <p:cNvPr id="10" name="Backend box"/>
          <p:cNvSpPr/>
          <p:nvPr/>
        </p:nvSpPr>
        <p:spPr>
          <a:xfrm>
            <a:off x="3063240" y="4069080"/>
            <a:ext cx="2057400" cy="1051560"/>
          </a:xfrm>
          <a:prstGeom prst="roundRect">
            <a:avLst>
              <a:gd name="adj" fmla="val 8696"/>
            </a:avLst>
          </a:prstGeom>
          <a:solidFill>
            <a:schemeClr val="tx2"/>
          </a:solidFill>
          <a:ln w="9525">
            <a:solidFill>
              <a:schemeClr val="accent6"/>
            </a:solidFill>
            <a:prstDash val="solid"/>
          </a:ln>
        </p:spPr>
      </p:sp>
      <p:sp>
        <p:nvSpPr>
          <p:cNvPr id="11" name="Text 9"/>
          <p:cNvSpPr txBox="1"/>
          <p:nvPr/>
        </p:nvSpPr>
        <p:spPr>
          <a:xfrm>
            <a:off x="3246120" y="4206240"/>
            <a:ext cx="1691640" cy="365760"/>
          </a:xfrm>
          <a:prstGeom prst="rect">
            <a:avLst/>
          </a:prstGeom>
          <a:noFill/>
          <a:ln/>
        </p:spPr>
        <p:txBody>
          <a:bodyPr wrap="square" lIns="0" tIns="0" rIns="0" bIns="0" rtlCol="0" anchor="t"/>
          <a:lstStyle/>
          <a:p>
            <a:pPr indent="0" marL="0">
              <a:buNone/>
            </a:pPr>
            <a:r>
              <a:rPr lang="en-US" sz="1600" b="1" dirty="0">
                <a:solidFill>
                  <a:schemeClr val="bg2"/>
                </a:solidFill>
              </a:rPr>
              <a:t>backend 2–6</a:t>
            </a:r>
            <a:endParaRPr lang="en-US" sz="1600" dirty="0"/>
          </a:p>
        </p:txBody>
      </p:sp>
      <p:sp>
        <p:nvSpPr>
          <p:cNvPr id="12" name="Text 10"/>
          <p:cNvSpPr txBox="1"/>
          <p:nvPr/>
        </p:nvSpPr>
        <p:spPr>
          <a:xfrm>
            <a:off x="3246120" y="4572000"/>
            <a:ext cx="1691640" cy="457200"/>
          </a:xfrm>
          <a:prstGeom prst="rect">
            <a:avLst/>
          </a:prstGeom>
          <a:noFill/>
          <a:ln/>
        </p:spPr>
        <p:txBody>
          <a:bodyPr wrap="square" lIns="0" tIns="0" rIns="0" bIns="0" rtlCol="0" anchor="t"/>
          <a:lstStyle/>
          <a:p>
            <a:pPr indent="0" marL="0">
              <a:buNone/>
            </a:pPr>
            <a:r>
              <a:rPr lang="en-US" sz="1300" dirty="0">
                <a:solidFill>
                  <a:schemeClr val="accent5"/>
                </a:solidFill>
              </a:rPr>
              <a:t>FastAPI + HPA</a:t>
            </a:r>
            <a:endParaRPr lang="en-US" sz="1300" dirty="0"/>
          </a:p>
        </p:txBody>
      </p:sp>
      <p:sp>
        <p:nvSpPr>
          <p:cNvPr id="13" name="Simulator box"/>
          <p:cNvSpPr/>
          <p:nvPr/>
        </p:nvSpPr>
        <p:spPr>
          <a:xfrm>
            <a:off x="5715000" y="1691640"/>
            <a:ext cx="1783080" cy="1051560"/>
          </a:xfrm>
          <a:prstGeom prst="roundRect">
            <a:avLst>
              <a:gd name="adj" fmla="val 8696"/>
            </a:avLst>
          </a:prstGeom>
          <a:solidFill>
            <a:schemeClr val="tx2"/>
          </a:solidFill>
          <a:ln w="9525">
            <a:solidFill>
              <a:schemeClr val="accent6"/>
            </a:solidFill>
            <a:prstDash val="solid"/>
          </a:ln>
        </p:spPr>
      </p:sp>
      <p:sp>
        <p:nvSpPr>
          <p:cNvPr id="14" name="Text 12"/>
          <p:cNvSpPr txBox="1"/>
          <p:nvPr/>
        </p:nvSpPr>
        <p:spPr>
          <a:xfrm>
            <a:off x="5897880" y="1828800"/>
            <a:ext cx="1417320" cy="365760"/>
          </a:xfrm>
          <a:prstGeom prst="rect">
            <a:avLst/>
          </a:prstGeom>
          <a:noFill/>
          <a:ln/>
        </p:spPr>
        <p:txBody>
          <a:bodyPr wrap="square" lIns="0" tIns="0" rIns="0" bIns="0" rtlCol="0" anchor="t"/>
          <a:lstStyle/>
          <a:p>
            <a:pPr indent="0" marL="0">
              <a:buNone/>
            </a:pPr>
            <a:r>
              <a:rPr lang="en-US" sz="1600" b="1" dirty="0">
                <a:solidFill>
                  <a:schemeClr val="bg2"/>
                </a:solidFill>
              </a:rPr>
              <a:t>simulator</a:t>
            </a:r>
            <a:endParaRPr lang="en-US" sz="1600" dirty="0"/>
          </a:p>
        </p:txBody>
      </p:sp>
      <p:sp>
        <p:nvSpPr>
          <p:cNvPr id="15" name="Text 13"/>
          <p:cNvSpPr txBox="1"/>
          <p:nvPr/>
        </p:nvSpPr>
        <p:spPr>
          <a:xfrm>
            <a:off x="5897880" y="2194560"/>
            <a:ext cx="1417320" cy="457200"/>
          </a:xfrm>
          <a:prstGeom prst="rect">
            <a:avLst/>
          </a:prstGeom>
          <a:noFill/>
          <a:ln/>
        </p:spPr>
        <p:txBody>
          <a:bodyPr wrap="square" lIns="0" tIns="0" rIns="0" bIns="0" rtlCol="0" anchor="t"/>
          <a:lstStyle/>
          <a:p>
            <a:pPr indent="0" marL="0">
              <a:buNone/>
            </a:pPr>
            <a:r>
              <a:rPr lang="en-US" sz="1300" dirty="0">
                <a:solidFill>
                  <a:schemeClr val="accent5"/>
                </a:solidFill>
              </a:rPr>
              <a:t>5 fake services</a:t>
            </a:r>
            <a:endParaRPr lang="en-US" sz="1300" dirty="0"/>
          </a:p>
        </p:txBody>
      </p:sp>
      <p:sp>
        <p:nvSpPr>
          <p:cNvPr id="16" name="Postgres box"/>
          <p:cNvSpPr/>
          <p:nvPr/>
        </p:nvSpPr>
        <p:spPr>
          <a:xfrm>
            <a:off x="5715000" y="4069080"/>
            <a:ext cx="1783080" cy="1051560"/>
          </a:xfrm>
          <a:prstGeom prst="roundRect">
            <a:avLst>
              <a:gd name="adj" fmla="val 8696"/>
            </a:avLst>
          </a:prstGeom>
          <a:solidFill>
            <a:schemeClr val="tx2"/>
          </a:solidFill>
          <a:ln w="9525">
            <a:solidFill>
              <a:schemeClr val="accent6"/>
            </a:solidFill>
            <a:prstDash val="solid"/>
          </a:ln>
        </p:spPr>
      </p:sp>
      <p:sp>
        <p:nvSpPr>
          <p:cNvPr id="17" name="Text 15"/>
          <p:cNvSpPr txBox="1"/>
          <p:nvPr/>
        </p:nvSpPr>
        <p:spPr>
          <a:xfrm>
            <a:off x="5897880" y="4206240"/>
            <a:ext cx="1417320" cy="365760"/>
          </a:xfrm>
          <a:prstGeom prst="rect">
            <a:avLst/>
          </a:prstGeom>
          <a:noFill/>
          <a:ln/>
        </p:spPr>
        <p:txBody>
          <a:bodyPr wrap="square" lIns="0" tIns="0" rIns="0" bIns="0" rtlCol="0" anchor="t"/>
          <a:lstStyle/>
          <a:p>
            <a:pPr indent="0" marL="0">
              <a:buNone/>
            </a:pPr>
            <a:r>
              <a:rPr lang="en-US" sz="1600" b="1" dirty="0">
                <a:solidFill>
                  <a:schemeClr val="bg2"/>
                </a:solidFill>
              </a:rPr>
              <a:t>Postgres 17</a:t>
            </a:r>
            <a:endParaRPr lang="en-US" sz="1600" dirty="0"/>
          </a:p>
        </p:txBody>
      </p:sp>
      <p:sp>
        <p:nvSpPr>
          <p:cNvPr id="18" name="Text 16"/>
          <p:cNvSpPr txBox="1"/>
          <p:nvPr/>
        </p:nvSpPr>
        <p:spPr>
          <a:xfrm>
            <a:off x="5897880" y="4572000"/>
            <a:ext cx="1417320" cy="457200"/>
          </a:xfrm>
          <a:prstGeom prst="rect">
            <a:avLst/>
          </a:prstGeom>
          <a:noFill/>
          <a:ln/>
        </p:spPr>
        <p:txBody>
          <a:bodyPr wrap="square" lIns="0" tIns="0" rIns="0" bIns="0" rtlCol="0" anchor="t"/>
          <a:lstStyle/>
          <a:p>
            <a:pPr indent="0" marL="0">
              <a:buNone/>
            </a:pPr>
            <a:r>
              <a:rPr lang="en-US" sz="1300" dirty="0">
                <a:solidFill>
                  <a:schemeClr val="accent5"/>
                </a:solidFill>
              </a:rPr>
              <a:t>StatefulSet + PVC</a:t>
            </a:r>
            <a:endParaRPr lang="en-US" sz="1300" dirty="0"/>
          </a:p>
        </p:txBody>
      </p:sp>
      <p:sp>
        <p:nvSpPr>
          <p:cNvPr id="19" name="Shape 17"/>
          <p:cNvSpPr/>
          <p:nvPr/>
        </p:nvSpPr>
        <p:spPr>
          <a:xfrm flipV="1">
            <a:off x="2286000" y="2221992"/>
            <a:ext cx="777240" cy="1069848"/>
          </a:xfrm>
          <a:prstGeom prst="line">
            <a:avLst/>
          </a:prstGeom>
          <a:noFill/>
          <a:ln w="15875">
            <a:solidFill>
              <a:schemeClr val="accent5"/>
            </a:solidFill>
            <a:prstDash val="solid"/>
            <a:tailEnd type="triangle"/>
          </a:ln>
        </p:spPr>
      </p:sp>
      <p:sp>
        <p:nvSpPr>
          <p:cNvPr id="20" name="Text 18"/>
          <p:cNvSpPr txBox="1"/>
          <p:nvPr/>
        </p:nvSpPr>
        <p:spPr>
          <a:xfrm>
            <a:off x="2395728" y="2578608"/>
            <a:ext cx="274320" cy="274320"/>
          </a:xfrm>
          <a:prstGeom prst="rect">
            <a:avLst/>
          </a:prstGeom>
          <a:noFill/>
          <a:ln/>
        </p:spPr>
        <p:txBody>
          <a:bodyPr wrap="square" lIns="0" tIns="0" rIns="0" bIns="0" rtlCol="0" anchor="t"/>
          <a:lstStyle/>
          <a:p>
            <a:pPr indent="0" marL="0">
              <a:buNone/>
            </a:pPr>
            <a:r>
              <a:rPr lang="en-US" sz="1400" b="1" dirty="0">
                <a:solidFill>
                  <a:schemeClr val="accent1"/>
                </a:solidFill>
              </a:rPr>
              <a:t>/</a:t>
            </a:r>
            <a:endParaRPr lang="en-US" sz="1400" dirty="0"/>
          </a:p>
        </p:txBody>
      </p:sp>
      <p:sp>
        <p:nvSpPr>
          <p:cNvPr id="21" name="Shape 19"/>
          <p:cNvSpPr/>
          <p:nvPr/>
        </p:nvSpPr>
        <p:spPr>
          <a:xfrm>
            <a:off x="2286000" y="3520440"/>
            <a:ext cx="777240" cy="1078992"/>
          </a:xfrm>
          <a:prstGeom prst="line">
            <a:avLst/>
          </a:prstGeom>
          <a:noFill/>
          <a:ln w="15875">
            <a:solidFill>
              <a:schemeClr val="accent5"/>
            </a:solidFill>
            <a:prstDash val="solid"/>
            <a:tailEnd type="triangle"/>
          </a:ln>
        </p:spPr>
      </p:sp>
      <p:sp>
        <p:nvSpPr>
          <p:cNvPr id="22" name="Text 20"/>
          <p:cNvSpPr txBox="1"/>
          <p:nvPr/>
        </p:nvSpPr>
        <p:spPr>
          <a:xfrm>
            <a:off x="2103120" y="4206240"/>
            <a:ext cx="548640" cy="274320"/>
          </a:xfrm>
          <a:prstGeom prst="rect">
            <a:avLst/>
          </a:prstGeom>
          <a:noFill/>
          <a:ln/>
        </p:spPr>
        <p:txBody>
          <a:bodyPr wrap="square" lIns="0" tIns="0" rIns="0" bIns="0" rtlCol="0" anchor="t"/>
          <a:lstStyle/>
          <a:p>
            <a:pPr indent="0" marL="0">
              <a:buNone/>
            </a:pPr>
            <a:r>
              <a:rPr lang="en-US" sz="1400" b="1" dirty="0">
                <a:solidFill>
                  <a:schemeClr val="accent1"/>
                </a:solidFill>
              </a:rPr>
              <a:t>/api</a:t>
            </a:r>
            <a:endParaRPr lang="en-US" sz="1400" dirty="0"/>
          </a:p>
        </p:txBody>
      </p:sp>
      <p:sp>
        <p:nvSpPr>
          <p:cNvPr id="23" name="Shape 21"/>
          <p:cNvSpPr/>
          <p:nvPr/>
        </p:nvSpPr>
        <p:spPr>
          <a:xfrm>
            <a:off x="4087368" y="2743200"/>
            <a:ext cx="0" cy="1325880"/>
          </a:xfrm>
          <a:prstGeom prst="line">
            <a:avLst/>
          </a:prstGeom>
          <a:noFill/>
          <a:ln w="15875">
            <a:solidFill>
              <a:schemeClr val="accent5"/>
            </a:solidFill>
            <a:prstDash val="solid"/>
            <a:tailEnd type="triangle"/>
          </a:ln>
        </p:spPr>
      </p:sp>
      <p:sp>
        <p:nvSpPr>
          <p:cNvPr id="24" name="Text 22"/>
          <p:cNvSpPr txBox="1"/>
          <p:nvPr/>
        </p:nvSpPr>
        <p:spPr>
          <a:xfrm>
            <a:off x="4206240" y="3246120"/>
            <a:ext cx="1097280" cy="274320"/>
          </a:xfrm>
          <a:prstGeom prst="rect">
            <a:avLst/>
          </a:prstGeom>
          <a:noFill/>
          <a:ln/>
        </p:spPr>
        <p:txBody>
          <a:bodyPr wrap="square" lIns="0" tIns="0" rIns="0" bIns="0" rtlCol="0" anchor="t"/>
          <a:lstStyle/>
          <a:p>
            <a:pPr indent="0" marL="0">
              <a:buNone/>
            </a:pPr>
            <a:r>
              <a:rPr lang="en-US" sz="1200" dirty="0">
                <a:solidFill>
                  <a:schemeClr val="accent5"/>
                </a:solidFill>
              </a:rPr>
              <a:t>/api proxy</a:t>
            </a:r>
            <a:endParaRPr lang="en-US" sz="1200" dirty="0"/>
          </a:p>
        </p:txBody>
      </p:sp>
      <p:sp>
        <p:nvSpPr>
          <p:cNvPr id="25" name="Shape 23"/>
          <p:cNvSpPr/>
          <p:nvPr/>
        </p:nvSpPr>
        <p:spPr>
          <a:xfrm>
            <a:off x="5120640" y="4590288"/>
            <a:ext cx="594360" cy="0"/>
          </a:xfrm>
          <a:prstGeom prst="line">
            <a:avLst/>
          </a:prstGeom>
          <a:noFill/>
          <a:ln w="15875">
            <a:solidFill>
              <a:schemeClr val="accent5"/>
            </a:solidFill>
            <a:prstDash val="solid"/>
            <a:tailEnd type="triangle"/>
          </a:ln>
        </p:spPr>
      </p:sp>
      <p:sp>
        <p:nvSpPr>
          <p:cNvPr id="26" name="Shape 24"/>
          <p:cNvSpPr/>
          <p:nvPr/>
        </p:nvSpPr>
        <p:spPr>
          <a:xfrm flipH="1">
            <a:off x="4800600" y="2743200"/>
            <a:ext cx="1005840" cy="1325880"/>
          </a:xfrm>
          <a:prstGeom prst="line">
            <a:avLst/>
          </a:prstGeom>
          <a:noFill/>
          <a:ln w="15875">
            <a:solidFill>
              <a:schemeClr val="accent5"/>
            </a:solidFill>
            <a:prstDash val="solid"/>
            <a:tailEnd type="triangle"/>
          </a:ln>
        </p:spPr>
      </p:sp>
      <p:sp>
        <p:nvSpPr>
          <p:cNvPr id="27" name="Text 25"/>
          <p:cNvSpPr txBox="1"/>
          <p:nvPr/>
        </p:nvSpPr>
        <p:spPr>
          <a:xfrm>
            <a:off x="5623560" y="3429000"/>
            <a:ext cx="1097280" cy="274320"/>
          </a:xfrm>
          <a:prstGeom prst="rect">
            <a:avLst/>
          </a:prstGeom>
          <a:noFill/>
          <a:ln/>
        </p:spPr>
        <p:txBody>
          <a:bodyPr wrap="square" lIns="0" tIns="0" rIns="0" bIns="0" rtlCol="0" anchor="t"/>
          <a:lstStyle/>
          <a:p>
            <a:pPr indent="0" marL="0">
              <a:buNone/>
            </a:pPr>
            <a:r>
              <a:rPr lang="en-US" sz="1200" dirty="0">
                <a:solidFill>
                  <a:schemeClr val="accent5"/>
                </a:solidFill>
              </a:rPr>
              <a:t>heartbeats</a:t>
            </a:r>
            <a:endParaRPr lang="en-US" sz="1200" dirty="0"/>
          </a:p>
        </p:txBody>
      </p:sp>
      <p:sp>
        <p:nvSpPr>
          <p:cNvPr id="28" name="Text 26"/>
          <p:cNvSpPr txBox="1"/>
          <p:nvPr/>
        </p:nvSpPr>
        <p:spPr>
          <a:xfrm>
            <a:off x="548640" y="5486400"/>
            <a:ext cx="6949440" cy="548640"/>
          </a:xfrm>
          <a:prstGeom prst="rect">
            <a:avLst/>
          </a:prstGeom>
          <a:noFill/>
          <a:ln/>
        </p:spPr>
        <p:txBody>
          <a:bodyPr wrap="square" lIns="0" tIns="0" rIns="0" bIns="0" rtlCol="0" anchor="t"/>
          <a:lstStyle/>
          <a:p>
            <a:pPr indent="0" marL="0">
              <a:buNone/>
            </a:pPr>
            <a:r>
              <a:rPr lang="en-US" sz="1300" dirty="0">
                <a:solidFill>
                  <a:schemeClr val="accent5"/>
                </a:solidFill>
              </a:rPr>
              <a:t>Pod Security “restricted” · non-root · read-only root filesystem · migrations in an init container</a:t>
            </a:r>
            <a:endParaRPr lang="en-US" sz="1300" dirty="0"/>
          </a:p>
        </p:txBody>
      </p:sp>
      <p:sp>
        <p:nvSpPr>
          <p:cNvPr id="29" name="main environment card"/>
          <p:cNvSpPr/>
          <p:nvPr/>
        </p:nvSpPr>
        <p:spPr>
          <a:xfrm>
            <a:off x="7955280" y="1691640"/>
            <a:ext cx="3685032" cy="1737360"/>
          </a:xfrm>
          <a:prstGeom prst="roundRect">
            <a:avLst>
              <a:gd name="adj" fmla="val 5263"/>
            </a:avLst>
          </a:prstGeom>
          <a:solidFill>
            <a:schemeClr val="tx2"/>
          </a:solidFill>
          <a:ln w="9525">
            <a:solidFill>
              <a:schemeClr val="accent6"/>
            </a:solidFill>
            <a:prstDash val="solid"/>
          </a:ln>
        </p:spPr>
      </p:sp>
      <p:sp>
        <p:nvSpPr>
          <p:cNvPr id="30" name="Text 28"/>
          <p:cNvSpPr txBox="1"/>
          <p:nvPr/>
        </p:nvSpPr>
        <p:spPr>
          <a:xfrm>
            <a:off x="8183880" y="1874520"/>
            <a:ext cx="3291840" cy="365760"/>
          </a:xfrm>
          <a:prstGeom prst="rect">
            <a:avLst/>
          </a:prstGeom>
          <a:noFill/>
          <a:ln/>
        </p:spPr>
        <p:txBody>
          <a:bodyPr wrap="square" lIns="0" tIns="0" rIns="0" bIns="0" rtlCol="0" anchor="t"/>
          <a:lstStyle/>
          <a:p>
            <a:pPr indent="0" marL="0">
              <a:buNone/>
            </a:pPr>
            <a:r>
              <a:rPr lang="en-US" sz="1600" b="1" dirty="0">
                <a:solidFill>
                  <a:schemeClr val="accent1"/>
                </a:solidFill>
              </a:rPr>
              <a:t>main</a:t>
            </a:r>
            <a:pPr indent="0" marL="0">
              <a:buNone/>
            </a:pPr>
            <a:r>
              <a:rPr lang="en-US" sz="1600" dirty="0">
                <a:solidFill>
                  <a:schemeClr val="accent5"/>
                </a:solidFill>
              </a:rPr>
              <a:t>  namespace argus</a:t>
            </a:r>
            <a:endParaRPr lang="en-US" sz="1600" dirty="0"/>
          </a:p>
        </p:txBody>
      </p:sp>
      <p:sp>
        <p:nvSpPr>
          <p:cNvPr id="31" name="Text 29"/>
          <p:cNvSpPr txBox="1"/>
          <p:nvPr/>
        </p:nvSpPr>
        <p:spPr>
          <a:xfrm>
            <a:off x="8183880" y="2331720"/>
            <a:ext cx="3291840" cy="1280160"/>
          </a:xfrm>
          <a:prstGeom prst="rect">
            <a:avLst/>
          </a:prstGeom>
          <a:noFill/>
          <a:ln/>
        </p:spPr>
        <p:txBody>
          <a:bodyPr wrap="square" lIns="0" tIns="0" rIns="0" bIns="0" rtlCol="0" anchor="t"/>
          <a:lstStyle/>
          <a:p>
            <a:pPr indent="0" marL="0">
              <a:buNone/>
            </a:pPr>
            <a:r>
              <a:rPr lang="en-US" sz="1400" dirty="0">
                <a:solidFill>
                  <a:schemeClr val="bg2"/>
                </a:solidFill>
              </a:rPr>
              <a:t>Deployed by ArgoCD from main, with values-minikube.yaml. Has the ServiceMonitor, alert rules and dashboard.</a:t>
            </a:r>
            <a:endParaRPr lang="en-US" sz="1400" dirty="0"/>
          </a:p>
        </p:txBody>
      </p:sp>
      <p:sp>
        <p:nvSpPr>
          <p:cNvPr id="32" name="staging environment card"/>
          <p:cNvSpPr/>
          <p:nvPr/>
        </p:nvSpPr>
        <p:spPr>
          <a:xfrm>
            <a:off x="7955280" y="3657600"/>
            <a:ext cx="3685032" cy="1737360"/>
          </a:xfrm>
          <a:prstGeom prst="roundRect">
            <a:avLst>
              <a:gd name="adj" fmla="val 5263"/>
            </a:avLst>
          </a:prstGeom>
          <a:solidFill>
            <a:schemeClr val="tx2"/>
          </a:solidFill>
          <a:ln w="9525">
            <a:solidFill>
              <a:schemeClr val="accent6"/>
            </a:solidFill>
            <a:prstDash val="solid"/>
          </a:ln>
        </p:spPr>
      </p:sp>
      <p:sp>
        <p:nvSpPr>
          <p:cNvPr id="33" name="Text 31"/>
          <p:cNvSpPr txBox="1"/>
          <p:nvPr/>
        </p:nvSpPr>
        <p:spPr>
          <a:xfrm>
            <a:off x="8183880" y="3840480"/>
            <a:ext cx="3291840" cy="365760"/>
          </a:xfrm>
          <a:prstGeom prst="rect">
            <a:avLst/>
          </a:prstGeom>
          <a:noFill/>
          <a:ln/>
        </p:spPr>
        <p:txBody>
          <a:bodyPr wrap="square" lIns="0" tIns="0" rIns="0" bIns="0" rtlCol="0" anchor="t"/>
          <a:lstStyle/>
          <a:p>
            <a:pPr indent="0" marL="0">
              <a:buNone/>
            </a:pPr>
            <a:r>
              <a:rPr lang="en-US" sz="1600" b="1" dirty="0">
                <a:solidFill>
                  <a:schemeClr val="accent1"/>
                </a:solidFill>
              </a:rPr>
              <a:t>staging</a:t>
            </a:r>
            <a:pPr indent="0" marL="0">
              <a:buNone/>
            </a:pPr>
            <a:r>
              <a:rPr lang="en-US" sz="1600" dirty="0">
                <a:solidFill>
                  <a:schemeClr val="accent5"/>
                </a:solidFill>
              </a:rPr>
              <a:t>  namespace argus-staging</a:t>
            </a:r>
            <a:endParaRPr lang="en-US" sz="1600" dirty="0"/>
          </a:p>
        </p:txBody>
      </p:sp>
      <p:sp>
        <p:nvSpPr>
          <p:cNvPr id="34" name="Text 32"/>
          <p:cNvSpPr txBox="1"/>
          <p:nvPr/>
        </p:nvSpPr>
        <p:spPr>
          <a:xfrm>
            <a:off x="8183880" y="4297680"/>
            <a:ext cx="3291840" cy="1280160"/>
          </a:xfrm>
          <a:prstGeom prst="rect">
            <a:avLst/>
          </a:prstGeom>
          <a:noFill/>
          <a:ln/>
        </p:spPr>
        <p:txBody>
          <a:bodyPr wrap="square" lIns="0" tIns="0" rIns="0" bIns="0" rtlCol="0" anchor="t"/>
          <a:lstStyle/>
          <a:p>
            <a:pPr indent="0" marL="0">
              <a:buNone/>
            </a:pPr>
            <a:r>
              <a:rPr lang="en-US" sz="1400" dirty="0">
                <a:solidFill>
                  <a:schemeClr val="bg2"/>
                </a:solidFill>
              </a:rPr>
              <a:t>Installed with helm upgrade --install, checked with helm test, served at staging.argus.localhost.</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11 · AUTOSCALING</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Under load, 2 replicas became 6</a:t>
            </a:r>
            <a:endParaRPr lang="en-US" sz="3600" dirty="0"/>
          </a:p>
        </p:txBody>
      </p:sp>
      <p:sp>
        <p:nvSpPr>
          <p:cNvPr id="4" name="Autoscaling stat card"/>
          <p:cNvSpPr/>
          <p:nvPr/>
        </p:nvSpPr>
        <p:spPr>
          <a:xfrm>
            <a:off x="548640" y="1691640"/>
            <a:ext cx="3291840" cy="4389120"/>
          </a:xfrm>
          <a:prstGeom prst="roundRect">
            <a:avLst>
              <a:gd name="adj" fmla="val 2778"/>
            </a:avLst>
          </a:prstGeom>
          <a:solidFill>
            <a:schemeClr val="tx2"/>
          </a:solidFill>
          <a:ln w="9525">
            <a:solidFill>
              <a:schemeClr val="accent6"/>
            </a:solidFill>
            <a:prstDash val="solid"/>
          </a:ln>
        </p:spPr>
      </p:sp>
      <p:sp>
        <p:nvSpPr>
          <p:cNvPr id="5" name="Text 3"/>
          <p:cNvSpPr txBox="1"/>
          <p:nvPr/>
        </p:nvSpPr>
        <p:spPr>
          <a:xfrm>
            <a:off x="822960" y="1920240"/>
            <a:ext cx="2743200" cy="914400"/>
          </a:xfrm>
          <a:prstGeom prst="rect">
            <a:avLst/>
          </a:prstGeom>
          <a:noFill/>
          <a:ln/>
        </p:spPr>
        <p:txBody>
          <a:bodyPr wrap="square" lIns="0" tIns="0" rIns="0" bIns="0" rtlCol="0" anchor="t"/>
          <a:lstStyle/>
          <a:p>
            <a:pPr indent="0" marL="0">
              <a:buNone/>
            </a:pPr>
            <a:r>
              <a:rPr lang="en-US" sz="5400" b="1" dirty="0">
                <a:solidFill>
                  <a:schemeClr val="accent1"/>
                </a:solidFill>
              </a:rPr>
              <a:t>2 → 6</a:t>
            </a:r>
            <a:endParaRPr lang="en-US" sz="5400" dirty="0"/>
          </a:p>
        </p:txBody>
      </p:sp>
      <p:sp>
        <p:nvSpPr>
          <p:cNvPr id="6" name="Text 4"/>
          <p:cNvSpPr txBox="1"/>
          <p:nvPr/>
        </p:nvSpPr>
        <p:spPr>
          <a:xfrm>
            <a:off x="822960" y="2880360"/>
            <a:ext cx="2743200" cy="822960"/>
          </a:xfrm>
          <a:prstGeom prst="rect">
            <a:avLst/>
          </a:prstGeom>
          <a:noFill/>
          <a:ln/>
        </p:spPr>
        <p:txBody>
          <a:bodyPr wrap="square" lIns="0" tIns="0" rIns="0" bIns="0" rtlCol="0" anchor="t"/>
          <a:lstStyle/>
          <a:p>
            <a:pPr indent="0" marL="0">
              <a:buNone/>
            </a:pPr>
            <a:r>
              <a:rPr lang="en-US" sz="1400" dirty="0">
                <a:solidFill>
                  <a:schemeClr val="accent5"/>
                </a:solidFill>
              </a:rPr>
              <a:t>backend replicas, 30 seconds after CPU crossed the target</a:t>
            </a:r>
            <a:endParaRPr lang="en-US" sz="1400" dirty="0"/>
          </a:p>
        </p:txBody>
      </p:sp>
      <p:sp>
        <p:nvSpPr>
          <p:cNvPr id="7" name="Text 5"/>
          <p:cNvSpPr txBox="1"/>
          <p:nvPr/>
        </p:nvSpPr>
        <p:spPr>
          <a:xfrm>
            <a:off x="950976" y="3703320"/>
            <a:ext cx="2660904" cy="2194560"/>
          </a:xfrm>
          <a:prstGeom prst="rect">
            <a:avLst/>
          </a:prstGeom>
          <a:noFill/>
          <a:ln/>
        </p:spPr>
        <p:txBody>
          <a:bodyPr wrap="square" lIns="0" tIns="0" rIns="0" bIns="0" rtlCol="0" anchor="t"/>
          <a:lstStyle/>
          <a:p>
            <a:pPr marL="203200" indent="-203200">
              <a:spcAft>
                <a:spcPts val="600"/>
              </a:spcAft>
              <a:buClr>
                <a:schemeClr val="accent1"/>
              </a:buClr>
              <a:buSzPct val="100000"/>
              <a:buChar char="•"/>
            </a:pPr>
            <a:r>
              <a:rPr lang="en-US" sz="1400" dirty="0">
                <a:solidFill>
                  <a:schemeClr val="bg2"/>
                </a:solidFill>
              </a:rPr>
              <a:t>HorizontalPodAutoscaler on the backend</a:t>
            </a:r>
            <a:endParaRPr lang="en-US" sz="1400" dirty="0"/>
          </a:p>
          <a:p>
            <a:pPr marL="203200" indent="-203200">
              <a:spcAft>
                <a:spcPts val="600"/>
              </a:spcAft>
              <a:buClr>
                <a:schemeClr val="accent1"/>
              </a:buClr>
              <a:buSzPct val="100000"/>
              <a:buChar char="•"/>
            </a:pPr>
            <a:r>
              <a:rPr lang="en-US" sz="1400" dirty="0">
                <a:solidFill>
                  <a:schemeClr val="bg2"/>
                </a:solidFill>
              </a:rPr>
              <a:t>Load: 12 clients for 3 minutes, through the Ingress</a:t>
            </a:r>
            <a:endParaRPr lang="en-US" sz="1400" dirty="0"/>
          </a:p>
          <a:p>
            <a:pPr marL="203200" indent="-203200">
              <a:spcAft>
                <a:spcPts val="600"/>
              </a:spcAft>
              <a:buClr>
                <a:schemeClr val="accent1"/>
              </a:buClr>
              <a:buSzPct val="100000"/>
              <a:buChar char="•"/>
            </a:pPr>
            <a:r>
              <a:rPr lang="en-US" sz="1400" dirty="0">
                <a:solidFill>
                  <a:schemeClr val="bg2"/>
                </a:solidFill>
              </a:rPr>
              <a:t>Scales back to 2 after a 5‑minute cooldown</a:t>
            </a:r>
            <a:endParaRPr lang="en-US" sz="1400" dirty="0"/>
          </a:p>
        </p:txBody>
      </p:sp>
      <p:sp>
        <p:nvSpPr>
          <p:cNvPr id="8" name="HPA screenshot frame"/>
          <p:cNvSpPr/>
          <p:nvPr/>
        </p:nvSpPr>
        <p:spPr>
          <a:xfrm>
            <a:off x="4133088" y="1691640"/>
            <a:ext cx="7507224" cy="2559406"/>
          </a:xfrm>
          <a:prstGeom prst="roundRect">
            <a:avLst>
              <a:gd name="adj" fmla="val 3573"/>
            </a:avLst>
          </a:prstGeom>
          <a:solidFill>
            <a:schemeClr val="tx2"/>
          </a:solidFill>
          <a:ln w="9525">
            <a:solidFill>
              <a:schemeClr val="accent6"/>
            </a:solidFill>
            <a:prstDash val="solid"/>
          </a:ln>
        </p:spPr>
      </p:sp>
      <p:pic>
        <p:nvPicPr>
          <p:cNvPr id="9" name="HPA screenshot" descr="kubectl output: the HPA scales argus-backend from 2 to 4 to 6 replicas">    </p:cNvPr>
          <p:cNvPicPr>
            <a:picLocks noChangeAspect="1"/>
          </p:cNvPicPr>
          <p:nvPr/>
        </p:nvPicPr>
        <p:blipFill>
          <a:blip r:embed="rId1"/>
          <a:stretch>
            <a:fillRect/>
          </a:stretch>
        </p:blipFill>
        <p:spPr>
          <a:xfrm>
            <a:off x="4206240" y="1764792"/>
            <a:ext cx="7360920" cy="2413102"/>
          </a:xfrm>
          <a:prstGeom prst="rect">
            <a:avLst/>
          </a:prstGeom>
        </p:spPr>
      </p:pic>
      <p:sp>
        <p:nvSpPr>
          <p:cNvPr id="10" name="Text 7"/>
          <p:cNvSpPr txBox="1"/>
          <p:nvPr/>
        </p:nvSpPr>
        <p:spPr>
          <a:xfrm>
            <a:off x="4206240" y="4315968"/>
            <a:ext cx="7360920" cy="274320"/>
          </a:xfrm>
          <a:prstGeom prst="rect">
            <a:avLst/>
          </a:prstGeom>
          <a:noFill/>
          <a:ln/>
        </p:spPr>
        <p:txBody>
          <a:bodyPr wrap="square" lIns="0" tIns="0" rIns="0" bIns="0" rtlCol="0" anchor="t"/>
          <a:lstStyle/>
          <a:p>
            <a:pPr indent="0" marL="0">
              <a:buNone/>
            </a:pPr>
            <a:r>
              <a:rPr lang="en-US" sz="1200" dirty="0">
                <a:solidFill>
                  <a:schemeClr val="accent5"/>
                </a:solidFill>
              </a:rPr>
              <a:t>Real output: kubectl get hpa every 15 seconds while the load ran</a:t>
            </a:r>
            <a:endParaRPr lang="en-US" sz="1200" dirty="0"/>
          </a:p>
        </p:txBody>
      </p:sp>
      <p:sp>
        <p:nvSpPr>
          <p:cNvPr id="11" name="HPA stat 1"/>
          <p:cNvSpPr/>
          <p:nvPr/>
        </p:nvSpPr>
        <p:spPr>
          <a:xfrm>
            <a:off x="4133088" y="4754880"/>
            <a:ext cx="2350008" cy="1325880"/>
          </a:xfrm>
          <a:prstGeom prst="roundRect">
            <a:avLst>
              <a:gd name="adj" fmla="val 6897"/>
            </a:avLst>
          </a:prstGeom>
          <a:solidFill>
            <a:schemeClr val="tx2"/>
          </a:solidFill>
          <a:ln w="9525">
            <a:solidFill>
              <a:schemeClr val="accent6"/>
            </a:solidFill>
            <a:prstDash val="solid"/>
          </a:ln>
        </p:spPr>
      </p:sp>
      <p:sp>
        <p:nvSpPr>
          <p:cNvPr id="12" name="HPA stat 1 value"/>
          <p:cNvSpPr txBox="1"/>
          <p:nvPr/>
        </p:nvSpPr>
        <p:spPr>
          <a:xfrm>
            <a:off x="4361688" y="4937760"/>
            <a:ext cx="1892808" cy="662940"/>
          </a:xfrm>
          <a:prstGeom prst="rect">
            <a:avLst/>
          </a:prstGeom>
          <a:noFill/>
          <a:ln/>
        </p:spPr>
        <p:txBody>
          <a:bodyPr wrap="square" lIns="0" tIns="0" rIns="0" bIns="0" rtlCol="0" anchor="ctr"/>
          <a:lstStyle/>
          <a:p>
            <a:pPr indent="0" marL="0">
              <a:buNone/>
            </a:pPr>
            <a:r>
              <a:rPr lang="en-US" sz="3000" b="1" dirty="0">
                <a:solidFill>
                  <a:schemeClr val="accent1"/>
                </a:solidFill>
              </a:rPr>
              <a:t>70%</a:t>
            </a:r>
            <a:endParaRPr lang="en-US" sz="3000" dirty="0"/>
          </a:p>
        </p:txBody>
      </p:sp>
      <p:sp>
        <p:nvSpPr>
          <p:cNvPr id="13" name="HPA stat 1 label"/>
          <p:cNvSpPr txBox="1"/>
          <p:nvPr/>
        </p:nvSpPr>
        <p:spPr>
          <a:xfrm>
            <a:off x="4361688" y="5600700"/>
            <a:ext cx="1892808" cy="342900"/>
          </a:xfrm>
          <a:prstGeom prst="rect">
            <a:avLst/>
          </a:prstGeom>
          <a:noFill/>
          <a:ln/>
        </p:spPr>
        <p:txBody>
          <a:bodyPr wrap="square" lIns="0" tIns="0" rIns="0" bIns="0" rtlCol="0" anchor="t"/>
          <a:lstStyle/>
          <a:p>
            <a:pPr indent="0" marL="0">
              <a:buNone/>
            </a:pPr>
            <a:r>
              <a:rPr lang="en-US" sz="1300" dirty="0">
                <a:solidFill>
                  <a:schemeClr val="accent5"/>
                </a:solidFill>
              </a:rPr>
              <a:t>CPU target</a:t>
            </a:r>
            <a:endParaRPr lang="en-US" sz="1300" dirty="0"/>
          </a:p>
        </p:txBody>
      </p:sp>
      <p:sp>
        <p:nvSpPr>
          <p:cNvPr id="14" name="HPA stat 2"/>
          <p:cNvSpPr/>
          <p:nvPr/>
        </p:nvSpPr>
        <p:spPr>
          <a:xfrm>
            <a:off x="6711696" y="4754880"/>
            <a:ext cx="2350008" cy="1325880"/>
          </a:xfrm>
          <a:prstGeom prst="roundRect">
            <a:avLst>
              <a:gd name="adj" fmla="val 6897"/>
            </a:avLst>
          </a:prstGeom>
          <a:solidFill>
            <a:schemeClr val="tx2"/>
          </a:solidFill>
          <a:ln w="9525">
            <a:solidFill>
              <a:schemeClr val="accent6"/>
            </a:solidFill>
            <a:prstDash val="solid"/>
          </a:ln>
        </p:spPr>
      </p:sp>
      <p:sp>
        <p:nvSpPr>
          <p:cNvPr id="15" name="HPA stat 2 value"/>
          <p:cNvSpPr txBox="1"/>
          <p:nvPr/>
        </p:nvSpPr>
        <p:spPr>
          <a:xfrm>
            <a:off x="6940296" y="4937760"/>
            <a:ext cx="1892808" cy="662940"/>
          </a:xfrm>
          <a:prstGeom prst="rect">
            <a:avLst/>
          </a:prstGeom>
          <a:noFill/>
          <a:ln/>
        </p:spPr>
        <p:txBody>
          <a:bodyPr wrap="square" lIns="0" tIns="0" rIns="0" bIns="0" rtlCol="0" anchor="ctr"/>
          <a:lstStyle/>
          <a:p>
            <a:pPr indent="0" marL="0">
              <a:buNone/>
            </a:pPr>
            <a:r>
              <a:rPr lang="en-US" sz="3000" b="1" dirty="0">
                <a:solidFill>
                  <a:schemeClr val="accent3"/>
                </a:solidFill>
              </a:rPr>
              <a:t>383%</a:t>
            </a:r>
            <a:endParaRPr lang="en-US" sz="3000" dirty="0"/>
          </a:p>
        </p:txBody>
      </p:sp>
      <p:sp>
        <p:nvSpPr>
          <p:cNvPr id="16" name="HPA stat 2 label"/>
          <p:cNvSpPr txBox="1"/>
          <p:nvPr/>
        </p:nvSpPr>
        <p:spPr>
          <a:xfrm>
            <a:off x="6940296" y="5600700"/>
            <a:ext cx="1892808" cy="342900"/>
          </a:xfrm>
          <a:prstGeom prst="rect">
            <a:avLst/>
          </a:prstGeom>
          <a:noFill/>
          <a:ln/>
        </p:spPr>
        <p:txBody>
          <a:bodyPr wrap="square" lIns="0" tIns="0" rIns="0" bIns="0" rtlCol="0" anchor="t"/>
          <a:lstStyle/>
          <a:p>
            <a:pPr indent="0" marL="0">
              <a:buNone/>
            </a:pPr>
            <a:r>
              <a:rPr lang="en-US" sz="1300" dirty="0">
                <a:solidFill>
                  <a:schemeClr val="accent5"/>
                </a:solidFill>
              </a:rPr>
              <a:t>of the target at peak</a:t>
            </a:r>
            <a:endParaRPr lang="en-US" sz="1300" dirty="0"/>
          </a:p>
        </p:txBody>
      </p:sp>
      <p:sp>
        <p:nvSpPr>
          <p:cNvPr id="17" name="HPA stat 3"/>
          <p:cNvSpPr/>
          <p:nvPr/>
        </p:nvSpPr>
        <p:spPr>
          <a:xfrm>
            <a:off x="9290304" y="4754880"/>
            <a:ext cx="2350008" cy="1325880"/>
          </a:xfrm>
          <a:prstGeom prst="roundRect">
            <a:avLst>
              <a:gd name="adj" fmla="val 6897"/>
            </a:avLst>
          </a:prstGeom>
          <a:solidFill>
            <a:schemeClr val="tx2"/>
          </a:solidFill>
          <a:ln w="9525">
            <a:solidFill>
              <a:schemeClr val="accent6"/>
            </a:solidFill>
            <a:prstDash val="solid"/>
          </a:ln>
        </p:spPr>
      </p:sp>
      <p:sp>
        <p:nvSpPr>
          <p:cNvPr id="18" name="HPA stat 3 value"/>
          <p:cNvSpPr txBox="1"/>
          <p:nvPr/>
        </p:nvSpPr>
        <p:spPr>
          <a:xfrm>
            <a:off x="9518904" y="4937760"/>
            <a:ext cx="1892808" cy="662940"/>
          </a:xfrm>
          <a:prstGeom prst="rect">
            <a:avLst/>
          </a:prstGeom>
          <a:noFill/>
          <a:ln/>
        </p:spPr>
        <p:txBody>
          <a:bodyPr wrap="square" lIns="0" tIns="0" rIns="0" bIns="0" rtlCol="0" anchor="ctr"/>
          <a:lstStyle/>
          <a:p>
            <a:pPr indent="0" marL="0">
              <a:buNone/>
            </a:pPr>
            <a:r>
              <a:rPr lang="en-US" sz="3000" b="1" dirty="0">
                <a:solidFill>
                  <a:schemeClr val="accent2"/>
                </a:solidFill>
              </a:rPr>
              <a:t>0</a:t>
            </a:r>
            <a:endParaRPr lang="en-US" sz="3000" dirty="0"/>
          </a:p>
        </p:txBody>
      </p:sp>
      <p:sp>
        <p:nvSpPr>
          <p:cNvPr id="19" name="HPA stat 3 label"/>
          <p:cNvSpPr txBox="1"/>
          <p:nvPr/>
        </p:nvSpPr>
        <p:spPr>
          <a:xfrm>
            <a:off x="9518904" y="5600700"/>
            <a:ext cx="1892808" cy="342900"/>
          </a:xfrm>
          <a:prstGeom prst="rect">
            <a:avLst/>
          </a:prstGeom>
          <a:noFill/>
          <a:ln/>
        </p:spPr>
        <p:txBody>
          <a:bodyPr wrap="square" lIns="0" tIns="0" rIns="0" bIns="0" rtlCol="0" anchor="t"/>
          <a:lstStyle/>
          <a:p>
            <a:pPr indent="0" marL="0">
              <a:buNone/>
            </a:pPr>
            <a:r>
              <a:rPr lang="en-US" sz="1300" dirty="0">
                <a:solidFill>
                  <a:schemeClr val="accent5"/>
                </a:solidFill>
              </a:rPr>
              <a:t>heartbeats missed</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GITOPS · WHAT THE LIVE DEMO SHOWS</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A commit deploys itself</a:t>
            </a:r>
            <a:endParaRPr lang="en-US" sz="3600" dirty="0"/>
          </a:p>
        </p:txBody>
      </p:sp>
      <p:sp>
        <p:nvSpPr>
          <p:cNvPr id="4" name="Shape 2"/>
          <p:cNvSpPr/>
          <p:nvPr/>
        </p:nvSpPr>
        <p:spPr>
          <a:xfrm>
            <a:off x="1658082" y="1965960"/>
            <a:ext cx="8875532" cy="0"/>
          </a:xfrm>
          <a:prstGeom prst="line">
            <a:avLst/>
          </a:prstGeom>
          <a:noFill/>
          <a:ln w="19050">
            <a:solidFill>
              <a:schemeClr val="accent6"/>
            </a:solidFill>
            <a:prstDash val="solid"/>
          </a:ln>
        </p:spPr>
      </p:sp>
      <p:sp>
        <p:nvSpPr>
          <p:cNvPr id="5" name="Flow 1"/>
          <p:cNvSpPr/>
          <p:nvPr/>
        </p:nvSpPr>
        <p:spPr>
          <a:xfrm>
            <a:off x="1383762" y="1691640"/>
            <a:ext cx="548640" cy="548640"/>
          </a:xfrm>
          <a:prstGeom prst="ellipse">
            <a:avLst/>
          </a:prstGeom>
          <a:solidFill>
            <a:schemeClr val="tx1"/>
          </a:solidFill>
          <a:ln w="19050">
            <a:solidFill>
              <a:schemeClr val="accent1"/>
            </a:solidFill>
            <a:prstDash val="solid"/>
          </a:ln>
        </p:spPr>
      </p:sp>
      <p:sp>
        <p:nvSpPr>
          <p:cNvPr id="6" name="Flow 1 label"/>
          <p:cNvSpPr txBox="1"/>
          <p:nvPr/>
        </p:nvSpPr>
        <p:spPr>
          <a:xfrm>
            <a:off x="1383762" y="169164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7" name="Text 5"/>
          <p:cNvSpPr txBox="1"/>
          <p:nvPr/>
        </p:nvSpPr>
        <p:spPr>
          <a:xfrm>
            <a:off x="640080" y="2377440"/>
            <a:ext cx="2036003" cy="320040"/>
          </a:xfrm>
          <a:prstGeom prst="rect">
            <a:avLst/>
          </a:prstGeom>
          <a:noFill/>
          <a:ln/>
        </p:spPr>
        <p:txBody>
          <a:bodyPr wrap="square" lIns="0" tIns="0" rIns="0" bIns="0" rtlCol="0" anchor="t"/>
          <a:lstStyle/>
          <a:p>
            <a:pPr algn="ctr" indent="0" marL="0">
              <a:buNone/>
            </a:pPr>
            <a:r>
              <a:rPr lang="en-US" sz="1600" b="1" dirty="0">
                <a:solidFill>
                  <a:schemeClr val="bg2"/>
                </a:solidFill>
              </a:rPr>
              <a:t>Commit</a:t>
            </a:r>
            <a:endParaRPr lang="en-US" sz="1600" dirty="0"/>
          </a:p>
        </p:txBody>
      </p:sp>
      <p:sp>
        <p:nvSpPr>
          <p:cNvPr id="8" name="Text 6"/>
          <p:cNvSpPr txBox="1"/>
          <p:nvPr/>
        </p:nvSpPr>
        <p:spPr>
          <a:xfrm>
            <a:off x="731520" y="2743200"/>
            <a:ext cx="1853123" cy="548640"/>
          </a:xfrm>
          <a:prstGeom prst="rect">
            <a:avLst/>
          </a:prstGeom>
          <a:noFill/>
          <a:ln/>
        </p:spPr>
        <p:txBody>
          <a:bodyPr wrap="square" lIns="0" tIns="0" rIns="0" bIns="0" rtlCol="0" anchor="t"/>
          <a:lstStyle/>
          <a:p>
            <a:pPr algn="ctr" indent="0" marL="0">
              <a:buNone/>
            </a:pPr>
            <a:r>
              <a:rPr lang="en-US" sz="1300" dirty="0">
                <a:solidFill>
                  <a:schemeClr val="accent5"/>
                </a:solidFill>
              </a:rPr>
              <a:t>change the tagline and push</a:t>
            </a:r>
            <a:endParaRPr lang="en-US" sz="1300" dirty="0"/>
          </a:p>
        </p:txBody>
      </p:sp>
      <p:sp>
        <p:nvSpPr>
          <p:cNvPr id="9" name="Flow 2"/>
          <p:cNvSpPr/>
          <p:nvPr/>
        </p:nvSpPr>
        <p:spPr>
          <a:xfrm>
            <a:off x="3602645" y="1691640"/>
            <a:ext cx="548640" cy="548640"/>
          </a:xfrm>
          <a:prstGeom prst="ellipse">
            <a:avLst/>
          </a:prstGeom>
          <a:solidFill>
            <a:schemeClr val="tx1"/>
          </a:solidFill>
          <a:ln w="19050">
            <a:solidFill>
              <a:schemeClr val="accent1"/>
            </a:solidFill>
            <a:prstDash val="solid"/>
          </a:ln>
        </p:spPr>
      </p:sp>
      <p:sp>
        <p:nvSpPr>
          <p:cNvPr id="10" name="Flow 2 label"/>
          <p:cNvSpPr txBox="1"/>
          <p:nvPr/>
        </p:nvSpPr>
        <p:spPr>
          <a:xfrm>
            <a:off x="3602645" y="169164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1" name="Text 9"/>
          <p:cNvSpPr txBox="1"/>
          <p:nvPr/>
        </p:nvSpPr>
        <p:spPr>
          <a:xfrm>
            <a:off x="2858963" y="2377440"/>
            <a:ext cx="2036003" cy="320040"/>
          </a:xfrm>
          <a:prstGeom prst="rect">
            <a:avLst/>
          </a:prstGeom>
          <a:noFill/>
          <a:ln/>
        </p:spPr>
        <p:txBody>
          <a:bodyPr wrap="square" lIns="0" tIns="0" rIns="0" bIns="0" rtlCol="0" anchor="t"/>
          <a:lstStyle/>
          <a:p>
            <a:pPr algn="ctr" indent="0" marL="0">
              <a:buNone/>
            </a:pPr>
            <a:r>
              <a:rPr lang="en-US" sz="1600" b="1" dirty="0">
                <a:solidFill>
                  <a:schemeClr val="bg2"/>
                </a:solidFill>
              </a:rPr>
              <a:t>Pipeline</a:t>
            </a:r>
            <a:endParaRPr lang="en-US" sz="1600" dirty="0"/>
          </a:p>
        </p:txBody>
      </p:sp>
      <p:sp>
        <p:nvSpPr>
          <p:cNvPr id="12" name="Text 10"/>
          <p:cNvSpPr txBox="1"/>
          <p:nvPr/>
        </p:nvSpPr>
        <p:spPr>
          <a:xfrm>
            <a:off x="2950403" y="2743200"/>
            <a:ext cx="1853123" cy="548640"/>
          </a:xfrm>
          <a:prstGeom prst="rect">
            <a:avLst/>
          </a:prstGeom>
          <a:noFill/>
          <a:ln/>
        </p:spPr>
        <p:txBody>
          <a:bodyPr wrap="square" lIns="0" tIns="0" rIns="0" bIns="0" rtlCol="0" anchor="t"/>
          <a:lstStyle/>
          <a:p>
            <a:pPr algn="ctr" indent="0" marL="0">
              <a:buNone/>
            </a:pPr>
            <a:r>
              <a:rPr lang="en-US" sz="1300" dirty="0">
                <a:solidFill>
                  <a:schemeClr val="accent5"/>
                </a:solidFill>
              </a:rPr>
              <a:t>tests, images, Trivy, GHCR: about 3 min</a:t>
            </a:r>
            <a:endParaRPr lang="en-US" sz="1300" dirty="0"/>
          </a:p>
        </p:txBody>
      </p:sp>
      <p:sp>
        <p:nvSpPr>
          <p:cNvPr id="13" name="Flow 3"/>
          <p:cNvSpPr/>
          <p:nvPr/>
        </p:nvSpPr>
        <p:spPr>
          <a:xfrm>
            <a:off x="5821528" y="1691640"/>
            <a:ext cx="548640" cy="548640"/>
          </a:xfrm>
          <a:prstGeom prst="ellipse">
            <a:avLst/>
          </a:prstGeom>
          <a:solidFill>
            <a:schemeClr val="tx1"/>
          </a:solidFill>
          <a:ln w="19050">
            <a:solidFill>
              <a:schemeClr val="accent1"/>
            </a:solidFill>
            <a:prstDash val="solid"/>
          </a:ln>
        </p:spPr>
      </p:sp>
      <p:sp>
        <p:nvSpPr>
          <p:cNvPr id="14" name="Flow 3 label"/>
          <p:cNvSpPr txBox="1"/>
          <p:nvPr/>
        </p:nvSpPr>
        <p:spPr>
          <a:xfrm>
            <a:off x="5821528" y="169164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15" name="Text 13"/>
          <p:cNvSpPr txBox="1"/>
          <p:nvPr/>
        </p:nvSpPr>
        <p:spPr>
          <a:xfrm>
            <a:off x="5077846" y="2377440"/>
            <a:ext cx="2036003" cy="320040"/>
          </a:xfrm>
          <a:prstGeom prst="rect">
            <a:avLst/>
          </a:prstGeom>
          <a:noFill/>
          <a:ln/>
        </p:spPr>
        <p:txBody>
          <a:bodyPr wrap="square" lIns="0" tIns="0" rIns="0" bIns="0" rtlCol="0" anchor="t"/>
          <a:lstStyle/>
          <a:p>
            <a:pPr algn="ctr" indent="0" marL="0">
              <a:buNone/>
            </a:pPr>
            <a:r>
              <a:rPr lang="en-US" sz="1600" b="1" dirty="0">
                <a:solidFill>
                  <a:schemeClr val="bg2"/>
                </a:solidFill>
              </a:rPr>
              <a:t>Promote</a:t>
            </a:r>
            <a:endParaRPr lang="en-US" sz="1600" dirty="0"/>
          </a:p>
        </p:txBody>
      </p:sp>
      <p:sp>
        <p:nvSpPr>
          <p:cNvPr id="16" name="Text 14"/>
          <p:cNvSpPr txBox="1"/>
          <p:nvPr/>
        </p:nvSpPr>
        <p:spPr>
          <a:xfrm>
            <a:off x="5169286" y="2743200"/>
            <a:ext cx="1853123" cy="548640"/>
          </a:xfrm>
          <a:prstGeom prst="rect">
            <a:avLst/>
          </a:prstGeom>
          <a:noFill/>
          <a:ln/>
        </p:spPr>
        <p:txBody>
          <a:bodyPr wrap="square" lIns="0" tIns="0" rIns="0" bIns="0" rtlCol="0" anchor="t"/>
          <a:lstStyle/>
          <a:p>
            <a:pPr algn="ctr" indent="0" marL="0">
              <a:buNone/>
            </a:pPr>
            <a:r>
              <a:rPr lang="en-US" sz="1300" dirty="0">
                <a:solidFill>
                  <a:schemeClr val="accent5"/>
                </a:solidFill>
              </a:rPr>
              <a:t>a bot commits the new tag [skip ci]</a:t>
            </a:r>
            <a:endParaRPr lang="en-US" sz="1300" dirty="0"/>
          </a:p>
        </p:txBody>
      </p:sp>
      <p:sp>
        <p:nvSpPr>
          <p:cNvPr id="17" name="Flow 4"/>
          <p:cNvSpPr/>
          <p:nvPr/>
        </p:nvSpPr>
        <p:spPr>
          <a:xfrm>
            <a:off x="8040411" y="1691640"/>
            <a:ext cx="548640" cy="548640"/>
          </a:xfrm>
          <a:prstGeom prst="ellipse">
            <a:avLst/>
          </a:prstGeom>
          <a:solidFill>
            <a:schemeClr val="tx1"/>
          </a:solidFill>
          <a:ln w="19050">
            <a:solidFill>
              <a:schemeClr val="accent1"/>
            </a:solidFill>
            <a:prstDash val="solid"/>
          </a:ln>
        </p:spPr>
      </p:sp>
      <p:sp>
        <p:nvSpPr>
          <p:cNvPr id="18" name="Flow 4 label"/>
          <p:cNvSpPr txBox="1"/>
          <p:nvPr/>
        </p:nvSpPr>
        <p:spPr>
          <a:xfrm>
            <a:off x="8040411" y="169164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19" name="Text 17"/>
          <p:cNvSpPr txBox="1"/>
          <p:nvPr/>
        </p:nvSpPr>
        <p:spPr>
          <a:xfrm>
            <a:off x="7296729" y="2377440"/>
            <a:ext cx="2036003" cy="320040"/>
          </a:xfrm>
          <a:prstGeom prst="rect">
            <a:avLst/>
          </a:prstGeom>
          <a:noFill/>
          <a:ln/>
        </p:spPr>
        <p:txBody>
          <a:bodyPr wrap="square" lIns="0" tIns="0" rIns="0" bIns="0" rtlCol="0" anchor="t"/>
          <a:lstStyle/>
          <a:p>
            <a:pPr algn="ctr" indent="0" marL="0">
              <a:buNone/>
            </a:pPr>
            <a:r>
              <a:rPr lang="en-US" sz="1600" b="1" dirty="0">
                <a:solidFill>
                  <a:schemeClr val="bg2"/>
                </a:solidFill>
              </a:rPr>
              <a:t>ArgoCD</a:t>
            </a:r>
            <a:endParaRPr lang="en-US" sz="1600" dirty="0"/>
          </a:p>
        </p:txBody>
      </p:sp>
      <p:sp>
        <p:nvSpPr>
          <p:cNvPr id="20" name="Text 18"/>
          <p:cNvSpPr txBox="1"/>
          <p:nvPr/>
        </p:nvSpPr>
        <p:spPr>
          <a:xfrm>
            <a:off x="7388169" y="2743200"/>
            <a:ext cx="1853123" cy="548640"/>
          </a:xfrm>
          <a:prstGeom prst="rect">
            <a:avLst/>
          </a:prstGeom>
          <a:noFill/>
          <a:ln/>
        </p:spPr>
        <p:txBody>
          <a:bodyPr wrap="square" lIns="0" tIns="0" rIns="0" bIns="0" rtlCol="0" anchor="t"/>
          <a:lstStyle/>
          <a:p>
            <a:pPr algn="ctr" indent="0" marL="0">
              <a:buNone/>
            </a:pPr>
            <a:r>
              <a:rPr lang="en-US" sz="1300" dirty="0">
                <a:solidFill>
                  <a:schemeClr val="accent5"/>
                </a:solidFill>
              </a:rPr>
              <a:t>notices within a minute, then syncs</a:t>
            </a:r>
            <a:endParaRPr lang="en-US" sz="1300" dirty="0"/>
          </a:p>
        </p:txBody>
      </p:sp>
      <p:sp>
        <p:nvSpPr>
          <p:cNvPr id="21" name="Flow 5"/>
          <p:cNvSpPr/>
          <p:nvPr/>
        </p:nvSpPr>
        <p:spPr>
          <a:xfrm>
            <a:off x="10259294" y="1691640"/>
            <a:ext cx="548640" cy="548640"/>
          </a:xfrm>
          <a:prstGeom prst="ellipse">
            <a:avLst/>
          </a:prstGeom>
          <a:solidFill>
            <a:schemeClr val="tx1"/>
          </a:solidFill>
          <a:ln w="19050">
            <a:solidFill>
              <a:schemeClr val="accent2"/>
            </a:solidFill>
            <a:prstDash val="solid"/>
          </a:ln>
        </p:spPr>
      </p:sp>
      <p:sp>
        <p:nvSpPr>
          <p:cNvPr id="22" name="Flow 5 label"/>
          <p:cNvSpPr txBox="1"/>
          <p:nvPr/>
        </p:nvSpPr>
        <p:spPr>
          <a:xfrm>
            <a:off x="10259294" y="1691640"/>
            <a:ext cx="548640" cy="548640"/>
          </a:xfrm>
          <a:prstGeom prst="rect">
            <a:avLst/>
          </a:prstGeom>
          <a:noFill/>
          <a:ln/>
        </p:spPr>
        <p:txBody>
          <a:bodyPr wrap="square" lIns="0" tIns="0" rIns="0" bIns="0" rtlCol="0" anchor="ctr"/>
          <a:lstStyle/>
          <a:p>
            <a:pPr algn="ctr" indent="0" marL="0">
              <a:buNone/>
            </a:pPr>
            <a:r>
              <a:rPr lang="en-US" sz="1500" b="1" dirty="0">
                <a:solidFill>
                  <a:schemeClr val="accent2"/>
                </a:solidFill>
              </a:rPr>
              <a:t>5</a:t>
            </a:r>
            <a:endParaRPr lang="en-US" sz="1500" dirty="0"/>
          </a:p>
        </p:txBody>
      </p:sp>
      <p:sp>
        <p:nvSpPr>
          <p:cNvPr id="23" name="Text 21"/>
          <p:cNvSpPr txBox="1"/>
          <p:nvPr/>
        </p:nvSpPr>
        <p:spPr>
          <a:xfrm>
            <a:off x="9515612" y="2377440"/>
            <a:ext cx="2036003" cy="320040"/>
          </a:xfrm>
          <a:prstGeom prst="rect">
            <a:avLst/>
          </a:prstGeom>
          <a:noFill/>
          <a:ln/>
        </p:spPr>
        <p:txBody>
          <a:bodyPr wrap="square" lIns="0" tIns="0" rIns="0" bIns="0" rtlCol="0" anchor="t"/>
          <a:lstStyle/>
          <a:p>
            <a:pPr algn="ctr" indent="0" marL="0">
              <a:buNone/>
            </a:pPr>
            <a:r>
              <a:rPr lang="en-US" sz="1600" b="1" dirty="0">
                <a:solidFill>
                  <a:schemeClr val="bg2"/>
                </a:solidFill>
              </a:rPr>
              <a:t>Live</a:t>
            </a:r>
            <a:endParaRPr lang="en-US" sz="1600" dirty="0"/>
          </a:p>
        </p:txBody>
      </p:sp>
      <p:sp>
        <p:nvSpPr>
          <p:cNvPr id="24" name="Text 22"/>
          <p:cNvSpPr txBox="1"/>
          <p:nvPr/>
        </p:nvSpPr>
        <p:spPr>
          <a:xfrm>
            <a:off x="9607052" y="2743200"/>
            <a:ext cx="1853123" cy="548640"/>
          </a:xfrm>
          <a:prstGeom prst="rect">
            <a:avLst/>
          </a:prstGeom>
          <a:noFill/>
          <a:ln/>
        </p:spPr>
        <p:txBody>
          <a:bodyPr wrap="square" lIns="0" tIns="0" rIns="0" bIns="0" rtlCol="0" anchor="t"/>
          <a:lstStyle/>
          <a:p>
            <a:pPr algn="ctr" indent="0" marL="0">
              <a:buNone/>
            </a:pPr>
            <a:r>
              <a:rPr lang="en-US" sz="1300" dirty="0">
                <a:solidFill>
                  <a:schemeClr val="accent5"/>
                </a:solidFill>
              </a:rPr>
              <a:t>pods roll; the board shows the new SHA</a:t>
            </a:r>
            <a:endParaRPr lang="en-US" sz="1300" dirty="0"/>
          </a:p>
        </p:txBody>
      </p:sp>
      <p:sp>
        <p:nvSpPr>
          <p:cNvPr id="25" name="ArgoCD rollout screenshot frame"/>
          <p:cNvSpPr/>
          <p:nvPr/>
        </p:nvSpPr>
        <p:spPr>
          <a:xfrm>
            <a:off x="548640" y="3538728"/>
            <a:ext cx="6547104" cy="2691994"/>
          </a:xfrm>
          <a:prstGeom prst="roundRect">
            <a:avLst>
              <a:gd name="adj" fmla="val 3397"/>
            </a:avLst>
          </a:prstGeom>
          <a:solidFill>
            <a:schemeClr val="tx2"/>
          </a:solidFill>
          <a:ln w="9525">
            <a:solidFill>
              <a:schemeClr val="accent6"/>
            </a:solidFill>
            <a:prstDash val="solid"/>
          </a:ln>
        </p:spPr>
      </p:sp>
      <p:pic>
        <p:nvPicPr>
          <p:cNvPr id="26" name="ArgoCD rollout screenshot" descr="ArgoCD synced and healthy; deployments running the new sha-f1b0202 images">    </p:cNvPr>
          <p:cNvPicPr>
            <a:picLocks noChangeAspect="1"/>
          </p:cNvPicPr>
          <p:nvPr/>
        </p:nvPicPr>
        <p:blipFill>
          <a:blip r:embed="rId1"/>
          <a:stretch>
            <a:fillRect/>
          </a:stretch>
        </p:blipFill>
        <p:spPr>
          <a:xfrm>
            <a:off x="621792" y="3611880"/>
            <a:ext cx="6400800" cy="2545690"/>
          </a:xfrm>
          <a:prstGeom prst="rect">
            <a:avLst/>
          </a:prstGeom>
        </p:spPr>
      </p:pic>
      <p:sp>
        <p:nvSpPr>
          <p:cNvPr id="27" name="Rollout result card"/>
          <p:cNvSpPr/>
          <p:nvPr/>
        </p:nvSpPr>
        <p:spPr>
          <a:xfrm>
            <a:off x="7315200" y="3538728"/>
            <a:ext cx="4325112" cy="2697480"/>
          </a:xfrm>
          <a:prstGeom prst="roundRect">
            <a:avLst>
              <a:gd name="adj" fmla="val 3390"/>
            </a:avLst>
          </a:prstGeom>
          <a:solidFill>
            <a:schemeClr val="tx2"/>
          </a:solidFill>
          <a:ln w="9525">
            <a:solidFill>
              <a:schemeClr val="accent6"/>
            </a:solidFill>
            <a:prstDash val="solid"/>
          </a:ln>
        </p:spPr>
      </p:sp>
      <p:sp>
        <p:nvSpPr>
          <p:cNvPr id="28" name="Text 25"/>
          <p:cNvSpPr txBox="1"/>
          <p:nvPr/>
        </p:nvSpPr>
        <p:spPr>
          <a:xfrm>
            <a:off x="7589520" y="3703320"/>
            <a:ext cx="3840480" cy="365760"/>
          </a:xfrm>
          <a:prstGeom prst="rect">
            <a:avLst/>
          </a:prstGeom>
          <a:noFill/>
          <a:ln/>
        </p:spPr>
        <p:txBody>
          <a:bodyPr wrap="square" lIns="0" tIns="0" rIns="0" bIns="0" rtlCol="0" anchor="t"/>
          <a:lstStyle/>
          <a:p>
            <a:pPr indent="0" marL="0">
              <a:buNone/>
            </a:pPr>
            <a:r>
              <a:rPr lang="en-US" sz="1700" b="1" dirty="0">
                <a:solidFill>
                  <a:schemeClr val="bg2"/>
                </a:solidFill>
              </a:rPr>
              <a:t>Recorded run</a:t>
            </a:r>
            <a:endParaRPr lang="en-US" sz="1700" dirty="0"/>
          </a:p>
        </p:txBody>
      </p:sp>
      <p:sp>
        <p:nvSpPr>
          <p:cNvPr id="29" name="Text 26"/>
          <p:cNvSpPr txBox="1"/>
          <p:nvPr/>
        </p:nvSpPr>
        <p:spPr>
          <a:xfrm>
            <a:off x="7717536" y="4160520"/>
            <a:ext cx="3712464" cy="1965960"/>
          </a:xfrm>
          <a:prstGeom prst="rect">
            <a:avLst/>
          </a:prstGeom>
          <a:noFill/>
          <a:ln/>
        </p:spPr>
        <p:txBody>
          <a:bodyPr wrap="square" lIns="0" tIns="0" rIns="0" bIns="0" rtlCol="0" anchor="t"/>
          <a:lstStyle/>
          <a:p>
            <a:pPr marL="203200" indent="-203200">
              <a:spcAft>
                <a:spcPts val="600"/>
              </a:spcAft>
              <a:buClr>
                <a:schemeClr val="accent1"/>
              </a:buClr>
              <a:buSzPct val="100000"/>
              <a:buChar char="•"/>
            </a:pPr>
            <a:r>
              <a:rPr lang="en-US" sz="1400" dirty="0">
                <a:solidFill>
                  <a:schemeClr val="accent5"/>
                </a:solidFill>
              </a:rPr>
              <a:t>sha-f1b0202 went from commit to pods with no kubectl or helm by hand</a:t>
            </a:r>
            <a:endParaRPr lang="en-US" sz="1400" dirty="0"/>
          </a:p>
          <a:p>
            <a:pPr marL="203200" indent="-203200">
              <a:spcAft>
                <a:spcPts val="600"/>
              </a:spcAft>
              <a:buClr>
                <a:schemeClr val="accent1"/>
              </a:buClr>
              <a:buSzPct val="100000"/>
              <a:buChar char="•"/>
            </a:pPr>
            <a:r>
              <a:rPr lang="en-US" sz="1400" dirty="0">
                <a:solidFill>
                  <a:schemeClr val="accent5"/>
                </a:solidFill>
              </a:rPr>
              <a:t>ArgoCD: Synced and Healthy</a:t>
            </a:r>
            <a:endParaRPr lang="en-US" sz="1400" dirty="0"/>
          </a:p>
          <a:p>
            <a:pPr marL="203200" indent="-203200">
              <a:spcAft>
                <a:spcPts val="600"/>
              </a:spcAft>
              <a:buClr>
                <a:schemeClr val="accent1"/>
              </a:buClr>
              <a:buSzPct val="100000"/>
              <a:buChar char="•"/>
            </a:pPr>
            <a:r>
              <a:rPr lang="en-US" sz="1400" dirty="0">
                <a:solidFill>
                  <a:schemeClr val="accent5"/>
                </a:solidFill>
              </a:rPr>
              <a:t>Healthy services stayed at 100% through the rollout</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12 · MONITORING</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Metrics, burn-rate alerts, a dashboard</a:t>
            </a:r>
            <a:endParaRPr lang="en-US" sz="3600" dirty="0"/>
          </a:p>
        </p:txBody>
      </p:sp>
      <p:sp>
        <p:nvSpPr>
          <p:cNvPr id="4" name="Grafana dashboard screenshot frame"/>
          <p:cNvSpPr/>
          <p:nvPr/>
        </p:nvSpPr>
        <p:spPr>
          <a:xfrm>
            <a:off x="548640" y="1691640"/>
            <a:ext cx="6272784" cy="3434486"/>
          </a:xfrm>
          <a:prstGeom prst="roundRect">
            <a:avLst>
              <a:gd name="adj" fmla="val 2662"/>
            </a:avLst>
          </a:prstGeom>
          <a:solidFill>
            <a:schemeClr val="tx2"/>
          </a:solidFill>
          <a:ln w="9525">
            <a:solidFill>
              <a:schemeClr val="accent6"/>
            </a:solidFill>
            <a:prstDash val="solid"/>
          </a:ln>
        </p:spPr>
      </p:sp>
      <p:pic>
        <p:nvPicPr>
          <p:cNvPr id="5" name="Grafana dashboard screenshot" descr="Grafana dashboard: services up and down, uptime, error budget and burn rate per service">    </p:cNvPr>
          <p:cNvPicPr>
            <a:picLocks noChangeAspect="1"/>
          </p:cNvPicPr>
          <p:nvPr/>
        </p:nvPicPr>
        <p:blipFill>
          <a:blip r:embed="rId1"/>
          <a:stretch>
            <a:fillRect/>
          </a:stretch>
        </p:blipFill>
        <p:spPr>
          <a:xfrm>
            <a:off x="621792" y="1764792"/>
            <a:ext cx="6126480" cy="3288182"/>
          </a:xfrm>
          <a:prstGeom prst="rect">
            <a:avLst/>
          </a:prstGeom>
        </p:spPr>
      </p:pic>
      <p:sp>
        <p:nvSpPr>
          <p:cNvPr id="6" name="Text 3"/>
          <p:cNvSpPr txBox="1"/>
          <p:nvPr/>
        </p:nvSpPr>
        <p:spPr>
          <a:xfrm>
            <a:off x="548640" y="5230368"/>
            <a:ext cx="6126480" cy="457200"/>
          </a:xfrm>
          <a:prstGeom prst="rect">
            <a:avLst/>
          </a:prstGeom>
          <a:noFill/>
          <a:ln/>
        </p:spPr>
        <p:txBody>
          <a:bodyPr wrap="square" lIns="0" tIns="0" rIns="0" bIns="0" rtlCol="0" anchor="t"/>
          <a:lstStyle/>
          <a:p>
            <a:pPr indent="0" marL="0">
              <a:buNone/>
            </a:pPr>
            <a:r>
              <a:rPr lang="en-US" sz="1200" dirty="0">
                <a:solidFill>
                  <a:schemeClr val="accent5"/>
                </a:solidFill>
              </a:rPr>
              <a:t>Provisioned automatically from a ConfigMap: per-service uptime, budgets and burn rates</a:t>
            </a:r>
            <a:endParaRPr lang="en-US" sz="1200" dirty="0"/>
          </a:p>
        </p:txBody>
      </p:sp>
      <p:graphicFrame>
        <p:nvGraphicFramePr>
          <p:cNvPr id="14" name="Alert rules table"/>
          <p:cNvGraphicFramePr>
            <a:graphicFrameLocks noGrp="1"/>
          </p:cNvGraphicFramePr>
          <p:nvPr>
            <p:extLst>
              <p:ext uri="{D42A27DB-BD31-4B8C-83A1-F6EECF244321}">
                <p14:modId xmlns:p14="http://schemas.microsoft.com/office/powerpoint/2010/main" val="1579011935"/>
              </p:ext>
            </p:extLst>
          </p:nvPr>
        </p:nvGraphicFramePr>
        <p:xfrm>
          <a:off x="7132320" y="1691640"/>
          <a:ext cx="4389120" cy="914400"/>
        </p:xfrm>
        <a:graphic>
          <a:graphicData uri="http://schemas.openxmlformats.org/drawingml/2006/table">
            <a:tbl>
              <a:tblPr/>
              <a:tblGrid>
                <a:gridCol w="1828800"/>
                <a:gridCol w="1600200"/>
                <a:gridCol w="960120"/>
              </a:tblGrid>
              <a:tr h="438912">
                <a:tc>
                  <a:txBody>
                    <a:bodyPr/>
                    <a:lstStyle/>
                    <a:p>
                      <a:pPr indent="0" marL="0">
                        <a:buNone/>
                      </a:pPr>
                      <a:r>
                        <a:rPr lang="en-US" sz="1400" b="1" dirty="0">
                          <a:solidFill>
                            <a:srgbClr val="E2E8F0"/>
                          </a:solidFill>
                          <a:latin typeface="Arial" pitchFamily="34" charset="0"/>
                          <a:ea typeface="Arial" pitchFamily="34" charset="-122"/>
                          <a:cs typeface="Arial" pitchFamily="34" charset="-120"/>
                        </a:rPr>
                        <a:t>Alert</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22304D"/>
                    </a:solidFill>
                  </a:tcPr>
                </a:tc>
                <a:tc>
                  <a:txBody>
                    <a:bodyPr/>
                    <a:lstStyle/>
                    <a:p>
                      <a:pPr indent="0" marL="0">
                        <a:buNone/>
                      </a:pPr>
                      <a:r>
                        <a:rPr lang="en-US" sz="1400" b="1" dirty="0">
                          <a:solidFill>
                            <a:srgbClr val="E2E8F0"/>
                          </a:solidFill>
                          <a:latin typeface="Arial" pitchFamily="34" charset="0"/>
                          <a:ea typeface="Arial" pitchFamily="34" charset="-122"/>
                          <a:cs typeface="Arial" pitchFamily="34" charset="-120"/>
                        </a:rPr>
                        <a:t>Fires when</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22304D"/>
                    </a:solidFill>
                  </a:tcPr>
                </a:tc>
                <a:tc>
                  <a:txBody>
                    <a:bodyPr/>
                    <a:lstStyle/>
                    <a:p>
                      <a:pPr indent="0" marL="0">
                        <a:buNone/>
                      </a:pPr>
                      <a:r>
                        <a:rPr lang="en-US" sz="1400" b="1" dirty="0">
                          <a:solidFill>
                            <a:srgbClr val="E2E8F0"/>
                          </a:solidFill>
                          <a:latin typeface="Arial" pitchFamily="34" charset="0"/>
                          <a:ea typeface="Arial" pitchFamily="34" charset="-122"/>
                          <a:cs typeface="Arial" pitchFamily="34" charset="-120"/>
                        </a:rPr>
                        <a:t>Severity</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22304D"/>
                    </a:solidFill>
                  </a:tcPr>
                </a:tc>
              </a:tr>
              <a:tr h="438912">
                <a:tc>
                  <a:txBody>
                    <a:bodyPr/>
                    <a:lstStyle/>
                    <a:p>
                      <a:pPr indent="0" marL="0">
                        <a:buNone/>
                      </a:pPr>
                      <a:r>
                        <a:rPr lang="en-US" sz="1400" b="1" dirty="0">
                          <a:solidFill>
                            <a:srgbClr val="E2E8F0"/>
                          </a:solidFill>
                          <a:latin typeface="Arial" pitchFamily="34" charset="0"/>
                          <a:ea typeface="Arial" pitchFamily="34" charset="-122"/>
                          <a:cs typeface="Arial" pitchFamily="34" charset="-120"/>
                        </a:rPr>
                        <a:t>Fast burn</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dirty="0">
                          <a:solidFill>
                            <a:srgbClr val="E2E8F0"/>
                          </a:solidFill>
                          <a:latin typeface="Arial" pitchFamily="34" charset="0"/>
                          <a:ea typeface="Arial" pitchFamily="34" charset="-122"/>
                          <a:cs typeface="Arial" pitchFamily="34" charset="-120"/>
                        </a:rPr>
                        <a:t>1h &amp; 5m &gt; 14.4×</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b="1" dirty="0">
                          <a:solidFill>
                            <a:srgbClr val="F87171"/>
                          </a:solidFill>
                          <a:latin typeface="Arial" pitchFamily="34" charset="0"/>
                          <a:ea typeface="Arial" pitchFamily="34" charset="-122"/>
                          <a:cs typeface="Arial" pitchFamily="34" charset="-120"/>
                        </a:rPr>
                        <a:t>page</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r>
              <a:tr h="438912">
                <a:tc>
                  <a:txBody>
                    <a:bodyPr/>
                    <a:lstStyle/>
                    <a:p>
                      <a:pPr indent="0" marL="0">
                        <a:buNone/>
                      </a:pPr>
                      <a:r>
                        <a:rPr lang="en-US" sz="1400" b="1" dirty="0">
                          <a:solidFill>
                            <a:srgbClr val="E2E8F0"/>
                          </a:solidFill>
                          <a:latin typeface="Arial" pitchFamily="34" charset="0"/>
                          <a:ea typeface="Arial" pitchFamily="34" charset="-122"/>
                          <a:cs typeface="Arial" pitchFamily="34" charset="-120"/>
                        </a:rPr>
                        <a:t>Medium burn</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dirty="0">
                          <a:solidFill>
                            <a:srgbClr val="E2E8F0"/>
                          </a:solidFill>
                          <a:latin typeface="Arial" pitchFamily="34" charset="0"/>
                          <a:ea typeface="Arial" pitchFamily="34" charset="-122"/>
                          <a:cs typeface="Arial" pitchFamily="34" charset="-120"/>
                        </a:rPr>
                        <a:t>6h &amp; 30m &gt; 6×</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b="1" dirty="0">
                          <a:solidFill>
                            <a:srgbClr val="F87171"/>
                          </a:solidFill>
                          <a:latin typeface="Arial" pitchFamily="34" charset="0"/>
                          <a:ea typeface="Arial" pitchFamily="34" charset="-122"/>
                          <a:cs typeface="Arial" pitchFamily="34" charset="-120"/>
                        </a:rPr>
                        <a:t>page</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r>
              <a:tr h="438912">
                <a:tc>
                  <a:txBody>
                    <a:bodyPr/>
                    <a:lstStyle/>
                    <a:p>
                      <a:pPr indent="0" marL="0">
                        <a:buNone/>
                      </a:pPr>
                      <a:r>
                        <a:rPr lang="en-US" sz="1400" b="1" dirty="0">
                          <a:solidFill>
                            <a:srgbClr val="E2E8F0"/>
                          </a:solidFill>
                          <a:latin typeface="Arial" pitchFamily="34" charset="0"/>
                          <a:ea typeface="Arial" pitchFamily="34" charset="-122"/>
                          <a:cs typeface="Arial" pitchFamily="34" charset="-120"/>
                        </a:rPr>
                        <a:t>Slow burn</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dirty="0">
                          <a:solidFill>
                            <a:srgbClr val="E2E8F0"/>
                          </a:solidFill>
                          <a:latin typeface="Arial" pitchFamily="34" charset="0"/>
                          <a:ea typeface="Arial" pitchFamily="34" charset="-122"/>
                          <a:cs typeface="Arial" pitchFamily="34" charset="-120"/>
                        </a:rPr>
                        <a:t>24h &amp; 1h &gt; 1×</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b="1" dirty="0">
                          <a:solidFill>
                            <a:srgbClr val="FBBF24"/>
                          </a:solidFill>
                          <a:latin typeface="Arial" pitchFamily="34" charset="0"/>
                          <a:ea typeface="Arial" pitchFamily="34" charset="-122"/>
                          <a:cs typeface="Arial" pitchFamily="34" charset="-120"/>
                        </a:rPr>
                        <a:t>ticket</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r>
              <a:tr h="438912">
                <a:tc>
                  <a:txBody>
                    <a:bodyPr/>
                    <a:lstStyle/>
                    <a:p>
                      <a:pPr indent="0" marL="0">
                        <a:buNone/>
                      </a:pPr>
                      <a:r>
                        <a:rPr lang="en-US" sz="1400" b="1" dirty="0">
                          <a:solidFill>
                            <a:srgbClr val="E2E8F0"/>
                          </a:solidFill>
                          <a:latin typeface="Arial" pitchFamily="34" charset="0"/>
                          <a:ea typeface="Arial" pitchFamily="34" charset="-122"/>
                          <a:cs typeface="Arial" pitchFamily="34" charset="-120"/>
                        </a:rPr>
                        <a:t>Service down</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dirty="0">
                          <a:solidFill>
                            <a:srgbClr val="E2E8F0"/>
                          </a:solidFill>
                          <a:latin typeface="Arial" pitchFamily="34" charset="0"/>
                          <a:ea typeface="Arial" pitchFamily="34" charset="-122"/>
                          <a:cs typeface="Arial" pitchFamily="34" charset="-120"/>
                        </a:rPr>
                        <a:t>down for 1 min</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b="1" dirty="0">
                          <a:solidFill>
                            <a:srgbClr val="F87171"/>
                          </a:solidFill>
                          <a:latin typeface="Arial" pitchFamily="34" charset="0"/>
                          <a:ea typeface="Arial" pitchFamily="34" charset="-122"/>
                          <a:cs typeface="Arial" pitchFamily="34" charset="-120"/>
                        </a:rPr>
                        <a:t>page</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r>
              <a:tr h="438912">
                <a:tc>
                  <a:txBody>
                    <a:bodyPr/>
                    <a:lstStyle/>
                    <a:p>
                      <a:pPr indent="0" marL="0">
                        <a:buNone/>
                      </a:pPr>
                      <a:r>
                        <a:rPr lang="en-US" sz="1400" b="1" dirty="0">
                          <a:solidFill>
                            <a:srgbClr val="E2E8F0"/>
                          </a:solidFill>
                          <a:latin typeface="Arial" pitchFamily="34" charset="0"/>
                          <a:ea typeface="Arial" pitchFamily="34" charset="-122"/>
                          <a:cs typeface="Arial" pitchFamily="34" charset="-120"/>
                        </a:rPr>
                        <a:t>Budget exhausted</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dirty="0">
                          <a:solidFill>
                            <a:srgbClr val="E2E8F0"/>
                          </a:solidFill>
                          <a:latin typeface="Arial" pitchFamily="34" charset="0"/>
                          <a:ea typeface="Arial" pitchFamily="34" charset="-122"/>
                          <a:cs typeface="Arial" pitchFamily="34" charset="-120"/>
                        </a:rPr>
                        <a:t>24h budget &lt; 0</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c>
                  <a:txBody>
                    <a:bodyPr/>
                    <a:lstStyle/>
                    <a:p>
                      <a:pPr indent="0" marL="0">
                        <a:buNone/>
                      </a:pPr>
                      <a:r>
                        <a:rPr lang="en-US" sz="1400" b="1" dirty="0">
                          <a:solidFill>
                            <a:srgbClr val="FBBF24"/>
                          </a:solidFill>
                          <a:latin typeface="Arial" pitchFamily="34" charset="0"/>
                          <a:ea typeface="Arial" pitchFamily="34" charset="-122"/>
                          <a:cs typeface="Arial" pitchFamily="34" charset="-120"/>
                        </a:rPr>
                        <a:t>ticket</a:t>
                      </a:r>
                      <a:endParaRPr lang="en-US" sz="1400" dirty="0">
                        <a:latin typeface="Arial" charset="0"/>
                        <a:ea typeface="Arial" charset="0"/>
                        <a:cs typeface="Arial" charset="0"/>
                      </a:endParaRPr>
                    </a:p>
                  </a:txBody>
                  <a:tcPr marL="91440" marR="91440" marT="0" marB="0" anchor="ctr">
                    <a:lnL w="9525" cap="flat" cmpd="sng" algn="ctr">
                      <a:solidFill>
                        <a:srgbClr val="22304D"/>
                      </a:solidFill>
                      <a:prstDash val="solid"/>
                      <a:round/>
                      <a:headEnd type="none" w="med" len="med"/>
                      <a:tailEnd type="none" w="med" len="med"/>
                    </a:lnL>
                    <a:lnR w="9525" cap="flat" cmpd="sng" algn="ctr">
                      <a:solidFill>
                        <a:srgbClr val="22304D"/>
                      </a:solidFill>
                      <a:prstDash val="solid"/>
                      <a:round/>
                      <a:headEnd type="none" w="med" len="med"/>
                      <a:tailEnd type="none" w="med" len="med"/>
                    </a:lnR>
                    <a:lnT w="9525" cap="flat" cmpd="sng" algn="ctr">
                      <a:solidFill>
                        <a:srgbClr val="22304D"/>
                      </a:solidFill>
                      <a:prstDash val="solid"/>
                      <a:round/>
                      <a:headEnd type="none" w="med" len="med"/>
                      <a:tailEnd type="none" w="med" len="med"/>
                    </a:lnT>
                    <a:lnB w="9525" cap="flat" cmpd="sng" algn="ctr">
                      <a:solidFill>
                        <a:srgbClr val="22304D"/>
                      </a:solidFill>
                      <a:prstDash val="solid"/>
                      <a:round/>
                      <a:headEnd type="none" w="med" len="med"/>
                      <a:tailEnd type="none" w="med" len="med"/>
                    </a:lnB>
                    <a:solidFill>
                      <a:srgbClr val="111A2E"/>
                    </a:solidFill>
                  </a:tcPr>
                </a:tc>
              </a:tr>
            </a:tbl>
          </a:graphicData>
        </a:graphic>
      </p:graphicFrame>
      <p:sp>
        <p:nvSpPr>
          <p:cNvPr id="8" name="Metrics card"/>
          <p:cNvSpPr/>
          <p:nvPr/>
        </p:nvSpPr>
        <p:spPr>
          <a:xfrm>
            <a:off x="7132320" y="3904488"/>
            <a:ext cx="4507992" cy="1225296"/>
          </a:xfrm>
          <a:prstGeom prst="roundRect">
            <a:avLst>
              <a:gd name="adj" fmla="val 7463"/>
            </a:avLst>
          </a:prstGeom>
          <a:solidFill>
            <a:schemeClr val="tx2"/>
          </a:solidFill>
          <a:ln w="9525">
            <a:solidFill>
              <a:schemeClr val="accent6"/>
            </a:solidFill>
            <a:prstDash val="solid"/>
          </a:ln>
        </p:spPr>
      </p:sp>
      <p:sp>
        <p:nvSpPr>
          <p:cNvPr id="9" name="Text 5"/>
          <p:cNvSpPr txBox="1"/>
          <p:nvPr/>
        </p:nvSpPr>
        <p:spPr>
          <a:xfrm>
            <a:off x="7360920" y="4023360"/>
            <a:ext cx="4069080" cy="1005840"/>
          </a:xfrm>
          <a:prstGeom prst="rect">
            <a:avLst/>
          </a:prstGeom>
          <a:noFill/>
          <a:ln/>
        </p:spPr>
        <p:txBody>
          <a:bodyPr wrap="square" lIns="0" tIns="0" rIns="0" bIns="0" rtlCol="0" anchor="t"/>
          <a:lstStyle/>
          <a:p>
            <a:pPr indent="0" marL="0">
              <a:buNone/>
            </a:pPr>
            <a:r>
              <a:rPr lang="en-US" sz="1400" dirty="0">
                <a:solidFill>
                  <a:schemeClr val="accent5"/>
                </a:solidFill>
              </a:rPr>
              <a:t>SLO gauges are computed from the database at scrape time, so every replica reports the same numbers. honorLabels keeps each monitored service's label intact.</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13 · TROUBLESHOOTING</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Six real incidents, six root causes</a:t>
            </a:r>
            <a:endParaRPr lang="en-US" sz="3600" dirty="0"/>
          </a:p>
        </p:txBody>
      </p:sp>
      <p:sp>
        <p:nvSpPr>
          <p:cNvPr id="4" name="Incident 1 card"/>
          <p:cNvSpPr/>
          <p:nvPr/>
        </p:nvSpPr>
        <p:spPr>
          <a:xfrm>
            <a:off x="548640" y="1691640"/>
            <a:ext cx="3545738" cy="2084832"/>
          </a:xfrm>
          <a:prstGeom prst="roundRect">
            <a:avLst>
              <a:gd name="adj" fmla="val 4386"/>
            </a:avLst>
          </a:prstGeom>
          <a:solidFill>
            <a:schemeClr val="tx2"/>
          </a:solidFill>
          <a:ln w="9525">
            <a:solidFill>
              <a:schemeClr val="accent6"/>
            </a:solidFill>
            <a:prstDash val="solid"/>
          </a:ln>
        </p:spPr>
      </p:sp>
      <p:sp>
        <p:nvSpPr>
          <p:cNvPr id="5" name="Text 3"/>
          <p:cNvSpPr txBox="1"/>
          <p:nvPr/>
        </p:nvSpPr>
        <p:spPr>
          <a:xfrm>
            <a:off x="777240" y="1856232"/>
            <a:ext cx="3088538" cy="685800"/>
          </a:xfrm>
          <a:prstGeom prst="rect">
            <a:avLst/>
          </a:prstGeom>
          <a:noFill/>
          <a:ln/>
        </p:spPr>
        <p:txBody>
          <a:bodyPr wrap="square" lIns="0" tIns="0" rIns="0" bIns="0" rtlCol="0" anchor="t"/>
          <a:lstStyle/>
          <a:p>
            <a:pPr indent="0" marL="0">
              <a:buNone/>
            </a:pPr>
            <a:r>
              <a:rPr lang="en-US" sz="1600" b="1" dirty="0">
                <a:solidFill>
                  <a:schemeClr val="bg2"/>
                </a:solidFill>
              </a:rPr>
              <a:t>Trivy blocked the first push</a:t>
            </a:r>
            <a:endParaRPr lang="en-US" sz="1600" dirty="0"/>
          </a:p>
        </p:txBody>
      </p:sp>
      <p:sp>
        <p:nvSpPr>
          <p:cNvPr id="6" name="Text 4"/>
          <p:cNvSpPr txBox="1"/>
          <p:nvPr/>
        </p:nvSpPr>
        <p:spPr>
          <a:xfrm>
            <a:off x="777240" y="2560320"/>
            <a:ext cx="3088538" cy="1078992"/>
          </a:xfrm>
          <a:prstGeom prst="rect">
            <a:avLst/>
          </a:prstGeom>
          <a:noFill/>
          <a:ln/>
        </p:spPr>
        <p:txBody>
          <a:bodyPr wrap="square" lIns="0" tIns="0" rIns="0" bIns="0" rtlCol="0" anchor="t"/>
          <a:lstStyle/>
          <a:p>
            <a:pPr indent="0" marL="0">
              <a:spcAft>
                <a:spcPts val="600"/>
              </a:spcAft>
              <a:buNone/>
            </a:pPr>
            <a:r>
              <a:rPr lang="en-US" sz="1400" b="1" dirty="0">
                <a:solidFill>
                  <a:schemeClr val="accent4"/>
                </a:solidFill>
              </a:rPr>
              <a:t>Cause  </a:t>
            </a:r>
            <a:pPr indent="0" marL="0">
              <a:spcAft>
                <a:spcPts val="600"/>
              </a:spcAft>
              <a:buNone/>
            </a:pPr>
            <a:r>
              <a:rPr lang="en-US" sz="1400" dirty="0">
                <a:solidFill>
                  <a:schemeClr val="accent5"/>
                </a:solidFill>
              </a:rPr>
              <a:t>pip vendors old urllib3, msgpack and setuptools</a:t>
            </a:r>
            <a:endParaRPr lang="en-US" sz="1400" dirty="0"/>
          </a:p>
          <a:p>
            <a:pPr indent="0" marL="0">
              <a:spcAft>
                <a:spcPts val="600"/>
              </a:spcAft>
              <a:buNone/>
            </a:pPr>
            <a:r>
              <a:rPr lang="en-US" sz="1400" b="1" dirty="0">
                <a:solidFill>
                  <a:schemeClr val="accent2"/>
                </a:solidFill>
              </a:rPr>
              <a:t>Fix  </a:t>
            </a:r>
            <a:pPr indent="0" marL="0">
              <a:spcAft>
                <a:spcPts val="600"/>
              </a:spcAft>
              <a:buNone/>
            </a:pPr>
            <a:r>
              <a:rPr lang="en-US" sz="1400" dirty="0">
                <a:solidFill>
                  <a:schemeClr val="bg2"/>
                </a:solidFill>
              </a:rPr>
              <a:t>remove pip from the runtime images</a:t>
            </a:r>
            <a:endParaRPr lang="en-US" sz="1400" dirty="0"/>
          </a:p>
        </p:txBody>
      </p:sp>
      <p:sp>
        <p:nvSpPr>
          <p:cNvPr id="7" name="Incident 2 card"/>
          <p:cNvSpPr/>
          <p:nvPr/>
        </p:nvSpPr>
        <p:spPr>
          <a:xfrm>
            <a:off x="4322978" y="1691640"/>
            <a:ext cx="3545738" cy="2084832"/>
          </a:xfrm>
          <a:prstGeom prst="roundRect">
            <a:avLst>
              <a:gd name="adj" fmla="val 4386"/>
            </a:avLst>
          </a:prstGeom>
          <a:solidFill>
            <a:schemeClr val="tx2"/>
          </a:solidFill>
          <a:ln w="9525">
            <a:solidFill>
              <a:schemeClr val="accent6"/>
            </a:solidFill>
            <a:prstDash val="solid"/>
          </a:ln>
        </p:spPr>
      </p:sp>
      <p:sp>
        <p:nvSpPr>
          <p:cNvPr id="8" name="Text 6"/>
          <p:cNvSpPr txBox="1"/>
          <p:nvPr/>
        </p:nvSpPr>
        <p:spPr>
          <a:xfrm>
            <a:off x="4551578" y="1856232"/>
            <a:ext cx="3088538" cy="685800"/>
          </a:xfrm>
          <a:prstGeom prst="rect">
            <a:avLst/>
          </a:prstGeom>
          <a:noFill/>
          <a:ln/>
        </p:spPr>
        <p:txBody>
          <a:bodyPr wrap="square" lIns="0" tIns="0" rIns="0" bIns="0" rtlCol="0" anchor="t"/>
          <a:lstStyle/>
          <a:p>
            <a:pPr indent="0" marL="0">
              <a:buNone/>
            </a:pPr>
            <a:r>
              <a:rPr lang="en-US" sz="1600" b="1" dirty="0">
                <a:solidFill>
                  <a:schemeClr val="bg2"/>
                </a:solidFill>
              </a:rPr>
              <a:t>All services merged into one Prometheus series</a:t>
            </a:r>
            <a:endParaRPr lang="en-US" sz="1600" dirty="0"/>
          </a:p>
        </p:txBody>
      </p:sp>
      <p:sp>
        <p:nvSpPr>
          <p:cNvPr id="9" name="Text 7"/>
          <p:cNvSpPr txBox="1"/>
          <p:nvPr/>
        </p:nvSpPr>
        <p:spPr>
          <a:xfrm>
            <a:off x="4551578" y="2560320"/>
            <a:ext cx="3088538" cy="1078992"/>
          </a:xfrm>
          <a:prstGeom prst="rect">
            <a:avLst/>
          </a:prstGeom>
          <a:noFill/>
          <a:ln/>
        </p:spPr>
        <p:txBody>
          <a:bodyPr wrap="square" lIns="0" tIns="0" rIns="0" bIns="0" rtlCol="0" anchor="t"/>
          <a:lstStyle/>
          <a:p>
            <a:pPr indent="0" marL="0">
              <a:spcAft>
                <a:spcPts val="600"/>
              </a:spcAft>
              <a:buNone/>
            </a:pPr>
            <a:r>
              <a:rPr lang="en-US" sz="1400" b="1" dirty="0">
                <a:solidFill>
                  <a:schemeClr val="accent4"/>
                </a:solidFill>
              </a:rPr>
              <a:t>Cause  </a:t>
            </a:r>
            <a:pPr indent="0" marL="0">
              <a:spcAft>
                <a:spcPts val="600"/>
              </a:spcAft>
              <a:buNone/>
            </a:pPr>
            <a:r>
              <a:rPr lang="en-US" sz="1400" dirty="0">
                <a:solidFill>
                  <a:schemeClr val="accent5"/>
                </a:solidFill>
              </a:rPr>
              <a:t>our service label clashed with Kubernetes' own</a:t>
            </a:r>
            <a:endParaRPr lang="en-US" sz="1400" dirty="0"/>
          </a:p>
          <a:p>
            <a:pPr indent="0" marL="0">
              <a:spcAft>
                <a:spcPts val="600"/>
              </a:spcAft>
              <a:buNone/>
            </a:pPr>
            <a:r>
              <a:rPr lang="en-US" sz="1400" b="1" dirty="0">
                <a:solidFill>
                  <a:schemeClr val="accent2"/>
                </a:solidFill>
              </a:rPr>
              <a:t>Fix  </a:t>
            </a:r>
            <a:pPr indent="0" marL="0">
              <a:spcAft>
                <a:spcPts val="600"/>
              </a:spcAft>
              <a:buNone/>
            </a:pPr>
            <a:r>
              <a:rPr lang="en-US" sz="1400" dirty="0">
                <a:solidFill>
                  <a:schemeClr val="bg2"/>
                </a:solidFill>
              </a:rPr>
              <a:t>honorLabels on the ServiceMonitor</a:t>
            </a:r>
            <a:endParaRPr lang="en-US" sz="1400" dirty="0"/>
          </a:p>
        </p:txBody>
      </p:sp>
      <p:sp>
        <p:nvSpPr>
          <p:cNvPr id="10" name="Incident 3 card"/>
          <p:cNvSpPr/>
          <p:nvPr/>
        </p:nvSpPr>
        <p:spPr>
          <a:xfrm>
            <a:off x="8097317" y="1691640"/>
            <a:ext cx="3545738" cy="2084832"/>
          </a:xfrm>
          <a:prstGeom prst="roundRect">
            <a:avLst>
              <a:gd name="adj" fmla="val 4386"/>
            </a:avLst>
          </a:prstGeom>
          <a:solidFill>
            <a:schemeClr val="tx2"/>
          </a:solidFill>
          <a:ln w="9525">
            <a:solidFill>
              <a:schemeClr val="accent6"/>
            </a:solidFill>
            <a:prstDash val="solid"/>
          </a:ln>
        </p:spPr>
      </p:sp>
      <p:sp>
        <p:nvSpPr>
          <p:cNvPr id="11" name="Text 9"/>
          <p:cNvSpPr txBox="1"/>
          <p:nvPr/>
        </p:nvSpPr>
        <p:spPr>
          <a:xfrm>
            <a:off x="8325917" y="1856232"/>
            <a:ext cx="3088538" cy="685800"/>
          </a:xfrm>
          <a:prstGeom prst="rect">
            <a:avLst/>
          </a:prstGeom>
          <a:noFill/>
          <a:ln/>
        </p:spPr>
        <p:txBody>
          <a:bodyPr wrap="square" lIns="0" tIns="0" rIns="0" bIns="0" rtlCol="0" anchor="t"/>
          <a:lstStyle/>
          <a:p>
            <a:pPr indent="0" marL="0">
              <a:buNone/>
            </a:pPr>
            <a:r>
              <a:rPr lang="en-US" sz="1600" b="1" dirty="0">
                <a:solidFill>
                  <a:schemeClr val="bg2"/>
                </a:solidFill>
              </a:rPr>
              <a:t>Grafana showed “No data”</a:t>
            </a:r>
            <a:endParaRPr lang="en-US" sz="1600" dirty="0"/>
          </a:p>
        </p:txBody>
      </p:sp>
      <p:sp>
        <p:nvSpPr>
          <p:cNvPr id="12" name="Text 10"/>
          <p:cNvSpPr txBox="1"/>
          <p:nvPr/>
        </p:nvSpPr>
        <p:spPr>
          <a:xfrm>
            <a:off x="8325917" y="2560320"/>
            <a:ext cx="3088538" cy="1078992"/>
          </a:xfrm>
          <a:prstGeom prst="rect">
            <a:avLst/>
          </a:prstGeom>
          <a:noFill/>
          <a:ln/>
        </p:spPr>
        <p:txBody>
          <a:bodyPr wrap="square" lIns="0" tIns="0" rIns="0" bIns="0" rtlCol="0" anchor="t"/>
          <a:lstStyle/>
          <a:p>
            <a:pPr indent="0" marL="0">
              <a:spcAft>
                <a:spcPts val="600"/>
              </a:spcAft>
              <a:buNone/>
            </a:pPr>
            <a:r>
              <a:rPr lang="en-US" sz="1400" b="1" dirty="0">
                <a:solidFill>
                  <a:schemeClr val="accent4"/>
                </a:solidFill>
              </a:rPr>
              <a:t>Cause  </a:t>
            </a:r>
            <a:pPr indent="0" marL="0">
              <a:spcAft>
                <a:spcPts val="600"/>
              </a:spcAft>
              <a:buNone/>
            </a:pPr>
            <a:r>
              <a:rPr lang="en-US" sz="1400" dirty="0">
                <a:solidFill>
                  <a:schemeClr val="accent5"/>
                </a:solidFill>
              </a:rPr>
              <a:t>the pod was OOMKilled at 384 Mi</a:t>
            </a:r>
            <a:endParaRPr lang="en-US" sz="1400" dirty="0"/>
          </a:p>
          <a:p>
            <a:pPr indent="0" marL="0">
              <a:spcAft>
                <a:spcPts val="600"/>
              </a:spcAft>
              <a:buNone/>
            </a:pPr>
            <a:r>
              <a:rPr lang="en-US" sz="1400" b="1" dirty="0">
                <a:solidFill>
                  <a:schemeClr val="accent2"/>
                </a:solidFill>
              </a:rPr>
              <a:t>Fix  </a:t>
            </a:r>
            <a:pPr indent="0" marL="0">
              <a:spcAft>
                <a:spcPts val="600"/>
              </a:spcAft>
              <a:buNone/>
            </a:pPr>
            <a:r>
              <a:rPr lang="en-US" sz="1400" dirty="0">
                <a:solidFill>
                  <a:schemeClr val="bg2"/>
                </a:solidFill>
              </a:rPr>
              <a:t>raise the memory limit to 768 Mi</a:t>
            </a:r>
            <a:endParaRPr lang="en-US" sz="1400" dirty="0"/>
          </a:p>
        </p:txBody>
      </p:sp>
      <p:sp>
        <p:nvSpPr>
          <p:cNvPr id="13" name="Incident 4 card"/>
          <p:cNvSpPr/>
          <p:nvPr/>
        </p:nvSpPr>
        <p:spPr>
          <a:xfrm>
            <a:off x="548640" y="4005072"/>
            <a:ext cx="3545738" cy="2084832"/>
          </a:xfrm>
          <a:prstGeom prst="roundRect">
            <a:avLst>
              <a:gd name="adj" fmla="val 4386"/>
            </a:avLst>
          </a:prstGeom>
          <a:solidFill>
            <a:schemeClr val="tx2"/>
          </a:solidFill>
          <a:ln w="9525">
            <a:solidFill>
              <a:schemeClr val="accent6"/>
            </a:solidFill>
            <a:prstDash val="solid"/>
          </a:ln>
        </p:spPr>
      </p:sp>
      <p:sp>
        <p:nvSpPr>
          <p:cNvPr id="14" name="Text 12"/>
          <p:cNvSpPr txBox="1"/>
          <p:nvPr/>
        </p:nvSpPr>
        <p:spPr>
          <a:xfrm>
            <a:off x="777240" y="4169664"/>
            <a:ext cx="3088538" cy="685800"/>
          </a:xfrm>
          <a:prstGeom prst="rect">
            <a:avLst/>
          </a:prstGeom>
          <a:noFill/>
          <a:ln/>
        </p:spPr>
        <p:txBody>
          <a:bodyPr wrap="square" lIns="0" tIns="0" rIns="0" bIns="0" rtlCol="0" anchor="t"/>
          <a:lstStyle/>
          <a:p>
            <a:pPr indent="0" marL="0">
              <a:buNone/>
            </a:pPr>
            <a:r>
              <a:rPr lang="en-US" sz="1600" b="1" dirty="0">
                <a:solidFill>
                  <a:schemeClr val="bg2"/>
                </a:solidFill>
              </a:rPr>
              <a:t>Every deploy looked like an outage</a:t>
            </a:r>
            <a:endParaRPr lang="en-US" sz="1600" dirty="0"/>
          </a:p>
        </p:txBody>
      </p:sp>
      <p:sp>
        <p:nvSpPr>
          <p:cNvPr id="15" name="Text 13"/>
          <p:cNvSpPr txBox="1"/>
          <p:nvPr/>
        </p:nvSpPr>
        <p:spPr>
          <a:xfrm>
            <a:off x="777240" y="4873752"/>
            <a:ext cx="3088538" cy="1078992"/>
          </a:xfrm>
          <a:prstGeom prst="rect">
            <a:avLst/>
          </a:prstGeom>
          <a:noFill/>
          <a:ln/>
        </p:spPr>
        <p:txBody>
          <a:bodyPr wrap="square" lIns="0" tIns="0" rIns="0" bIns="0" rtlCol="0" anchor="t"/>
          <a:lstStyle/>
          <a:p>
            <a:pPr indent="0" marL="0">
              <a:spcAft>
                <a:spcPts val="600"/>
              </a:spcAft>
              <a:buNone/>
            </a:pPr>
            <a:r>
              <a:rPr lang="en-US" sz="1400" b="1" dirty="0">
                <a:solidFill>
                  <a:schemeClr val="accent4"/>
                </a:solidFill>
              </a:rPr>
              <a:t>Cause  </a:t>
            </a:r>
            <a:pPr indent="0" marL="0">
              <a:spcAft>
                <a:spcPts val="600"/>
              </a:spcAft>
              <a:buNone/>
            </a:pPr>
            <a:r>
              <a:rPr lang="en-US" sz="1400" dirty="0">
                <a:solidFill>
                  <a:schemeClr val="accent5"/>
                </a:solidFill>
              </a:rPr>
              <a:t>two simulators kept rotating each other's tokens</a:t>
            </a:r>
            <a:endParaRPr lang="en-US" sz="1400" dirty="0"/>
          </a:p>
          <a:p>
            <a:pPr indent="0" marL="0">
              <a:spcAft>
                <a:spcPts val="600"/>
              </a:spcAft>
              <a:buNone/>
            </a:pPr>
            <a:r>
              <a:rPr lang="en-US" sz="1400" b="1" dirty="0">
                <a:solidFill>
                  <a:schemeClr val="accent2"/>
                </a:solidFill>
              </a:rPr>
              <a:t>Fix  </a:t>
            </a:r>
            <a:pPr indent="0" marL="0">
              <a:spcAft>
                <a:spcPts val="600"/>
              </a:spcAft>
              <a:buNone/>
            </a:pPr>
            <a:r>
              <a:rPr lang="en-US" sz="1400" dirty="0">
                <a:solidFill>
                  <a:schemeClr val="bg2"/>
                </a:solidFill>
              </a:rPr>
              <a:t>Recreate strategy, pinned simulator tag</a:t>
            </a:r>
            <a:endParaRPr lang="en-US" sz="1400" dirty="0"/>
          </a:p>
        </p:txBody>
      </p:sp>
      <p:sp>
        <p:nvSpPr>
          <p:cNvPr id="16" name="Incident 5 card"/>
          <p:cNvSpPr/>
          <p:nvPr/>
        </p:nvSpPr>
        <p:spPr>
          <a:xfrm>
            <a:off x="4322978" y="4005072"/>
            <a:ext cx="3545738" cy="2084832"/>
          </a:xfrm>
          <a:prstGeom prst="roundRect">
            <a:avLst>
              <a:gd name="adj" fmla="val 4386"/>
            </a:avLst>
          </a:prstGeom>
          <a:solidFill>
            <a:schemeClr val="tx2"/>
          </a:solidFill>
          <a:ln w="9525">
            <a:solidFill>
              <a:schemeClr val="accent6"/>
            </a:solidFill>
            <a:prstDash val="solid"/>
          </a:ln>
        </p:spPr>
      </p:sp>
      <p:sp>
        <p:nvSpPr>
          <p:cNvPr id="17" name="Text 15"/>
          <p:cNvSpPr txBox="1"/>
          <p:nvPr/>
        </p:nvSpPr>
        <p:spPr>
          <a:xfrm>
            <a:off x="4551578" y="4169664"/>
            <a:ext cx="3088538" cy="685800"/>
          </a:xfrm>
          <a:prstGeom prst="rect">
            <a:avLst/>
          </a:prstGeom>
          <a:noFill/>
          <a:ln/>
        </p:spPr>
        <p:txBody>
          <a:bodyPr wrap="square" lIns="0" tIns="0" rIns="0" bIns="0" rtlCol="0" anchor="t"/>
          <a:lstStyle/>
          <a:p>
            <a:pPr indent="0" marL="0">
              <a:buNone/>
            </a:pPr>
            <a:r>
              <a:rPr lang="en-US" sz="1600" b="1" dirty="0">
                <a:solidFill>
                  <a:schemeClr val="bg2"/>
                </a:solidFill>
              </a:rPr>
              <a:t>The first terraform apply stopped</a:t>
            </a:r>
            <a:endParaRPr lang="en-US" sz="1600" dirty="0"/>
          </a:p>
        </p:txBody>
      </p:sp>
      <p:sp>
        <p:nvSpPr>
          <p:cNvPr id="18" name="Text 16"/>
          <p:cNvSpPr txBox="1"/>
          <p:nvPr/>
        </p:nvSpPr>
        <p:spPr>
          <a:xfrm>
            <a:off x="4551578" y="4873752"/>
            <a:ext cx="3088538" cy="1078992"/>
          </a:xfrm>
          <a:prstGeom prst="rect">
            <a:avLst/>
          </a:prstGeom>
          <a:noFill/>
          <a:ln/>
        </p:spPr>
        <p:txBody>
          <a:bodyPr wrap="square" lIns="0" tIns="0" rIns="0" bIns="0" rtlCol="0" anchor="t"/>
          <a:lstStyle/>
          <a:p>
            <a:pPr indent="0" marL="0">
              <a:spcAft>
                <a:spcPts val="600"/>
              </a:spcAft>
              <a:buNone/>
            </a:pPr>
            <a:r>
              <a:rPr lang="en-US" sz="1400" b="1" dirty="0">
                <a:solidFill>
                  <a:schemeClr val="accent4"/>
                </a:solidFill>
              </a:rPr>
              <a:t>Cause  </a:t>
            </a:r>
            <a:pPr indent="0" marL="0">
              <a:spcAft>
                <a:spcPts val="600"/>
              </a:spcAft>
              <a:buNone/>
            </a:pPr>
            <a:r>
              <a:rPr lang="en-US" sz="1400" dirty="0">
                <a:solidFill>
                  <a:schemeClr val="accent5"/>
                </a:solidFill>
              </a:rPr>
              <a:t>the AWS org policy denies OIDC providers</a:t>
            </a:r>
            <a:endParaRPr lang="en-US" sz="1400" dirty="0"/>
          </a:p>
          <a:p>
            <a:pPr indent="0" marL="0">
              <a:spcAft>
                <a:spcPts val="600"/>
              </a:spcAft>
              <a:buNone/>
            </a:pPr>
            <a:r>
              <a:rPr lang="en-US" sz="1400" b="1" dirty="0">
                <a:solidFill>
                  <a:schemeClr val="accent2"/>
                </a:solidFill>
              </a:rPr>
              <a:t>Fix  </a:t>
            </a:r>
            <a:pPr indent="0" marL="0">
              <a:spcAft>
                <a:spcPts val="600"/>
              </a:spcAft>
              <a:buNone/>
            </a:pPr>
            <a:r>
              <a:rPr lang="en-US" sz="1400" dirty="0">
                <a:solidFill>
                  <a:schemeClr val="bg2"/>
                </a:solidFill>
              </a:rPr>
              <a:t>enable_irsa = false, Pod Identity instead</a:t>
            </a:r>
            <a:endParaRPr lang="en-US" sz="1400" dirty="0"/>
          </a:p>
        </p:txBody>
      </p:sp>
      <p:sp>
        <p:nvSpPr>
          <p:cNvPr id="19" name="Incident 6 card"/>
          <p:cNvSpPr/>
          <p:nvPr/>
        </p:nvSpPr>
        <p:spPr>
          <a:xfrm>
            <a:off x="8097317" y="4005072"/>
            <a:ext cx="3545738" cy="2084832"/>
          </a:xfrm>
          <a:prstGeom prst="roundRect">
            <a:avLst>
              <a:gd name="adj" fmla="val 4386"/>
            </a:avLst>
          </a:prstGeom>
          <a:solidFill>
            <a:schemeClr val="tx2"/>
          </a:solidFill>
          <a:ln w="9525">
            <a:solidFill>
              <a:schemeClr val="accent6"/>
            </a:solidFill>
            <a:prstDash val="solid"/>
          </a:ln>
        </p:spPr>
      </p:sp>
      <p:sp>
        <p:nvSpPr>
          <p:cNvPr id="20" name="Text 18"/>
          <p:cNvSpPr txBox="1"/>
          <p:nvPr/>
        </p:nvSpPr>
        <p:spPr>
          <a:xfrm>
            <a:off x="8325917" y="4169664"/>
            <a:ext cx="3088538" cy="685800"/>
          </a:xfrm>
          <a:prstGeom prst="rect">
            <a:avLst/>
          </a:prstGeom>
          <a:noFill/>
          <a:ln/>
        </p:spPr>
        <p:txBody>
          <a:bodyPr wrap="square" lIns="0" tIns="0" rIns="0" bIns="0" rtlCol="0" anchor="t"/>
          <a:lstStyle/>
          <a:p>
            <a:pPr indent="0" marL="0">
              <a:buNone/>
            </a:pPr>
            <a:r>
              <a:rPr lang="en-US" sz="1600" b="1" dirty="0">
                <a:solidFill>
                  <a:schemeClr val="bg2"/>
                </a:solidFill>
              </a:rPr>
              <a:t>A new service showed −5782% budget</a:t>
            </a:r>
            <a:endParaRPr lang="en-US" sz="1600" dirty="0"/>
          </a:p>
        </p:txBody>
      </p:sp>
      <p:sp>
        <p:nvSpPr>
          <p:cNvPr id="21" name="Text 19"/>
          <p:cNvSpPr txBox="1"/>
          <p:nvPr/>
        </p:nvSpPr>
        <p:spPr>
          <a:xfrm>
            <a:off x="8325917" y="4873752"/>
            <a:ext cx="3088538" cy="1078992"/>
          </a:xfrm>
          <a:prstGeom prst="rect">
            <a:avLst/>
          </a:prstGeom>
          <a:noFill/>
          <a:ln/>
        </p:spPr>
        <p:txBody>
          <a:bodyPr wrap="square" lIns="0" tIns="0" rIns="0" bIns="0" rtlCol="0" anchor="t"/>
          <a:lstStyle/>
          <a:p>
            <a:pPr indent="0" marL="0">
              <a:spcAft>
                <a:spcPts val="600"/>
              </a:spcAft>
              <a:buNone/>
            </a:pPr>
            <a:r>
              <a:rPr lang="en-US" sz="1400" b="1" dirty="0">
                <a:solidFill>
                  <a:schemeClr val="accent4"/>
                </a:solidFill>
              </a:rPr>
              <a:t>Cause  </a:t>
            </a:r>
            <a:pPr indent="0" marL="0">
              <a:spcAft>
                <a:spcPts val="600"/>
              </a:spcAft>
              <a:buNone/>
            </a:pPr>
            <a:r>
              <a:rPr lang="en-US" sz="1400" dirty="0">
                <a:solidFill>
                  <a:schemeClr val="accent5"/>
                </a:solidFill>
              </a:rPr>
              <a:t>budget was extrapolated from a ratio</a:t>
            </a:r>
            <a:endParaRPr lang="en-US" sz="1400" dirty="0"/>
          </a:p>
          <a:p>
            <a:pPr indent="0" marL="0">
              <a:spcAft>
                <a:spcPts val="600"/>
              </a:spcAft>
              <a:buNone/>
            </a:pPr>
            <a:r>
              <a:rPr lang="en-US" sz="1400" b="1" dirty="0">
                <a:solidFill>
                  <a:schemeClr val="accent2"/>
                </a:solidFill>
              </a:rPr>
              <a:t>Fix  </a:t>
            </a:r>
            <a:pPr indent="0" marL="0">
              <a:spcAft>
                <a:spcPts val="600"/>
              </a:spcAft>
              <a:buNone/>
            </a:pPr>
            <a:r>
              <a:rPr lang="en-US" sz="1400" dirty="0">
                <a:solidFill>
                  <a:schemeClr val="bg2"/>
                </a:solidFill>
              </a:rPr>
              <a:t>measure the budget in bad seconds</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RESULTS</a:t>
            </a: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3600" b="1" dirty="0">
                <a:solidFill>
                  <a:schemeClr val="bg2"/>
                </a:solidFill>
              </a:rPr>
              <a:t>Every rubric module, evidenced</a:t>
            </a:r>
            <a:endParaRPr lang="en-US" sz="3600" dirty="0"/>
          </a:p>
        </p:txBody>
      </p:sp>
      <p:sp>
        <p:nvSpPr>
          <p:cNvPr id="4" name="Result 1"/>
          <p:cNvSpPr/>
          <p:nvPr/>
        </p:nvSpPr>
        <p:spPr>
          <a:xfrm>
            <a:off x="548640" y="1691640"/>
            <a:ext cx="2602154" cy="1783080"/>
          </a:xfrm>
          <a:prstGeom prst="roundRect">
            <a:avLst>
              <a:gd name="adj" fmla="val 5128"/>
            </a:avLst>
          </a:prstGeom>
          <a:solidFill>
            <a:schemeClr val="tx2"/>
          </a:solidFill>
          <a:ln w="9525">
            <a:solidFill>
              <a:schemeClr val="accent6"/>
            </a:solidFill>
            <a:prstDash val="solid"/>
          </a:ln>
        </p:spPr>
      </p:sp>
      <p:sp>
        <p:nvSpPr>
          <p:cNvPr id="5" name="Result 1 value"/>
          <p:cNvSpPr txBox="1"/>
          <p:nvPr/>
        </p:nvSpPr>
        <p:spPr>
          <a:xfrm>
            <a:off x="777240" y="1874520"/>
            <a:ext cx="2144954" cy="891540"/>
          </a:xfrm>
          <a:prstGeom prst="rect">
            <a:avLst/>
          </a:prstGeom>
          <a:noFill/>
          <a:ln/>
        </p:spPr>
        <p:txBody>
          <a:bodyPr wrap="square" lIns="0" tIns="0" rIns="0" bIns="0" rtlCol="0" anchor="ctr"/>
          <a:lstStyle/>
          <a:p>
            <a:pPr indent="0" marL="0">
              <a:buNone/>
            </a:pPr>
            <a:r>
              <a:rPr lang="en-US" sz="4000" b="1" dirty="0">
                <a:solidFill>
                  <a:schemeClr val="accent1"/>
                </a:solidFill>
              </a:rPr>
              <a:t>48</a:t>
            </a:r>
            <a:endParaRPr lang="en-US" sz="4000" dirty="0"/>
          </a:p>
        </p:txBody>
      </p:sp>
      <p:sp>
        <p:nvSpPr>
          <p:cNvPr id="6" name="Result 1 label"/>
          <p:cNvSpPr txBox="1"/>
          <p:nvPr/>
        </p:nvSpPr>
        <p:spPr>
          <a:xfrm>
            <a:off x="777240" y="2766060"/>
            <a:ext cx="2144954" cy="571500"/>
          </a:xfrm>
          <a:prstGeom prst="rect">
            <a:avLst/>
          </a:prstGeom>
          <a:noFill/>
          <a:ln/>
        </p:spPr>
        <p:txBody>
          <a:bodyPr wrap="square" lIns="0" tIns="0" rIns="0" bIns="0" rtlCol="0" anchor="t"/>
          <a:lstStyle/>
          <a:p>
            <a:pPr indent="0" marL="0">
              <a:buNone/>
            </a:pPr>
            <a:r>
              <a:rPr lang="en-US" sz="1300" dirty="0">
                <a:solidFill>
                  <a:schemeClr val="accent5"/>
                </a:solidFill>
              </a:rPr>
              <a:t>tests, 98% coverage</a:t>
            </a:r>
            <a:endParaRPr lang="en-US" sz="1300" dirty="0"/>
          </a:p>
        </p:txBody>
      </p:sp>
      <p:sp>
        <p:nvSpPr>
          <p:cNvPr id="7" name="Result 2"/>
          <p:cNvSpPr/>
          <p:nvPr/>
        </p:nvSpPr>
        <p:spPr>
          <a:xfrm>
            <a:off x="3379394" y="1691640"/>
            <a:ext cx="2602154" cy="1783080"/>
          </a:xfrm>
          <a:prstGeom prst="roundRect">
            <a:avLst>
              <a:gd name="adj" fmla="val 5128"/>
            </a:avLst>
          </a:prstGeom>
          <a:solidFill>
            <a:schemeClr val="tx2"/>
          </a:solidFill>
          <a:ln w="9525">
            <a:solidFill>
              <a:schemeClr val="accent6"/>
            </a:solidFill>
            <a:prstDash val="solid"/>
          </a:ln>
        </p:spPr>
      </p:sp>
      <p:sp>
        <p:nvSpPr>
          <p:cNvPr id="8" name="Result 2 value"/>
          <p:cNvSpPr txBox="1"/>
          <p:nvPr/>
        </p:nvSpPr>
        <p:spPr>
          <a:xfrm>
            <a:off x="3607994" y="1874520"/>
            <a:ext cx="2144954" cy="891540"/>
          </a:xfrm>
          <a:prstGeom prst="rect">
            <a:avLst/>
          </a:prstGeom>
          <a:noFill/>
          <a:ln/>
        </p:spPr>
        <p:txBody>
          <a:bodyPr wrap="square" lIns="0" tIns="0" rIns="0" bIns="0" rtlCol="0" anchor="ctr"/>
          <a:lstStyle/>
          <a:p>
            <a:pPr indent="0" marL="0">
              <a:buNone/>
            </a:pPr>
            <a:r>
              <a:rPr lang="en-US" sz="4000" b="1" dirty="0">
                <a:solidFill>
                  <a:schemeClr val="accent1"/>
                </a:solidFill>
              </a:rPr>
              <a:t>9</a:t>
            </a:r>
            <a:endParaRPr lang="en-US" sz="4000" dirty="0"/>
          </a:p>
        </p:txBody>
      </p:sp>
      <p:sp>
        <p:nvSpPr>
          <p:cNvPr id="9" name="Result 2 label"/>
          <p:cNvSpPr txBox="1"/>
          <p:nvPr/>
        </p:nvSpPr>
        <p:spPr>
          <a:xfrm>
            <a:off x="3607994" y="2766060"/>
            <a:ext cx="2144954" cy="571500"/>
          </a:xfrm>
          <a:prstGeom prst="rect">
            <a:avLst/>
          </a:prstGeom>
          <a:noFill/>
          <a:ln/>
        </p:spPr>
        <p:txBody>
          <a:bodyPr wrap="square" lIns="0" tIns="0" rIns="0" bIns="0" rtlCol="0" anchor="t"/>
          <a:lstStyle/>
          <a:p>
            <a:pPr indent="0" marL="0">
              <a:buNone/>
            </a:pPr>
            <a:r>
              <a:rPr lang="en-US" sz="1300" dirty="0">
                <a:solidFill>
                  <a:schemeClr val="accent5"/>
                </a:solidFill>
              </a:rPr>
              <a:t>CI jobs on every push</a:t>
            </a:r>
            <a:endParaRPr lang="en-US" sz="1300" dirty="0"/>
          </a:p>
        </p:txBody>
      </p:sp>
      <p:sp>
        <p:nvSpPr>
          <p:cNvPr id="10" name="Result 3"/>
          <p:cNvSpPr/>
          <p:nvPr/>
        </p:nvSpPr>
        <p:spPr>
          <a:xfrm>
            <a:off x="6210148" y="1691640"/>
            <a:ext cx="2602154" cy="1783080"/>
          </a:xfrm>
          <a:prstGeom prst="roundRect">
            <a:avLst>
              <a:gd name="adj" fmla="val 5128"/>
            </a:avLst>
          </a:prstGeom>
          <a:solidFill>
            <a:schemeClr val="tx2"/>
          </a:solidFill>
          <a:ln w="9525">
            <a:solidFill>
              <a:schemeClr val="accent6"/>
            </a:solidFill>
            <a:prstDash val="solid"/>
          </a:ln>
        </p:spPr>
      </p:sp>
      <p:sp>
        <p:nvSpPr>
          <p:cNvPr id="11" name="Result 3 value"/>
          <p:cNvSpPr txBox="1"/>
          <p:nvPr/>
        </p:nvSpPr>
        <p:spPr>
          <a:xfrm>
            <a:off x="6438748" y="1874520"/>
            <a:ext cx="2144954" cy="891540"/>
          </a:xfrm>
          <a:prstGeom prst="rect">
            <a:avLst/>
          </a:prstGeom>
          <a:noFill/>
          <a:ln/>
        </p:spPr>
        <p:txBody>
          <a:bodyPr wrap="square" lIns="0" tIns="0" rIns="0" bIns="0" rtlCol="0" anchor="ctr"/>
          <a:lstStyle/>
          <a:p>
            <a:pPr indent="0" marL="0">
              <a:buNone/>
            </a:pPr>
            <a:r>
              <a:rPr lang="en-US" sz="4000" b="1" dirty="0">
                <a:solidFill>
                  <a:schemeClr val="accent2"/>
                </a:solidFill>
              </a:rPr>
              <a:t>0</a:t>
            </a:r>
            <a:endParaRPr lang="en-US" sz="4000" dirty="0"/>
          </a:p>
        </p:txBody>
      </p:sp>
      <p:sp>
        <p:nvSpPr>
          <p:cNvPr id="12" name="Result 3 label"/>
          <p:cNvSpPr txBox="1"/>
          <p:nvPr/>
        </p:nvSpPr>
        <p:spPr>
          <a:xfrm>
            <a:off x="6438748" y="2766060"/>
            <a:ext cx="2144954" cy="571500"/>
          </a:xfrm>
          <a:prstGeom prst="rect">
            <a:avLst/>
          </a:prstGeom>
          <a:noFill/>
          <a:ln/>
        </p:spPr>
        <p:txBody>
          <a:bodyPr wrap="square" lIns="0" tIns="0" rIns="0" bIns="0" rtlCol="0" anchor="t"/>
          <a:lstStyle/>
          <a:p>
            <a:pPr indent="0" marL="0">
              <a:buNone/>
            </a:pPr>
            <a:r>
              <a:rPr lang="en-US" sz="1300" dirty="0">
                <a:solidFill>
                  <a:schemeClr val="accent5"/>
                </a:solidFill>
              </a:rPr>
              <a:t>vulnerabilities in 6 image builds</a:t>
            </a:r>
            <a:endParaRPr lang="en-US" sz="1300" dirty="0"/>
          </a:p>
        </p:txBody>
      </p:sp>
      <p:sp>
        <p:nvSpPr>
          <p:cNvPr id="13" name="Result 4"/>
          <p:cNvSpPr/>
          <p:nvPr/>
        </p:nvSpPr>
        <p:spPr>
          <a:xfrm>
            <a:off x="9040901" y="1691640"/>
            <a:ext cx="2602154" cy="1783080"/>
          </a:xfrm>
          <a:prstGeom prst="roundRect">
            <a:avLst>
              <a:gd name="adj" fmla="val 5128"/>
            </a:avLst>
          </a:prstGeom>
          <a:solidFill>
            <a:schemeClr val="tx2"/>
          </a:solidFill>
          <a:ln w="9525">
            <a:solidFill>
              <a:schemeClr val="accent6"/>
            </a:solidFill>
            <a:prstDash val="solid"/>
          </a:ln>
        </p:spPr>
      </p:sp>
      <p:sp>
        <p:nvSpPr>
          <p:cNvPr id="14" name="Result 4 value"/>
          <p:cNvSpPr txBox="1"/>
          <p:nvPr/>
        </p:nvSpPr>
        <p:spPr>
          <a:xfrm>
            <a:off x="9269501" y="1874520"/>
            <a:ext cx="2144954" cy="891540"/>
          </a:xfrm>
          <a:prstGeom prst="rect">
            <a:avLst/>
          </a:prstGeom>
          <a:noFill/>
          <a:ln/>
        </p:spPr>
        <p:txBody>
          <a:bodyPr wrap="square" lIns="0" tIns="0" rIns="0" bIns="0" rtlCol="0" anchor="ctr"/>
          <a:lstStyle/>
          <a:p>
            <a:pPr indent="0" marL="0">
              <a:buNone/>
            </a:pPr>
            <a:r>
              <a:rPr lang="en-US" sz="4000" b="1" dirty="0">
                <a:solidFill>
                  <a:schemeClr val="accent1"/>
                </a:solidFill>
              </a:rPr>
              <a:t>52</a:t>
            </a:r>
            <a:endParaRPr lang="en-US" sz="4000" dirty="0"/>
          </a:p>
        </p:txBody>
      </p:sp>
      <p:sp>
        <p:nvSpPr>
          <p:cNvPr id="15" name="Result 4 label"/>
          <p:cNvSpPr txBox="1"/>
          <p:nvPr/>
        </p:nvSpPr>
        <p:spPr>
          <a:xfrm>
            <a:off x="9269501" y="2766060"/>
            <a:ext cx="2144954" cy="571500"/>
          </a:xfrm>
          <a:prstGeom prst="rect">
            <a:avLst/>
          </a:prstGeom>
          <a:noFill/>
          <a:ln/>
        </p:spPr>
        <p:txBody>
          <a:bodyPr wrap="square" lIns="0" tIns="0" rIns="0" bIns="0" rtlCol="0" anchor="t"/>
          <a:lstStyle/>
          <a:p>
            <a:pPr indent="0" marL="0">
              <a:buNone/>
            </a:pPr>
            <a:r>
              <a:rPr lang="en-US" sz="1300" dirty="0">
                <a:solidFill>
                  <a:schemeClr val="accent5"/>
                </a:solidFill>
              </a:rPr>
              <a:t>AWS resources from Terraform</a:t>
            </a:r>
            <a:endParaRPr lang="en-US" sz="1300" dirty="0"/>
          </a:p>
        </p:txBody>
      </p:sp>
      <p:sp>
        <p:nvSpPr>
          <p:cNvPr id="16" name="Result 5"/>
          <p:cNvSpPr/>
          <p:nvPr/>
        </p:nvSpPr>
        <p:spPr>
          <a:xfrm>
            <a:off x="548640" y="3703320"/>
            <a:ext cx="2602154" cy="1783080"/>
          </a:xfrm>
          <a:prstGeom prst="roundRect">
            <a:avLst>
              <a:gd name="adj" fmla="val 5128"/>
            </a:avLst>
          </a:prstGeom>
          <a:solidFill>
            <a:schemeClr val="tx2"/>
          </a:solidFill>
          <a:ln w="9525">
            <a:solidFill>
              <a:schemeClr val="accent6"/>
            </a:solidFill>
            <a:prstDash val="solid"/>
          </a:ln>
        </p:spPr>
      </p:sp>
      <p:sp>
        <p:nvSpPr>
          <p:cNvPr id="17" name="Result 5 value"/>
          <p:cNvSpPr txBox="1"/>
          <p:nvPr/>
        </p:nvSpPr>
        <p:spPr>
          <a:xfrm>
            <a:off x="777240" y="3886200"/>
            <a:ext cx="2144954" cy="891540"/>
          </a:xfrm>
          <a:prstGeom prst="rect">
            <a:avLst/>
          </a:prstGeom>
          <a:noFill/>
          <a:ln/>
        </p:spPr>
        <p:txBody>
          <a:bodyPr wrap="square" lIns="0" tIns="0" rIns="0" bIns="0" rtlCol="0" anchor="ctr"/>
          <a:lstStyle/>
          <a:p>
            <a:pPr indent="0" marL="0">
              <a:buNone/>
            </a:pPr>
            <a:r>
              <a:rPr lang="en-US" sz="4000" b="1" dirty="0">
                <a:solidFill>
                  <a:schemeClr val="accent1"/>
                </a:solidFill>
              </a:rPr>
              <a:t>5</a:t>
            </a:r>
            <a:endParaRPr lang="en-US" sz="4000" dirty="0"/>
          </a:p>
        </p:txBody>
      </p:sp>
      <p:sp>
        <p:nvSpPr>
          <p:cNvPr id="18" name="Result 5 label"/>
          <p:cNvSpPr txBox="1"/>
          <p:nvPr/>
        </p:nvSpPr>
        <p:spPr>
          <a:xfrm>
            <a:off x="777240" y="4777740"/>
            <a:ext cx="2144954" cy="571500"/>
          </a:xfrm>
          <a:prstGeom prst="rect">
            <a:avLst/>
          </a:prstGeom>
          <a:noFill/>
          <a:ln/>
        </p:spPr>
        <p:txBody>
          <a:bodyPr wrap="square" lIns="0" tIns="0" rIns="0" bIns="0" rtlCol="0" anchor="t"/>
          <a:lstStyle/>
          <a:p>
            <a:pPr indent="0" marL="0">
              <a:buNone/>
            </a:pPr>
            <a:r>
              <a:rPr lang="en-US" sz="1300" dirty="0">
                <a:solidFill>
                  <a:schemeClr val="accent5"/>
                </a:solidFill>
              </a:rPr>
              <a:t>Prometheus alert rules</a:t>
            </a:r>
            <a:endParaRPr lang="en-US" sz="1300" dirty="0"/>
          </a:p>
        </p:txBody>
      </p:sp>
      <p:sp>
        <p:nvSpPr>
          <p:cNvPr id="19" name="Result 6"/>
          <p:cNvSpPr/>
          <p:nvPr/>
        </p:nvSpPr>
        <p:spPr>
          <a:xfrm>
            <a:off x="3379394" y="3703320"/>
            <a:ext cx="2602154" cy="1783080"/>
          </a:xfrm>
          <a:prstGeom prst="roundRect">
            <a:avLst>
              <a:gd name="adj" fmla="val 5128"/>
            </a:avLst>
          </a:prstGeom>
          <a:solidFill>
            <a:schemeClr val="tx2"/>
          </a:solidFill>
          <a:ln w="9525">
            <a:solidFill>
              <a:schemeClr val="accent6"/>
            </a:solidFill>
            <a:prstDash val="solid"/>
          </a:ln>
        </p:spPr>
      </p:sp>
      <p:sp>
        <p:nvSpPr>
          <p:cNvPr id="20" name="Result 6 value"/>
          <p:cNvSpPr txBox="1"/>
          <p:nvPr/>
        </p:nvSpPr>
        <p:spPr>
          <a:xfrm>
            <a:off x="3607994" y="3886200"/>
            <a:ext cx="2144954" cy="891540"/>
          </a:xfrm>
          <a:prstGeom prst="rect">
            <a:avLst/>
          </a:prstGeom>
          <a:noFill/>
          <a:ln/>
        </p:spPr>
        <p:txBody>
          <a:bodyPr wrap="square" lIns="0" tIns="0" rIns="0" bIns="0" rtlCol="0" anchor="ctr"/>
          <a:lstStyle/>
          <a:p>
            <a:pPr indent="0" marL="0">
              <a:buNone/>
            </a:pPr>
            <a:r>
              <a:rPr lang="en-US" sz="4000" b="1" dirty="0">
                <a:solidFill>
                  <a:schemeClr val="accent1"/>
                </a:solidFill>
              </a:rPr>
              <a:t>2 → 6</a:t>
            </a:r>
            <a:endParaRPr lang="en-US" sz="4000" dirty="0"/>
          </a:p>
        </p:txBody>
      </p:sp>
      <p:sp>
        <p:nvSpPr>
          <p:cNvPr id="21" name="Result 6 label"/>
          <p:cNvSpPr txBox="1"/>
          <p:nvPr/>
        </p:nvSpPr>
        <p:spPr>
          <a:xfrm>
            <a:off x="3607994" y="4777740"/>
            <a:ext cx="2144954" cy="571500"/>
          </a:xfrm>
          <a:prstGeom prst="rect">
            <a:avLst/>
          </a:prstGeom>
          <a:noFill/>
          <a:ln/>
        </p:spPr>
        <p:txBody>
          <a:bodyPr wrap="square" lIns="0" tIns="0" rIns="0" bIns="0" rtlCol="0" anchor="t"/>
          <a:lstStyle/>
          <a:p>
            <a:pPr indent="0" marL="0">
              <a:buNone/>
            </a:pPr>
            <a:r>
              <a:rPr lang="en-US" sz="1300" dirty="0">
                <a:solidFill>
                  <a:schemeClr val="accent5"/>
                </a:solidFill>
              </a:rPr>
              <a:t>replicas under load</a:t>
            </a:r>
            <a:endParaRPr lang="en-US" sz="1300" dirty="0"/>
          </a:p>
        </p:txBody>
      </p:sp>
      <p:sp>
        <p:nvSpPr>
          <p:cNvPr id="22" name="Result 7"/>
          <p:cNvSpPr/>
          <p:nvPr/>
        </p:nvSpPr>
        <p:spPr>
          <a:xfrm>
            <a:off x="6210148" y="3703320"/>
            <a:ext cx="2602154" cy="1783080"/>
          </a:xfrm>
          <a:prstGeom prst="roundRect">
            <a:avLst>
              <a:gd name="adj" fmla="val 5128"/>
            </a:avLst>
          </a:prstGeom>
          <a:solidFill>
            <a:schemeClr val="tx2"/>
          </a:solidFill>
          <a:ln w="9525">
            <a:solidFill>
              <a:schemeClr val="accent6"/>
            </a:solidFill>
            <a:prstDash val="solid"/>
          </a:ln>
        </p:spPr>
      </p:sp>
      <p:sp>
        <p:nvSpPr>
          <p:cNvPr id="23" name="Result 7 value"/>
          <p:cNvSpPr txBox="1"/>
          <p:nvPr/>
        </p:nvSpPr>
        <p:spPr>
          <a:xfrm>
            <a:off x="6438748" y="3886200"/>
            <a:ext cx="2144954" cy="891540"/>
          </a:xfrm>
          <a:prstGeom prst="rect">
            <a:avLst/>
          </a:prstGeom>
          <a:noFill/>
          <a:ln/>
        </p:spPr>
        <p:txBody>
          <a:bodyPr wrap="square" lIns="0" tIns="0" rIns="0" bIns="0" rtlCol="0" anchor="ctr"/>
          <a:lstStyle/>
          <a:p>
            <a:pPr indent="0" marL="0">
              <a:buNone/>
            </a:pPr>
            <a:r>
              <a:rPr lang="en-US" sz="4000" b="1" dirty="0">
                <a:solidFill>
                  <a:schemeClr val="accent2"/>
                </a:solidFill>
              </a:rPr>
              <a:t>0</a:t>
            </a:r>
            <a:endParaRPr lang="en-US" sz="4000" dirty="0"/>
          </a:p>
        </p:txBody>
      </p:sp>
      <p:sp>
        <p:nvSpPr>
          <p:cNvPr id="24" name="Result 7 label"/>
          <p:cNvSpPr txBox="1"/>
          <p:nvPr/>
        </p:nvSpPr>
        <p:spPr>
          <a:xfrm>
            <a:off x="6438748" y="4777740"/>
            <a:ext cx="2144954" cy="571500"/>
          </a:xfrm>
          <a:prstGeom prst="rect">
            <a:avLst/>
          </a:prstGeom>
          <a:noFill/>
          <a:ln/>
        </p:spPr>
        <p:txBody>
          <a:bodyPr wrap="square" lIns="0" tIns="0" rIns="0" bIns="0" rtlCol="0" anchor="t"/>
          <a:lstStyle/>
          <a:p>
            <a:pPr indent="0" marL="0">
              <a:buNone/>
            </a:pPr>
            <a:r>
              <a:rPr lang="en-US" sz="1300" dirty="0">
                <a:solidFill>
                  <a:schemeClr val="accent5"/>
                </a:solidFill>
              </a:rPr>
              <a:t>missed heartbeats while scaling</a:t>
            </a:r>
            <a:endParaRPr lang="en-US" sz="1300" dirty="0"/>
          </a:p>
        </p:txBody>
      </p:sp>
      <p:sp>
        <p:nvSpPr>
          <p:cNvPr id="25" name="Result 8"/>
          <p:cNvSpPr/>
          <p:nvPr/>
        </p:nvSpPr>
        <p:spPr>
          <a:xfrm>
            <a:off x="9040901" y="3703320"/>
            <a:ext cx="2602154" cy="1783080"/>
          </a:xfrm>
          <a:prstGeom prst="roundRect">
            <a:avLst>
              <a:gd name="adj" fmla="val 5128"/>
            </a:avLst>
          </a:prstGeom>
          <a:solidFill>
            <a:schemeClr val="tx2"/>
          </a:solidFill>
          <a:ln w="9525">
            <a:solidFill>
              <a:schemeClr val="accent6"/>
            </a:solidFill>
            <a:prstDash val="solid"/>
          </a:ln>
        </p:spPr>
      </p:sp>
      <p:sp>
        <p:nvSpPr>
          <p:cNvPr id="26" name="Result 8 value"/>
          <p:cNvSpPr txBox="1"/>
          <p:nvPr/>
        </p:nvSpPr>
        <p:spPr>
          <a:xfrm>
            <a:off x="9269501" y="3886200"/>
            <a:ext cx="2144954" cy="891540"/>
          </a:xfrm>
          <a:prstGeom prst="rect">
            <a:avLst/>
          </a:prstGeom>
          <a:noFill/>
          <a:ln/>
        </p:spPr>
        <p:txBody>
          <a:bodyPr wrap="square" lIns="0" tIns="0" rIns="0" bIns="0" rtlCol="0" anchor="ctr"/>
          <a:lstStyle/>
          <a:p>
            <a:pPr indent="0" marL="0">
              <a:buNone/>
            </a:pPr>
            <a:r>
              <a:rPr lang="en-US" sz="4000" b="1" dirty="0">
                <a:solidFill>
                  <a:schemeClr val="accent1"/>
                </a:solidFill>
              </a:rPr>
              <a:t>38</a:t>
            </a:r>
            <a:endParaRPr lang="en-US" sz="4000" dirty="0"/>
          </a:p>
        </p:txBody>
      </p:sp>
      <p:sp>
        <p:nvSpPr>
          <p:cNvPr id="27" name="Result 8 label"/>
          <p:cNvSpPr txBox="1"/>
          <p:nvPr/>
        </p:nvSpPr>
        <p:spPr>
          <a:xfrm>
            <a:off x="9269501" y="4777740"/>
            <a:ext cx="2144954" cy="571500"/>
          </a:xfrm>
          <a:prstGeom prst="rect">
            <a:avLst/>
          </a:prstGeom>
          <a:noFill/>
          <a:ln/>
        </p:spPr>
        <p:txBody>
          <a:bodyPr wrap="square" lIns="0" tIns="0" rIns="0" bIns="0" rtlCol="0" anchor="t"/>
          <a:lstStyle/>
          <a:p>
            <a:pPr indent="0" marL="0">
              <a:buNone/>
            </a:pPr>
            <a:r>
              <a:rPr lang="en-US" sz="1300" dirty="0">
                <a:solidFill>
                  <a:schemeClr val="accent5"/>
                </a:solidFill>
              </a:rPr>
              <a:t>screenshots of real output</a:t>
            </a:r>
            <a:endParaRPr lang="en-US" sz="1300" dirty="0"/>
          </a:p>
        </p:txBody>
      </p:sp>
      <p:sp>
        <p:nvSpPr>
          <p:cNvPr id="28" name="Text 26"/>
          <p:cNvSpPr txBox="1"/>
          <p:nvPr/>
        </p:nvSpPr>
        <p:spPr>
          <a:xfrm>
            <a:off x="548640" y="5852160"/>
            <a:ext cx="11094415" cy="320040"/>
          </a:xfrm>
          <a:prstGeom prst="rect">
            <a:avLst/>
          </a:prstGeom>
          <a:noFill/>
          <a:ln/>
        </p:spPr>
        <p:txBody>
          <a:bodyPr wrap="square" lIns="0" tIns="0" rIns="0" bIns="0" rtlCol="0" anchor="t"/>
          <a:lstStyle/>
          <a:p>
            <a:pPr indent="0" marL="0">
              <a:buNone/>
            </a:pPr>
            <a:r>
              <a:rPr lang="en-US" sz="1500" dirty="0">
                <a:solidFill>
                  <a:schemeClr val="accent5"/>
                </a:solidFill>
              </a:rPr>
              <a:t>All the evidence, module by module: </a:t>
            </a:r>
            <a:pPr indent="0" marL="0">
              <a:buNone/>
            </a:pPr>
            <a:r>
              <a:rPr lang="en-US" sz="1500" dirty="0">
                <a:solidFill>
                  <a:schemeClr val="accent1"/>
                </a:solidFill>
                <a:latin typeface="Courier New" pitchFamily="34" charset="0"/>
                <a:ea typeface="Courier New" pitchFamily="34" charset="-122"/>
                <a:cs typeface="Courier New" pitchFamily="34" charset="-120"/>
              </a:rPr>
              <a:t>docs/EVIDENCE.md</a:t>
            </a:r>
            <a:pPr indent="0" marL="0">
              <a:buNone/>
            </a:pPr>
            <a:r>
              <a:rPr lang="en-US" sz="1500" dirty="0">
                <a:solidFill>
                  <a:schemeClr val="accent5"/>
                </a:solidFill>
              </a:rPr>
              <a:t> in the repository</a:t>
            </a:r>
            <a:endParaRPr lang="en-US" sz="15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B9AB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losing eye outline"/>
          <p:cNvSpPr/>
          <p:nvPr/>
        </p:nvSpPr>
        <p:spPr>
          <a:xfrm>
            <a:off x="5364328" y="1188720"/>
            <a:ext cx="1463040" cy="819302"/>
          </a:xfrm>
          <a:prstGeom prst="ellipse">
            <a:avLst/>
          </a:prstGeom>
          <a:solidFill>
            <a:schemeClr val="tx1"/>
          </a:solidFill>
          <a:ln w="60960">
            <a:solidFill>
              <a:schemeClr val="accent1"/>
            </a:solidFill>
            <a:prstDash val="solid"/>
          </a:ln>
        </p:spPr>
      </p:sp>
      <p:sp>
        <p:nvSpPr>
          <p:cNvPr id="3" name="Closing eye pupil"/>
          <p:cNvSpPr/>
          <p:nvPr/>
        </p:nvSpPr>
        <p:spPr>
          <a:xfrm>
            <a:off x="5891022" y="1393546"/>
            <a:ext cx="409651" cy="409651"/>
          </a:xfrm>
          <a:prstGeom prst="ellipse">
            <a:avLst/>
          </a:prstGeom>
          <a:solidFill>
            <a:schemeClr val="accent1"/>
          </a:solidFill>
          <a:ln/>
        </p:spPr>
      </p:sp>
      <p:sp>
        <p:nvSpPr>
          <p:cNvPr id="4" name="Text 2"/>
          <p:cNvSpPr txBox="1"/>
          <p:nvPr/>
        </p:nvSpPr>
        <p:spPr>
          <a:xfrm>
            <a:off x="548640" y="2331720"/>
            <a:ext cx="11094415" cy="1005840"/>
          </a:xfrm>
          <a:prstGeom prst="rect">
            <a:avLst/>
          </a:prstGeom>
          <a:noFill/>
          <a:ln/>
        </p:spPr>
        <p:txBody>
          <a:bodyPr wrap="square" lIns="0" tIns="0" rIns="0" bIns="0" rtlCol="0" anchor="t"/>
          <a:lstStyle/>
          <a:p>
            <a:pPr algn="ctr" indent="0" marL="0">
              <a:buNone/>
            </a:pPr>
            <a:r>
              <a:rPr lang="en-US" sz="5400" b="1" dirty="0">
                <a:solidFill>
                  <a:schemeClr val="bg2"/>
                </a:solidFill>
              </a:rPr>
              <a:t>Thank you</a:t>
            </a:r>
            <a:endParaRPr lang="en-US" sz="5400" dirty="0"/>
          </a:p>
        </p:txBody>
      </p:sp>
      <p:sp>
        <p:nvSpPr>
          <p:cNvPr id="5" name="Text 3"/>
          <p:cNvSpPr txBox="1"/>
          <p:nvPr/>
        </p:nvSpPr>
        <p:spPr>
          <a:xfrm>
            <a:off x="548640" y="3429000"/>
            <a:ext cx="11094415" cy="457200"/>
          </a:xfrm>
          <a:prstGeom prst="rect">
            <a:avLst/>
          </a:prstGeom>
          <a:noFill/>
          <a:ln/>
        </p:spPr>
        <p:txBody>
          <a:bodyPr wrap="square" lIns="0" tIns="0" rIns="0" bIns="0" rtlCol="0" anchor="t"/>
          <a:lstStyle/>
          <a:p>
            <a:pPr algn="ctr" indent="0" marL="0">
              <a:buNone/>
            </a:pPr>
            <a:r>
              <a:rPr lang="en-US" sz="2200" dirty="0">
                <a:solidFill>
                  <a:schemeClr val="accent1"/>
                </a:solidFill>
              </a:rPr>
              <a:t>Live demo: commit → pipeline → GitOps rollout</a:t>
            </a:r>
            <a:endParaRPr lang="en-US" sz="2200" dirty="0"/>
          </a:p>
        </p:txBody>
      </p:sp>
      <p:sp>
        <p:nvSpPr>
          <p:cNvPr id="6" name="Text 4"/>
          <p:cNvSpPr txBox="1"/>
          <p:nvPr/>
        </p:nvSpPr>
        <p:spPr>
          <a:xfrm>
            <a:off x="548640" y="4343400"/>
            <a:ext cx="11094415" cy="822960"/>
          </a:xfrm>
          <a:prstGeom prst="rect">
            <a:avLst/>
          </a:prstGeom>
          <a:noFill/>
          <a:ln/>
        </p:spPr>
        <p:txBody>
          <a:bodyPr wrap="square" lIns="0" tIns="0" rIns="0" bIns="0" rtlCol="0" anchor="t"/>
          <a:lstStyle/>
          <a:p>
            <a:pPr algn="ctr" indent="0" marL="0">
              <a:spcAft>
                <a:spcPts val="400"/>
              </a:spcAft>
              <a:buNone/>
            </a:pPr>
            <a:r>
              <a:rPr lang="en-US" sz="1600" dirty="0">
                <a:solidFill>
                  <a:schemeClr val="bg2"/>
                </a:solidFill>
                <a:latin typeface="Courier New" pitchFamily="34" charset="0"/>
                <a:ea typeface="Courier New" pitchFamily="34" charset="-122"/>
                <a:cs typeface="Courier New" pitchFamily="34" charset="-120"/>
              </a:rPr>
              <a:t>github.com/arnav-yadav/argus</a:t>
            </a:r>
            <a:endParaRPr lang="en-US" sz="1600" dirty="0"/>
          </a:p>
          <a:p>
            <a:pPr algn="ctr" indent="0" marL="0">
              <a:spcAft>
                <a:spcPts val="400"/>
              </a:spcAft>
              <a:buNone/>
            </a:pPr>
            <a:r>
              <a:rPr lang="en-US" sz="1600" dirty="0">
                <a:solidFill>
                  <a:schemeClr val="accent5"/>
                </a:solidFill>
              </a:rPr>
              <a:t>Arnav Yadav · Session 21 DevOps capstone</a:t>
            </a:r>
            <a:endParaRPr lang="en-US" sz="1600" dirty="0"/>
          </a:p>
        </p:txBody>
      </p:sp>
      <p:sp>
        <p:nvSpPr>
          <p:cNvPr id="7" name="Text 5"/>
          <p:cNvSpPr txBox="1"/>
          <p:nvPr/>
        </p:nvSpPr>
        <p:spPr>
          <a:xfrm>
            <a:off x="548640" y="5440680"/>
            <a:ext cx="11094415" cy="457200"/>
          </a:xfrm>
          <a:prstGeom prst="rect">
            <a:avLst/>
          </a:prstGeom>
          <a:noFill/>
          <a:ln/>
        </p:spPr>
        <p:txBody>
          <a:bodyPr wrap="square" lIns="0" tIns="0" rIns="0" bIns="0" rtlCol="0" anchor="t"/>
          <a:lstStyle/>
          <a:p>
            <a:pPr algn="ctr" indent="0" marL="0">
              <a:buNone/>
            </a:pPr>
            <a:r>
              <a:rPr lang="en-US" sz="1800" b="1" dirty="0">
                <a:solidFill>
                  <a:schemeClr val="accent5"/>
                </a:solidFill>
              </a:rPr>
              <a:t>Questions?</a:t>
            </a:r>
            <a:endParaRPr lang="en-US" sz="1800" dirty="0"/>
          </a:p>
        </p:txBody>
      </p:sp>
    </p:spTree>
  </p:cSld>
  <p:clrMapOvr>
    <a:masterClrMapping/>
  </p:clrMapOvr>
</p:sld>
</file>

<file path=ppt/theme/theme1.xml><?xml version="1.0" encoding="utf-8"?>
<a:theme xmlns:a="http://schemas.openxmlformats.org/drawingml/2006/main" name="Argus Night Watch">
  <a:themeElements>
    <a:clrScheme name="Argus Night Watch">
      <a:dk1>
        <a:srgbClr val="0B1120"/>
      </a:dk1>
      <a:lt1>
        <a:srgbClr val="FFFFFF"/>
      </a:lt1>
      <a:dk2>
        <a:srgbClr val="111A2E"/>
      </a:dk2>
      <a:lt2>
        <a:srgbClr val="E2E8F0"/>
      </a:lt2>
      <a:accent1>
        <a:srgbClr val="38BDF8"/>
      </a:accent1>
      <a:accent2>
        <a:srgbClr val="34D399"/>
      </a:accent2>
      <a:accent3>
        <a:srgbClr val="FBBF24"/>
      </a:accent3>
      <a:accent4>
        <a:srgbClr val="F87171"/>
      </a:accent4>
      <a:accent5>
        <a:srgbClr val="8B9AB5"/>
      </a:accent5>
      <a:accent6>
        <a:srgbClr val="22304D"/>
      </a:accent6>
      <a:hlink>
        <a:srgbClr val="38BDF8"/>
      </a:hlink>
      <a:folHlink>
        <a:srgbClr val="8B9AB5"/>
      </a:folHlink>
    </a:clrScheme>
    <a:fontScheme name="Argus Night Wat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Argus: SLO and uptime monitoring, shipped end to end</dc:title>
  <dc:subject>Session 21 DevOps capstone</dc:subject>
  <dc:creator>Arnav Yadav</dc:creator>
  <cp:lastModifiedBy>Arnav Yadav</cp:lastModifiedBy>
  <cp:revision>1</cp:revision>
  <dcterms:created xsi:type="dcterms:W3CDTF">2026-10-13T21:36:37Z</dcterms:created>
  <dcterms:modified xsi:type="dcterms:W3CDTF">2026-10-13T21:36:37Z</dcterms:modified>
</cp:coreProperties>
</file>